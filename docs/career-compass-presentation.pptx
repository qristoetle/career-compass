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86" r:id="rId2"/>
    <p:sldId id="279" r:id="rId3"/>
    <p:sldId id="264" r:id="rId4"/>
    <p:sldId id="262" r:id="rId5"/>
    <p:sldId id="399" r:id="rId6"/>
    <p:sldId id="289" r:id="rId7"/>
    <p:sldId id="261" r:id="rId8"/>
    <p:sldId id="290" r:id="rId9"/>
    <p:sldId id="394" r:id="rId10"/>
    <p:sldId id="292" r:id="rId11"/>
    <p:sldId id="269" r:id="rId12"/>
    <p:sldId id="400" r:id="rId13"/>
    <p:sldId id="388" r:id="rId14"/>
    <p:sldId id="272" r:id="rId15"/>
    <p:sldId id="378" r:id="rId16"/>
    <p:sldId id="384" r:id="rId17"/>
    <p:sldId id="396" r:id="rId18"/>
    <p:sldId id="270" r:id="rId19"/>
    <p:sldId id="398" r:id="rId20"/>
    <p:sldId id="282" r:id="rId21"/>
  </p:sldIdLst>
  <p:sldSz cx="12192000" cy="6858000"/>
  <p:notesSz cx="6858000" cy="91440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51" autoAdjust="0"/>
    <p:restoredTop sz="94660"/>
  </p:normalViewPr>
  <p:slideViewPr>
    <p:cSldViewPr snapToGrid="0">
      <p:cViewPr varScale="1">
        <p:scale>
          <a:sx n="89" d="100"/>
          <a:sy n="89" d="100"/>
        </p:scale>
        <p:origin x="44" y="380"/>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3BBE5-0BEA-4494-9BEF-C8C2F48C9E2D}" type="datetimeFigureOut">
              <a:rPr lang="zh-CN" altLang="en-US" smtClean="0"/>
              <a:t>2026/4/17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B8912-F0BA-4AD8-8415-DA1F26BCB0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2600" y="1279525"/>
            <a:ext cx="6138863"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FAA4-E348-612A-977F-D3D81CF615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93EE1C-E328-10DD-5CAF-81D651E2F7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0540A6-6693-EC1A-05BF-4BE1EA171F2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86E88FF-304E-C48D-E2C2-0D1E8E9583D8}"/>
              </a:ext>
            </a:extLst>
          </p:cNvPr>
          <p:cNvSpPr>
            <a:spLocks noGrp="1"/>
          </p:cNvSpPr>
          <p:nvPr>
            <p:ph type="sldNum" sz="quarter" idx="10"/>
          </p:nvPr>
        </p:nvSpPr>
        <p:spPr/>
        <p:txBody>
          <a:bodyPr/>
          <a:lstStyle/>
          <a:p>
            <a:fld id="{F1CB8912-F0BA-4AD8-8415-DA1F26BCB09F}" type="slidenum">
              <a:rPr lang="zh-CN" altLang="en-US" smtClean="0"/>
              <a:t>12</a:t>
            </a:fld>
            <a:endParaRPr lang="zh-CN" altLang="en-US"/>
          </a:p>
        </p:txBody>
      </p:sp>
    </p:spTree>
    <p:extLst>
      <p:ext uri="{BB962C8B-B14F-4D97-AF65-F5344CB8AC3E}">
        <p14:creationId xmlns:p14="http://schemas.microsoft.com/office/powerpoint/2010/main" val="2939881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5E4D13-0F77-4153-B279-5BD9F682CDE0}"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561"/>
            <a:ext cx="9144000" cy="2388017"/>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669"/>
            <a:ext cx="9144000" cy="165605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835" indent="0" algn="ctr">
              <a:buNone/>
              <a:defRPr sz="1600"/>
            </a:lvl7pPr>
            <a:lvl8pPr marL="3201035" indent="0" algn="ctr">
              <a:buNone/>
              <a:defRPr sz="1600"/>
            </a:lvl8pPr>
            <a:lvl9pPr marL="3658235"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7463"/>
            <a:ext cx="2743200" cy="365189"/>
          </a:xfrm>
          <a:prstGeom prst="rect">
            <a:avLst/>
          </a:prstGeom>
        </p:spPr>
        <p:txBody>
          <a:bodyPr/>
          <a:lstStyle/>
          <a:p>
            <a:fld id="{82F288E0-7875-42C4-84C8-98DBBD3BF4D2}" type="datetimeFigureOut">
              <a:rPr lang="zh-CN" altLang="en-US" smtClean="0"/>
              <a:t>2026/4/17</a:t>
            </a:fld>
            <a:endParaRPr lang="zh-CN" altLang="en-US"/>
          </a:p>
        </p:txBody>
      </p:sp>
      <p:sp>
        <p:nvSpPr>
          <p:cNvPr id="5" name="页脚占位符 4"/>
          <p:cNvSpPr>
            <a:spLocks noGrp="1"/>
          </p:cNvSpPr>
          <p:nvPr>
            <p:ph type="ftr" sz="quarter" idx="11"/>
          </p:nvPr>
        </p:nvSpPr>
        <p:spPr>
          <a:xfrm>
            <a:off x="4038600" y="6357463"/>
            <a:ext cx="4114800" cy="36518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7463"/>
            <a:ext cx="2743200" cy="365189"/>
          </a:xfrm>
          <a:prstGeom prst="rect">
            <a:avLst/>
          </a:prstGeo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93797" y="51558"/>
            <a:ext cx="1620957" cy="523220"/>
          </a:xfrm>
          <a:prstGeom prst="rect">
            <a:avLst/>
          </a:prstGeom>
        </p:spPr>
        <p:txBody>
          <a:bodyPr wrap="none" anchor="ctr" anchorCtr="0">
            <a:spAutoFit/>
          </a:bodyPr>
          <a:lstStyle>
            <a:lvl1pPr algn="ctr">
              <a:lnSpc>
                <a:spcPct val="100000"/>
              </a:lnSpc>
              <a:defRPr sz="2800">
                <a:solidFill>
                  <a:schemeClr val="accent1"/>
                </a:solidFill>
              </a:defRPr>
            </a:lvl1pPr>
          </a:lstStyle>
          <a:p>
            <a:r>
              <a:rPr lang="zh-CN" altLang="en-US" dirty="0"/>
              <a:t>标题样式</a:t>
            </a:r>
          </a:p>
        </p:txBody>
      </p:sp>
      <p:sp>
        <p:nvSpPr>
          <p:cNvPr id="3" name="矩形 2"/>
          <p:cNvSpPr/>
          <p:nvPr userDrawn="1"/>
        </p:nvSpPr>
        <p:spPr>
          <a:xfrm>
            <a:off x="-1" y="128585"/>
            <a:ext cx="542925"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2665628" y="128585"/>
            <a:ext cx="9526372"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文本框 1"/>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alpha val="0"/>
                  </a:schemeClr>
                </a:solidFill>
                <a:latin typeface="微软雅黑" panose="020B0503020204020204" pitchFamily="34" charset="-122"/>
                <a:ea typeface="微软雅黑" panose="020B0503020204020204" pitchFamily="34" charset="-122"/>
                <a:sym typeface="+mn-ea"/>
              </a:rPr>
              <a:t>ibaotu.com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image" Target="../media/image14.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13.jpeg"/><Relationship Id="rId17" Type="http://schemas.openxmlformats.org/officeDocument/2006/relationships/image" Target="../media/image17.jpeg"/><Relationship Id="rId2" Type="http://schemas.openxmlformats.org/officeDocument/2006/relationships/tags" Target="../tags/tag3.xml"/><Relationship Id="rId16" Type="http://schemas.openxmlformats.org/officeDocument/2006/relationships/image" Target="../media/image7.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5.xml"/><Relationship Id="rId5" Type="http://schemas.openxmlformats.org/officeDocument/2006/relationships/tags" Target="../tags/tag6.xml"/><Relationship Id="rId15" Type="http://schemas.openxmlformats.org/officeDocument/2006/relationships/image" Target="../media/image16.jpeg"/><Relationship Id="rId10" Type="http://schemas.openxmlformats.org/officeDocument/2006/relationships/slideLayout" Target="../slideLayouts/slideLayout2.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7.png"/><Relationship Id="rId3" Type="http://schemas.openxmlformats.org/officeDocument/2006/relationships/tags" Target="../tags/tag13.xml"/><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Layout" Target="../slideLayouts/slideLayout2.xml"/><Relationship Id="rId11" Type="http://schemas.openxmlformats.org/officeDocument/2006/relationships/image" Target="../media/image26.svg"/><Relationship Id="rId5" Type="http://schemas.openxmlformats.org/officeDocument/2006/relationships/tags" Target="../tags/tag15.xml"/><Relationship Id="rId10" Type="http://schemas.openxmlformats.org/officeDocument/2006/relationships/image" Target="../media/image25.svg"/><Relationship Id="rId4" Type="http://schemas.openxmlformats.org/officeDocument/2006/relationships/tags" Target="../tags/tag14.xml"/><Relationship Id="rId9" Type="http://schemas.openxmlformats.org/officeDocument/2006/relationships/image" Target="../media/image24.svg"/></Relationships>
</file>

<file path=ppt/slides/_rels/slide10.xml.rels><?xml version="1.0" encoding="UTF-8" standalone="yes"?>
<Relationships xmlns="http://schemas.openxmlformats.org/package/2006/relationships"><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3" Type="http://schemas.openxmlformats.org/officeDocument/2006/relationships/tags" Target="../tags/tag18.xml"/><Relationship Id="rId21" Type="http://schemas.openxmlformats.org/officeDocument/2006/relationships/tags" Target="../tags/tag36.xml"/><Relationship Id="rId34" Type="http://schemas.openxmlformats.org/officeDocument/2006/relationships/image" Target="../media/image7.png"/><Relationship Id="rId7" Type="http://schemas.openxmlformats.org/officeDocument/2006/relationships/tags" Target="../tags/tag22.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33" Type="http://schemas.openxmlformats.org/officeDocument/2006/relationships/image" Target="../media/image30.png"/><Relationship Id="rId2" Type="http://schemas.openxmlformats.org/officeDocument/2006/relationships/tags" Target="../tags/tag17.xml"/><Relationship Id="rId16" Type="http://schemas.openxmlformats.org/officeDocument/2006/relationships/tags" Target="../tags/tag31.xml"/><Relationship Id="rId20" Type="http://schemas.openxmlformats.org/officeDocument/2006/relationships/tags" Target="../tags/tag35.xml"/><Relationship Id="rId29"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image" Target="../media/image29.png"/><Relationship Id="rId5" Type="http://schemas.openxmlformats.org/officeDocument/2006/relationships/tags" Target="../tags/tag20.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10" Type="http://schemas.openxmlformats.org/officeDocument/2006/relationships/tags" Target="../tags/tag25.xml"/><Relationship Id="rId19" Type="http://schemas.openxmlformats.org/officeDocument/2006/relationships/tags" Target="../tags/tag34.xml"/><Relationship Id="rId31" Type="http://schemas.openxmlformats.org/officeDocument/2006/relationships/image" Target="../media/image28.png"/><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notesSlide" Target="../notesSlides/notesSlide8.xml"/><Relationship Id="rId8" Type="http://schemas.openxmlformats.org/officeDocument/2006/relationships/tags" Target="../tags/tag2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10.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image" Target="../media/image32.png"/><Relationship Id="rId5" Type="http://schemas.openxmlformats.org/officeDocument/2006/relationships/image" Target="../media/image30.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tags" Target="../tags/tag62.xml"/><Relationship Id="rId3" Type="http://schemas.openxmlformats.org/officeDocument/2006/relationships/tags" Target="../tags/tag47.xml"/><Relationship Id="rId21" Type="http://schemas.openxmlformats.org/officeDocument/2006/relationships/notesSlide" Target="../notesSlides/notesSlide12.xml"/><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tags" Target="../tags/tag61.xml"/><Relationship Id="rId25" Type="http://schemas.openxmlformats.org/officeDocument/2006/relationships/image" Target="../media/image7.png"/><Relationship Id="rId2" Type="http://schemas.openxmlformats.org/officeDocument/2006/relationships/tags" Target="../tags/tag46.xml"/><Relationship Id="rId16" Type="http://schemas.openxmlformats.org/officeDocument/2006/relationships/tags" Target="../tags/tag60.xml"/><Relationship Id="rId20" Type="http://schemas.openxmlformats.org/officeDocument/2006/relationships/slideLayout" Target="../slideLayouts/slideLayout4.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24" Type="http://schemas.openxmlformats.org/officeDocument/2006/relationships/image" Target="../media/image41.png"/><Relationship Id="rId5" Type="http://schemas.openxmlformats.org/officeDocument/2006/relationships/tags" Target="../tags/tag49.xml"/><Relationship Id="rId15" Type="http://schemas.openxmlformats.org/officeDocument/2006/relationships/tags" Target="../tags/tag59.xml"/><Relationship Id="rId23" Type="http://schemas.openxmlformats.org/officeDocument/2006/relationships/image" Target="../media/image40.jpeg"/><Relationship Id="rId10" Type="http://schemas.openxmlformats.org/officeDocument/2006/relationships/tags" Target="../tags/tag54.xml"/><Relationship Id="rId19" Type="http://schemas.openxmlformats.org/officeDocument/2006/relationships/tags" Target="../tags/tag63.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 Id="rId22"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7.png"/><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8" Type="http://schemas.openxmlformats.org/officeDocument/2006/relationships/image" Target="../media/image52.jpeg"/><Relationship Id="rId13" Type="http://schemas.openxmlformats.org/officeDocument/2006/relationships/image" Target="../media/image57.jpeg"/><Relationship Id="rId3" Type="http://schemas.openxmlformats.org/officeDocument/2006/relationships/image" Target="../media/image47.jpe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0.jpe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jpeg"/><Relationship Id="rId9" Type="http://schemas.openxmlformats.org/officeDocument/2006/relationships/image" Target="../media/image53.jpeg"/><Relationship Id="rId14" Type="http://schemas.openxmlformats.org/officeDocument/2006/relationships/image" Target="../media/image58.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7" Type="http://schemas.microsoft.com/office/2007/relationships/hdphoto" Target="../media/hdphoto2.wdp"/><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6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菱形 1"/>
          <p:cNvSpPr/>
          <p:nvPr/>
        </p:nvSpPr>
        <p:spPr>
          <a:xfrm>
            <a:off x="2462530" y="635"/>
            <a:ext cx="7267575" cy="7267575"/>
          </a:xfrm>
          <a:prstGeom prst="diamond">
            <a:avLst/>
          </a:prstGeom>
          <a:noFill/>
          <a:ln w="152400" cmpd="sng">
            <a:solidFill>
              <a:schemeClr val="accent6">
                <a:lumMod val="10000"/>
                <a:lumOff val="90000"/>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a:off x="0" y="635"/>
            <a:ext cx="12192000" cy="368385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3"/>
            <a:srcRect/>
            <a:tile tx="6350" ty="-215900" sx="89000" sy="89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菱形 20"/>
          <p:cNvSpPr/>
          <p:nvPr/>
        </p:nvSpPr>
        <p:spPr>
          <a:xfrm>
            <a:off x="2870200" y="203200"/>
            <a:ext cx="6451600" cy="6451600"/>
          </a:xfrm>
          <a:prstGeom prst="diamond">
            <a:avLst/>
          </a:prstGeom>
          <a:noFill/>
          <a:ln w="79375" cmpd="sng">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2" descr="封面稿2"/>
          <p:cNvPicPr>
            <a:picLocks noChangeAspect="1"/>
          </p:cNvPicPr>
          <p:nvPr/>
        </p:nvPicPr>
        <p:blipFill>
          <a:blip r:embed="rId4"/>
          <a:srcRect l="17534" t="43636" b="25257"/>
          <a:stretch>
            <a:fillRect/>
          </a:stretch>
        </p:blipFill>
        <p:spPr>
          <a:xfrm>
            <a:off x="5266055" y="0"/>
            <a:ext cx="6925945" cy="3684270"/>
          </a:xfrm>
          <a:prstGeom prst="rect">
            <a:avLst/>
          </a:prstGeom>
          <a:effectLst>
            <a:softEdge rad="546100"/>
          </a:effectLst>
        </p:spPr>
      </p:pic>
      <p:sp>
        <p:nvSpPr>
          <p:cNvPr id="15" name="文本框 14"/>
          <p:cNvSpPr txBox="1"/>
          <p:nvPr/>
        </p:nvSpPr>
        <p:spPr>
          <a:xfrm>
            <a:off x="2322356" y="4139675"/>
            <a:ext cx="7547286" cy="544829"/>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2800" b="1" dirty="0">
                <a:solidFill>
                  <a:schemeClr val="bg1">
                    <a:lumMod val="50000"/>
                  </a:schemeClr>
                </a:solidFill>
                <a:latin typeface="Century Gothic" panose="020B0502020202020204" pitchFamily="34" charset="0"/>
                <a:ea typeface="+mj-ea"/>
              </a:rPr>
              <a:t>基于</a:t>
            </a:r>
            <a:r>
              <a:rPr lang="en-US" altLang="zh-CN" sz="2800" b="1" dirty="0">
                <a:solidFill>
                  <a:schemeClr val="bg1">
                    <a:lumMod val="50000"/>
                  </a:schemeClr>
                </a:solidFill>
                <a:latin typeface="Century Gothic" panose="020B0502020202020204" pitchFamily="34" charset="0"/>
                <a:ea typeface="+mj-ea"/>
              </a:rPr>
              <a:t>AI</a:t>
            </a:r>
            <a:r>
              <a:rPr lang="zh-CN" altLang="en-US" sz="2800" b="1" dirty="0">
                <a:solidFill>
                  <a:schemeClr val="bg1">
                    <a:lumMod val="50000"/>
                  </a:schemeClr>
                </a:solidFill>
                <a:latin typeface="Century Gothic" panose="020B0502020202020204" pitchFamily="34" charset="0"/>
                <a:ea typeface="+mj-ea"/>
              </a:rPr>
              <a:t>的大学生职业规划智能体</a:t>
            </a:r>
          </a:p>
        </p:txBody>
      </p:sp>
      <p:sp>
        <p:nvSpPr>
          <p:cNvPr id="13" name="任意多边形: 形状 12"/>
          <p:cNvSpPr/>
          <p:nvPr/>
        </p:nvSpPr>
        <p:spPr>
          <a:xfrm>
            <a:off x="0" y="455930"/>
            <a:ext cx="12192000" cy="368385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gradFill>
            <a:gsLst>
              <a:gs pos="0">
                <a:schemeClr val="tx1">
                  <a:alpha val="50000"/>
                </a:schemeClr>
              </a:gs>
              <a:gs pos="100000">
                <a:schemeClr val="tx1">
                  <a:lumMod val="95000"/>
                  <a:lumOff val="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任意多边形: 形状 9"/>
          <p:cNvSpPr/>
          <p:nvPr/>
        </p:nvSpPr>
        <p:spPr>
          <a:xfrm>
            <a:off x="3486150" y="1683607"/>
            <a:ext cx="5219700" cy="2000250"/>
          </a:xfrm>
          <a:custGeom>
            <a:avLst/>
            <a:gdLst>
              <a:gd name="connsiteX0" fmla="*/ 0 w 5219700"/>
              <a:gd name="connsiteY0" fmla="*/ 0 h 2000250"/>
              <a:gd name="connsiteX1" fmla="*/ 5219700 w 5219700"/>
              <a:gd name="connsiteY1" fmla="*/ 0 h 2000250"/>
              <a:gd name="connsiteX2" fmla="*/ 5219700 w 5219700"/>
              <a:gd name="connsiteY2" fmla="*/ 2000250 h 2000250"/>
              <a:gd name="connsiteX3" fmla="*/ 5153930 w 5219700"/>
              <a:gd name="connsiteY3" fmla="*/ 2000250 h 2000250"/>
              <a:gd name="connsiteX4" fmla="*/ 5153930 w 5219700"/>
              <a:gd name="connsiteY4" fmla="*/ 65770 h 2000250"/>
              <a:gd name="connsiteX5" fmla="*/ 65770 w 5219700"/>
              <a:gd name="connsiteY5" fmla="*/ 65770 h 2000250"/>
              <a:gd name="connsiteX6" fmla="*/ 65770 w 5219700"/>
              <a:gd name="connsiteY6" fmla="*/ 2000250 h 2000250"/>
              <a:gd name="connsiteX7" fmla="*/ 0 w 5219700"/>
              <a:gd name="connsiteY7" fmla="*/ 2000250 h 2000250"/>
              <a:gd name="connsiteX8" fmla="*/ 0 w 5219700"/>
              <a:gd name="connsiteY8" fmla="*/ 0 h 200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9700" h="2000250">
                <a:moveTo>
                  <a:pt x="0" y="0"/>
                </a:moveTo>
                <a:lnTo>
                  <a:pt x="5219700" y="0"/>
                </a:lnTo>
                <a:lnTo>
                  <a:pt x="5219700" y="2000250"/>
                </a:lnTo>
                <a:lnTo>
                  <a:pt x="5153930" y="2000250"/>
                </a:lnTo>
                <a:lnTo>
                  <a:pt x="5153930" y="65770"/>
                </a:lnTo>
                <a:lnTo>
                  <a:pt x="65770" y="65770"/>
                </a:lnTo>
                <a:lnTo>
                  <a:pt x="65770" y="2000250"/>
                </a:lnTo>
                <a:lnTo>
                  <a:pt x="0" y="2000250"/>
                </a:lnTo>
                <a:lnTo>
                  <a:pt x="0" y="0"/>
                </a:ln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a:off x="3486150" y="3677226"/>
            <a:ext cx="5219700" cy="1339275"/>
          </a:xfrm>
          <a:custGeom>
            <a:avLst/>
            <a:gdLst>
              <a:gd name="connsiteX0" fmla="*/ 0 w 5219700"/>
              <a:gd name="connsiteY0" fmla="*/ 900843 h 1339275"/>
              <a:gd name="connsiteX1" fmla="*/ 65770 w 5219700"/>
              <a:gd name="connsiteY1" fmla="*/ 900843 h 1339275"/>
              <a:gd name="connsiteX2" fmla="*/ 65770 w 5219700"/>
              <a:gd name="connsiteY2" fmla="*/ 1273505 h 1339275"/>
              <a:gd name="connsiteX3" fmla="*/ 5153930 w 5219700"/>
              <a:gd name="connsiteY3" fmla="*/ 1273505 h 1339275"/>
              <a:gd name="connsiteX4" fmla="*/ 5153930 w 5219700"/>
              <a:gd name="connsiteY4" fmla="*/ 900843 h 1339275"/>
              <a:gd name="connsiteX5" fmla="*/ 5219700 w 5219700"/>
              <a:gd name="connsiteY5" fmla="*/ 900843 h 1339275"/>
              <a:gd name="connsiteX6" fmla="*/ 5219700 w 5219700"/>
              <a:gd name="connsiteY6" fmla="*/ 1339275 h 1339275"/>
              <a:gd name="connsiteX7" fmla="*/ 0 w 5219700"/>
              <a:gd name="connsiteY7" fmla="*/ 1339275 h 1339275"/>
              <a:gd name="connsiteX8" fmla="*/ 5153930 w 5219700"/>
              <a:gd name="connsiteY8" fmla="*/ 0 h 1339275"/>
              <a:gd name="connsiteX9" fmla="*/ 5219700 w 5219700"/>
              <a:gd name="connsiteY9" fmla="*/ 0 h 1339275"/>
              <a:gd name="connsiteX10" fmla="*/ 5219700 w 5219700"/>
              <a:gd name="connsiteY10" fmla="*/ 335974 h 1339275"/>
              <a:gd name="connsiteX11" fmla="*/ 5153930 w 5219700"/>
              <a:gd name="connsiteY11" fmla="*/ 335974 h 1339275"/>
              <a:gd name="connsiteX12" fmla="*/ 0 w 5219700"/>
              <a:gd name="connsiteY12" fmla="*/ 0 h 1339275"/>
              <a:gd name="connsiteX13" fmla="*/ 65770 w 5219700"/>
              <a:gd name="connsiteY13" fmla="*/ 0 h 1339275"/>
              <a:gd name="connsiteX14" fmla="*/ 65770 w 5219700"/>
              <a:gd name="connsiteY14" fmla="*/ 335974 h 1339275"/>
              <a:gd name="connsiteX15" fmla="*/ 0 w 5219700"/>
              <a:gd name="connsiteY15" fmla="*/ 335974 h 133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19700" h="1339275">
                <a:moveTo>
                  <a:pt x="0" y="900843"/>
                </a:moveTo>
                <a:lnTo>
                  <a:pt x="65770" y="900843"/>
                </a:lnTo>
                <a:lnTo>
                  <a:pt x="65770" y="1273505"/>
                </a:lnTo>
                <a:lnTo>
                  <a:pt x="5153930" y="1273505"/>
                </a:lnTo>
                <a:lnTo>
                  <a:pt x="5153930" y="900843"/>
                </a:lnTo>
                <a:lnTo>
                  <a:pt x="5219700" y="900843"/>
                </a:lnTo>
                <a:lnTo>
                  <a:pt x="5219700" y="1339275"/>
                </a:lnTo>
                <a:lnTo>
                  <a:pt x="0" y="1339275"/>
                </a:lnTo>
                <a:close/>
                <a:moveTo>
                  <a:pt x="5153930" y="0"/>
                </a:moveTo>
                <a:lnTo>
                  <a:pt x="5219700" y="0"/>
                </a:lnTo>
                <a:lnTo>
                  <a:pt x="5219700" y="335974"/>
                </a:lnTo>
                <a:lnTo>
                  <a:pt x="5153930" y="335974"/>
                </a:lnTo>
                <a:close/>
                <a:moveTo>
                  <a:pt x="0" y="0"/>
                </a:moveTo>
                <a:lnTo>
                  <a:pt x="65770" y="0"/>
                </a:lnTo>
                <a:lnTo>
                  <a:pt x="65770" y="335974"/>
                </a:lnTo>
                <a:lnTo>
                  <a:pt x="0" y="335974"/>
                </a:lnTo>
                <a:close/>
              </a:path>
            </a:pathLst>
          </a:cu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544377" y="2535742"/>
            <a:ext cx="4955431" cy="706755"/>
          </a:xfrm>
          <a:prstGeom prst="rect">
            <a:avLst/>
          </a:prstGeom>
          <a:noFill/>
        </p:spPr>
        <p:txBody>
          <a:bodyPr wrap="square" rtlCol="0">
            <a:spAutoFit/>
            <a:scene3d>
              <a:camera prst="orthographicFront"/>
              <a:lightRig rig="threePt" dir="t"/>
            </a:scene3d>
            <a:sp3d contourW="12700"/>
          </a:bodyPr>
          <a:lstStyle/>
          <a:p>
            <a:pPr algn="ctr"/>
            <a:r>
              <a:rPr lang="zh-CN" altLang="en-US" sz="4000" b="1" dirty="0">
                <a:solidFill>
                  <a:schemeClr val="bg1"/>
                </a:solidFill>
              </a:rPr>
              <a:t>职途罗盘</a:t>
            </a:r>
            <a:endParaRPr lang="en-US" altLang="zh-CN" sz="4000" b="1" dirty="0">
              <a:solidFill>
                <a:schemeClr val="bg1"/>
              </a:solidFill>
            </a:endParaRPr>
          </a:p>
        </p:txBody>
      </p:sp>
      <p:sp>
        <p:nvSpPr>
          <p:cNvPr id="20" name="文本框 19"/>
          <p:cNvSpPr txBox="1"/>
          <p:nvPr/>
        </p:nvSpPr>
        <p:spPr>
          <a:xfrm flipH="1">
            <a:off x="3264135" y="5600995"/>
            <a:ext cx="5663730" cy="371475"/>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600" dirty="0">
                <a:solidFill>
                  <a:schemeClr val="bg1">
                    <a:lumMod val="50000"/>
                  </a:schemeClr>
                </a:solidFill>
                <a:latin typeface="Century Gothic" panose="020B0502020202020204" pitchFamily="34" charset="0"/>
                <a:ea typeface="+mj-ea"/>
              </a:rPr>
              <a:t>制作团队：智驭未来团队组</a:t>
            </a:r>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0441" y="1110153"/>
            <a:ext cx="1516551" cy="1516551"/>
          </a:xfrm>
          <a:prstGeom prst="rect">
            <a:avLst/>
          </a:prstGeom>
        </p:spPr>
      </p:pic>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19615" y="2114679"/>
            <a:ext cx="2010160" cy="18775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arn(inVertical)">
                                      <p:cBhvr>
                                        <p:cTn id="20" dur="500"/>
                                        <p:tgtEl>
                                          <p:spTgt spid="19"/>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childTnLst>
                          </p:cTn>
                        </p:par>
                        <p:par>
                          <p:cTn id="24" fill="hold">
                            <p:stCondLst>
                              <p:cond delay="1000"/>
                            </p:stCondLst>
                            <p:childTnLst>
                              <p:par>
                                <p:cTn id="25" presetID="12" presetClass="entr" presetSubtype="4"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p:tgtEl>
                                          <p:spTgt spid="3"/>
                                        </p:tgtEl>
                                        <p:attrNameLst>
                                          <p:attrName>ppt_y</p:attrName>
                                        </p:attrNameLst>
                                      </p:cBhvr>
                                      <p:tavLst>
                                        <p:tav tm="0">
                                          <p:val>
                                            <p:strVal val="#ppt_y+#ppt_h*1.125000"/>
                                          </p:val>
                                        </p:tav>
                                        <p:tav tm="100000">
                                          <p:val>
                                            <p:strVal val="#ppt_y"/>
                                          </p:val>
                                        </p:tav>
                                      </p:tavLst>
                                    </p:anim>
                                    <p:animEffect transition="in" filter="wipe(up)">
                                      <p:cBhvr>
                                        <p:cTn id="28" dur="500"/>
                                        <p:tgtEl>
                                          <p:spTgt spid="3"/>
                                        </p:tgtEl>
                                      </p:cBhvr>
                                    </p:animEffect>
                                  </p:childTnLst>
                                </p:cTn>
                              </p:par>
                              <p:par>
                                <p:cTn id="29" presetID="12" presetClass="entr" presetSubtype="4"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p:tgtEl>
                                          <p:spTgt spid="6"/>
                                        </p:tgtEl>
                                        <p:attrNameLst>
                                          <p:attrName>ppt_y</p:attrName>
                                        </p:attrNameLst>
                                      </p:cBhvr>
                                      <p:tavLst>
                                        <p:tav tm="0">
                                          <p:val>
                                            <p:strVal val="#ppt_y+#ppt_h*1.125000"/>
                                          </p:val>
                                        </p:tav>
                                        <p:tav tm="100000">
                                          <p:val>
                                            <p:strVal val="#ppt_y"/>
                                          </p:val>
                                        </p:tav>
                                      </p:tavLst>
                                    </p:anim>
                                    <p:animEffect transition="in" filter="wipe(up)">
                                      <p:cBhvr>
                                        <p:cTn id="32" dur="500"/>
                                        <p:tgtEl>
                                          <p:spTgt spid="6"/>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childTnLst>
                          </p:cTn>
                        </p:par>
                        <p:par>
                          <p:cTn id="37" fill="hold">
                            <p:stCondLst>
                              <p:cond delay="2000"/>
                            </p:stCondLst>
                            <p:childTnLst>
                              <p:par>
                                <p:cTn id="38" presetID="14" presetClass="entr" presetSubtype="1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randombar(horizontal)">
                                      <p:cBhvr>
                                        <p:cTn id="40" dur="500"/>
                                        <p:tgtEl>
                                          <p:spTgt spid="15"/>
                                        </p:tgtEl>
                                      </p:cBhvr>
                                    </p:animEffect>
                                  </p:childTnLst>
                                </p:cTn>
                              </p:par>
                            </p:childTnLst>
                          </p:cTn>
                        </p:par>
                        <p:par>
                          <p:cTn id="41" fill="hold">
                            <p:stCondLst>
                              <p:cond delay="2500"/>
                            </p:stCondLst>
                            <p:childTnLst>
                              <p:par>
                                <p:cTn id="42" presetID="10" presetClass="entr" presetSubtype="0"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bldLvl="0" animBg="1"/>
      <p:bldP spid="21" grpId="0" bldLvl="0" animBg="1"/>
      <p:bldP spid="15" grpId="0"/>
      <p:bldP spid="13" grpId="0" bldLvl="0" animBg="1"/>
      <p:bldP spid="10" grpId="0" bldLvl="0" animBg="1"/>
      <p:bldP spid="19" grpId="0" bldLvl="0" animBg="1"/>
      <p:bldP spid="4" grpId="0"/>
      <p:bldP spid="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12"/>
          <p:cNvSpPr/>
          <p:nvPr/>
        </p:nvSpPr>
        <p:spPr>
          <a:xfrm>
            <a:off x="0" y="2806700"/>
            <a:ext cx="12192000" cy="40513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35"/>
          <p:cNvSpPr/>
          <p:nvPr/>
        </p:nvSpPr>
        <p:spPr>
          <a:xfrm>
            <a:off x="532130" y="2806700"/>
            <a:ext cx="1407795" cy="1687830"/>
          </a:xfrm>
          <a:custGeom>
            <a:avLst/>
            <a:gdLst>
              <a:gd name="connsiteX0" fmla="*/ 0 w 1408112"/>
              <a:gd name="connsiteY0" fmla="*/ 0 h 1687513"/>
              <a:gd name="connsiteX1" fmla="*/ 60577 w 1408112"/>
              <a:gd name="connsiteY1" fmla="*/ 0 h 1687513"/>
              <a:gd name="connsiteX2" fmla="*/ 60577 w 1408112"/>
              <a:gd name="connsiteY2" fmla="*/ 1626936 h 1687513"/>
              <a:gd name="connsiteX3" fmla="*/ 1347535 w 1408112"/>
              <a:gd name="connsiteY3" fmla="*/ 1626936 h 1687513"/>
              <a:gd name="connsiteX4" fmla="*/ 1347535 w 1408112"/>
              <a:gd name="connsiteY4" fmla="*/ 0 h 1687513"/>
              <a:gd name="connsiteX5" fmla="*/ 1408112 w 1408112"/>
              <a:gd name="connsiteY5" fmla="*/ 0 h 1687513"/>
              <a:gd name="connsiteX6" fmla="*/ 1408112 w 1408112"/>
              <a:gd name="connsiteY6" fmla="*/ 1687513 h 1687513"/>
              <a:gd name="connsiteX7" fmla="*/ 0 w 1408112"/>
              <a:gd name="connsiteY7" fmla="*/ 1687513 h 1687513"/>
              <a:gd name="connsiteX8" fmla="*/ 0 w 1408112"/>
              <a:gd name="connsiteY8" fmla="*/ 0 h 16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8112" h="1687513">
                <a:moveTo>
                  <a:pt x="0" y="0"/>
                </a:moveTo>
                <a:lnTo>
                  <a:pt x="60577" y="0"/>
                </a:lnTo>
                <a:lnTo>
                  <a:pt x="60577" y="1626936"/>
                </a:lnTo>
                <a:lnTo>
                  <a:pt x="1347535" y="1626936"/>
                </a:lnTo>
                <a:lnTo>
                  <a:pt x="1347535" y="0"/>
                </a:lnTo>
                <a:lnTo>
                  <a:pt x="1408112" y="0"/>
                </a:lnTo>
                <a:lnTo>
                  <a:pt x="1408112" y="1687513"/>
                </a:lnTo>
                <a:lnTo>
                  <a:pt x="0" y="168751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任意多边形: 形状 34"/>
          <p:cNvSpPr/>
          <p:nvPr/>
        </p:nvSpPr>
        <p:spPr>
          <a:xfrm>
            <a:off x="532130" y="687705"/>
            <a:ext cx="1407795" cy="2119630"/>
          </a:xfrm>
          <a:custGeom>
            <a:avLst/>
            <a:gdLst>
              <a:gd name="connsiteX0" fmla="*/ 0 w 1408112"/>
              <a:gd name="connsiteY0" fmla="*/ 0 h 2119313"/>
              <a:gd name="connsiteX1" fmla="*/ 1408112 w 1408112"/>
              <a:gd name="connsiteY1" fmla="*/ 0 h 2119313"/>
              <a:gd name="connsiteX2" fmla="*/ 1408112 w 1408112"/>
              <a:gd name="connsiteY2" fmla="*/ 2119313 h 2119313"/>
              <a:gd name="connsiteX3" fmla="*/ 1347535 w 1408112"/>
              <a:gd name="connsiteY3" fmla="*/ 2119313 h 2119313"/>
              <a:gd name="connsiteX4" fmla="*/ 1347535 w 1408112"/>
              <a:gd name="connsiteY4" fmla="*/ 60577 h 2119313"/>
              <a:gd name="connsiteX5" fmla="*/ 60577 w 1408112"/>
              <a:gd name="connsiteY5" fmla="*/ 60577 h 2119313"/>
              <a:gd name="connsiteX6" fmla="*/ 60577 w 1408112"/>
              <a:gd name="connsiteY6" fmla="*/ 2119313 h 2119313"/>
              <a:gd name="connsiteX7" fmla="*/ 0 w 1408112"/>
              <a:gd name="connsiteY7" fmla="*/ 2119313 h 2119313"/>
              <a:gd name="connsiteX8" fmla="*/ 0 w 1408112"/>
              <a:gd name="connsiteY8" fmla="*/ 0 h 2119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8112" h="2119313">
                <a:moveTo>
                  <a:pt x="0" y="0"/>
                </a:moveTo>
                <a:lnTo>
                  <a:pt x="1408112" y="0"/>
                </a:lnTo>
                <a:lnTo>
                  <a:pt x="1408112" y="2119313"/>
                </a:lnTo>
                <a:lnTo>
                  <a:pt x="1347535" y="2119313"/>
                </a:lnTo>
                <a:lnTo>
                  <a:pt x="1347535" y="60577"/>
                </a:lnTo>
                <a:lnTo>
                  <a:pt x="60577" y="60577"/>
                </a:lnTo>
                <a:lnTo>
                  <a:pt x="60577" y="2119313"/>
                </a:lnTo>
                <a:lnTo>
                  <a:pt x="0" y="2119313"/>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文本框 29"/>
          <p:cNvSpPr txBox="1"/>
          <p:nvPr/>
        </p:nvSpPr>
        <p:spPr>
          <a:xfrm rot="5400000">
            <a:off x="-562610" y="2115820"/>
            <a:ext cx="3598545" cy="922020"/>
          </a:xfrm>
          <a:prstGeom prst="rect">
            <a:avLst/>
          </a:prstGeom>
          <a:noFill/>
        </p:spPr>
        <p:txBody>
          <a:bodyPr wrap="none" rtlCol="0">
            <a:spAutoFit/>
            <a:scene3d>
              <a:camera prst="orthographicFront"/>
              <a:lightRig rig="threePt" dir="t"/>
            </a:scene3d>
            <a:sp3d contourW="12700"/>
          </a:bodyPr>
          <a:lstStyle/>
          <a:p>
            <a:pPr algn="ctr"/>
            <a:r>
              <a:rPr lang="en-US" altLang="zh-CN" sz="5400" b="1" dirty="0">
                <a:solidFill>
                  <a:schemeClr val="accent1"/>
                </a:solidFill>
                <a:latin typeface="Century Gothic" panose="020B0502020202020204" pitchFamily="34" charset="0"/>
              </a:rPr>
              <a:t>CONTENTS</a:t>
            </a:r>
          </a:p>
        </p:txBody>
      </p:sp>
      <p:sp>
        <p:nvSpPr>
          <p:cNvPr id="17" name="文本框 16"/>
          <p:cNvSpPr txBox="1"/>
          <p:nvPr/>
        </p:nvSpPr>
        <p:spPr>
          <a:xfrm>
            <a:off x="2041525" y="3225800"/>
            <a:ext cx="1866900" cy="461645"/>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rPr>
              <a:t>项目概述</a:t>
            </a:r>
          </a:p>
        </p:txBody>
      </p:sp>
      <p:sp>
        <p:nvSpPr>
          <p:cNvPr id="7" name="等腰三角形 6"/>
          <p:cNvSpPr/>
          <p:nvPr/>
        </p:nvSpPr>
        <p:spPr>
          <a:xfrm flipV="1">
            <a:off x="2848610" y="2806700"/>
            <a:ext cx="257175" cy="22161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2438400" y="1524000"/>
            <a:ext cx="1082675" cy="1073150"/>
            <a:chOff x="3840" y="2400"/>
            <a:chExt cx="1705" cy="1690"/>
          </a:xfrm>
        </p:grpSpPr>
        <p:sp>
          <p:nvSpPr>
            <p:cNvPr id="6" name="图文框 5"/>
            <p:cNvSpPr/>
            <p:nvPr/>
          </p:nvSpPr>
          <p:spPr>
            <a:xfrm>
              <a:off x="3840" y="2400"/>
              <a:ext cx="1690" cy="1690"/>
            </a:xfrm>
            <a:prstGeom prst="frame">
              <a:avLst>
                <a:gd name="adj1" fmla="val 81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5" name="文本框 44"/>
            <p:cNvSpPr txBox="1"/>
            <p:nvPr/>
          </p:nvSpPr>
          <p:spPr>
            <a:xfrm>
              <a:off x="3855" y="2661"/>
              <a:ext cx="1690" cy="1210"/>
            </a:xfrm>
            <a:prstGeom prst="rect">
              <a:avLst/>
            </a:prstGeom>
            <a:noFill/>
          </p:spPr>
          <p:txBody>
            <a:bodyPr wrap="square" rtlCol="0">
              <a:spAutoFit/>
              <a:scene3d>
                <a:camera prst="orthographicFront"/>
                <a:lightRig rig="threePt" dir="t"/>
              </a:scene3d>
              <a:sp3d contourW="12700"/>
            </a:bodyPr>
            <a:lstStyle/>
            <a:p>
              <a:pPr algn="ctr"/>
              <a:r>
                <a:rPr lang="en-US" altLang="zh-CN" sz="4400" b="1" dirty="0">
                  <a:solidFill>
                    <a:schemeClr val="tx1">
                      <a:lumMod val="75000"/>
                      <a:lumOff val="25000"/>
                    </a:schemeClr>
                  </a:solidFill>
                  <a:latin typeface="Century Gothic" panose="020B0502020202020204" pitchFamily="34" charset="0"/>
                </a:rPr>
                <a:t>01</a:t>
              </a:r>
              <a:endParaRPr lang="zh-CN" altLang="en-US" sz="4400" b="1" dirty="0">
                <a:solidFill>
                  <a:schemeClr val="tx1">
                    <a:lumMod val="75000"/>
                    <a:lumOff val="25000"/>
                  </a:schemeClr>
                </a:solidFill>
                <a:latin typeface="Century Gothic" panose="020B0502020202020204" pitchFamily="34" charset="0"/>
              </a:endParaRPr>
            </a:p>
          </p:txBody>
        </p:sp>
      </p:grpSp>
      <p:grpSp>
        <p:nvGrpSpPr>
          <p:cNvPr id="4" name="组合 3"/>
          <p:cNvGrpSpPr/>
          <p:nvPr/>
        </p:nvGrpSpPr>
        <p:grpSpPr>
          <a:xfrm>
            <a:off x="3933010" y="1689894"/>
            <a:ext cx="1866768" cy="1997571"/>
            <a:chOff x="5093361" y="1689894"/>
            <a:chExt cx="1866768" cy="1997571"/>
          </a:xfrm>
        </p:grpSpPr>
        <p:sp>
          <p:nvSpPr>
            <p:cNvPr id="18" name="文本框 17"/>
            <p:cNvSpPr txBox="1"/>
            <p:nvPr/>
          </p:nvSpPr>
          <p:spPr>
            <a:xfrm>
              <a:off x="5093361" y="3225800"/>
              <a:ext cx="1866768" cy="461665"/>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rPr>
                <a:t>项目设计</a:t>
              </a:r>
            </a:p>
          </p:txBody>
        </p:sp>
        <p:sp>
          <p:nvSpPr>
            <p:cNvPr id="42" name="等腰三角形 41"/>
            <p:cNvSpPr/>
            <p:nvPr/>
          </p:nvSpPr>
          <p:spPr>
            <a:xfrm flipV="1">
              <a:off x="5898111" y="2806699"/>
              <a:ext cx="257268" cy="2217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5490289" y="1689894"/>
              <a:ext cx="1072912" cy="768350"/>
            </a:xfrm>
            <a:prstGeom prst="rect">
              <a:avLst/>
            </a:prstGeom>
            <a:noFill/>
          </p:spPr>
          <p:txBody>
            <a:bodyPr wrap="square" rtlCol="0">
              <a:spAutoFit/>
              <a:scene3d>
                <a:camera prst="orthographicFront"/>
                <a:lightRig rig="threePt" dir="t"/>
              </a:scene3d>
              <a:sp3d contourW="12700"/>
            </a:bodyPr>
            <a:lstStyle/>
            <a:p>
              <a:pPr algn="ctr"/>
              <a:r>
                <a:rPr lang="en-US" altLang="zh-CN" sz="4400" b="1" dirty="0">
                  <a:solidFill>
                    <a:schemeClr val="tx1">
                      <a:lumMod val="75000"/>
                      <a:lumOff val="25000"/>
                    </a:schemeClr>
                  </a:solidFill>
                  <a:latin typeface="Century Gothic" panose="020B0502020202020204" pitchFamily="34" charset="0"/>
                </a:rPr>
                <a:t>02</a:t>
              </a:r>
              <a:endParaRPr lang="zh-CN" altLang="en-US" sz="4400" b="1" dirty="0">
                <a:solidFill>
                  <a:schemeClr val="tx1">
                    <a:lumMod val="75000"/>
                    <a:lumOff val="25000"/>
                  </a:schemeClr>
                </a:solidFill>
                <a:latin typeface="Century Gothic" panose="020B0502020202020204" pitchFamily="34" charset="0"/>
              </a:endParaRPr>
            </a:p>
          </p:txBody>
        </p:sp>
      </p:grpSp>
      <p:grpSp>
        <p:nvGrpSpPr>
          <p:cNvPr id="5" name="组合 4"/>
          <p:cNvGrpSpPr/>
          <p:nvPr/>
        </p:nvGrpSpPr>
        <p:grpSpPr>
          <a:xfrm>
            <a:off x="5824545" y="1689894"/>
            <a:ext cx="1866768" cy="1997571"/>
            <a:chOff x="7278290" y="1689894"/>
            <a:chExt cx="1866768" cy="1997571"/>
          </a:xfrm>
        </p:grpSpPr>
        <p:sp>
          <p:nvSpPr>
            <p:cNvPr id="28" name="文本框 27"/>
            <p:cNvSpPr txBox="1"/>
            <p:nvPr/>
          </p:nvSpPr>
          <p:spPr>
            <a:xfrm>
              <a:off x="7278290" y="3225800"/>
              <a:ext cx="1866768" cy="461665"/>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rPr>
                <a:t>技术实现</a:t>
              </a:r>
            </a:p>
          </p:txBody>
        </p:sp>
        <p:sp>
          <p:nvSpPr>
            <p:cNvPr id="43" name="等腰三角形 42"/>
            <p:cNvSpPr/>
            <p:nvPr/>
          </p:nvSpPr>
          <p:spPr>
            <a:xfrm flipV="1">
              <a:off x="8080394" y="2806699"/>
              <a:ext cx="257268" cy="2217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7675218" y="1689894"/>
              <a:ext cx="1072912" cy="768350"/>
            </a:xfrm>
            <a:prstGeom prst="rect">
              <a:avLst/>
            </a:prstGeom>
            <a:noFill/>
          </p:spPr>
          <p:txBody>
            <a:bodyPr wrap="square" rtlCol="0">
              <a:spAutoFit/>
              <a:scene3d>
                <a:camera prst="orthographicFront"/>
                <a:lightRig rig="threePt" dir="t"/>
              </a:scene3d>
              <a:sp3d contourW="12700"/>
            </a:bodyPr>
            <a:lstStyle/>
            <a:p>
              <a:pPr algn="ctr"/>
              <a:r>
                <a:rPr lang="en-US" altLang="zh-CN" sz="4400" b="1" dirty="0">
                  <a:solidFill>
                    <a:schemeClr val="tx1">
                      <a:lumMod val="75000"/>
                      <a:lumOff val="25000"/>
                    </a:schemeClr>
                  </a:solidFill>
                  <a:latin typeface="Century Gothic" panose="020B0502020202020204" pitchFamily="34" charset="0"/>
                </a:rPr>
                <a:t>03</a:t>
              </a:r>
              <a:endParaRPr lang="zh-CN" altLang="en-US" sz="4400" b="1" dirty="0">
                <a:solidFill>
                  <a:schemeClr val="tx1">
                    <a:lumMod val="75000"/>
                    <a:lumOff val="25000"/>
                  </a:schemeClr>
                </a:solidFill>
                <a:latin typeface="Century Gothic" panose="020B0502020202020204" pitchFamily="34" charset="0"/>
              </a:endParaRPr>
            </a:p>
          </p:txBody>
        </p:sp>
      </p:grpSp>
      <p:grpSp>
        <p:nvGrpSpPr>
          <p:cNvPr id="8" name="组合 7"/>
          <p:cNvGrpSpPr/>
          <p:nvPr/>
        </p:nvGrpSpPr>
        <p:grpSpPr>
          <a:xfrm>
            <a:off x="7716080" y="1689894"/>
            <a:ext cx="1866768" cy="1997571"/>
            <a:chOff x="9463219" y="1689894"/>
            <a:chExt cx="1866768" cy="1997571"/>
          </a:xfrm>
        </p:grpSpPr>
        <p:sp>
          <p:nvSpPr>
            <p:cNvPr id="29" name="文本框 28"/>
            <p:cNvSpPr txBox="1"/>
            <p:nvPr/>
          </p:nvSpPr>
          <p:spPr>
            <a:xfrm>
              <a:off x="9463219" y="3225800"/>
              <a:ext cx="1866768" cy="461665"/>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rPr>
                <a:t>项目管理</a:t>
              </a:r>
            </a:p>
          </p:txBody>
        </p:sp>
        <p:sp>
          <p:nvSpPr>
            <p:cNvPr id="44" name="等腰三角形 43"/>
            <p:cNvSpPr/>
            <p:nvPr/>
          </p:nvSpPr>
          <p:spPr>
            <a:xfrm flipV="1">
              <a:off x="10262677" y="2806699"/>
              <a:ext cx="257268" cy="2217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9860147" y="1689894"/>
              <a:ext cx="1072912" cy="768350"/>
            </a:xfrm>
            <a:prstGeom prst="rect">
              <a:avLst/>
            </a:prstGeom>
            <a:noFill/>
          </p:spPr>
          <p:txBody>
            <a:bodyPr wrap="square" rtlCol="0">
              <a:spAutoFit/>
              <a:scene3d>
                <a:camera prst="orthographicFront"/>
                <a:lightRig rig="threePt" dir="t"/>
              </a:scene3d>
              <a:sp3d contourW="12700"/>
            </a:bodyPr>
            <a:lstStyle/>
            <a:p>
              <a:pPr algn="ctr"/>
              <a:r>
                <a:rPr lang="en-US" altLang="zh-CN" sz="4400" b="1" dirty="0">
                  <a:solidFill>
                    <a:schemeClr val="tx1">
                      <a:lumMod val="75000"/>
                      <a:lumOff val="25000"/>
                    </a:schemeClr>
                  </a:solidFill>
                  <a:latin typeface="Century Gothic" panose="020B0502020202020204" pitchFamily="34" charset="0"/>
                </a:rPr>
                <a:t>04</a:t>
              </a:r>
              <a:endParaRPr lang="zh-CN" altLang="en-US" sz="4400" b="1" dirty="0">
                <a:solidFill>
                  <a:schemeClr val="tx1">
                    <a:lumMod val="75000"/>
                    <a:lumOff val="25000"/>
                  </a:schemeClr>
                </a:solidFill>
                <a:latin typeface="Century Gothic" panose="020B0502020202020204" pitchFamily="34" charset="0"/>
              </a:endParaRPr>
            </a:p>
          </p:txBody>
        </p:sp>
      </p:grpSp>
      <p:grpSp>
        <p:nvGrpSpPr>
          <p:cNvPr id="31" name="组合 7"/>
          <p:cNvGrpSpPr/>
          <p:nvPr/>
        </p:nvGrpSpPr>
        <p:grpSpPr>
          <a:xfrm>
            <a:off x="9607617" y="1689894"/>
            <a:ext cx="1866768" cy="1997571"/>
            <a:chOff x="9463219" y="1689894"/>
            <a:chExt cx="1866768" cy="1997571"/>
          </a:xfrm>
        </p:grpSpPr>
        <p:sp>
          <p:nvSpPr>
            <p:cNvPr id="32" name="文本框 31"/>
            <p:cNvSpPr txBox="1"/>
            <p:nvPr/>
          </p:nvSpPr>
          <p:spPr>
            <a:xfrm>
              <a:off x="9463219" y="3225800"/>
              <a:ext cx="1866768" cy="461665"/>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rPr>
                <a:t>未来推广</a:t>
              </a:r>
            </a:p>
          </p:txBody>
        </p:sp>
        <p:sp>
          <p:nvSpPr>
            <p:cNvPr id="34" name="等腰三角形 43"/>
            <p:cNvSpPr/>
            <p:nvPr/>
          </p:nvSpPr>
          <p:spPr>
            <a:xfrm flipV="1">
              <a:off x="10262677" y="2806699"/>
              <a:ext cx="257268" cy="2217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9860147" y="1689894"/>
              <a:ext cx="1072912" cy="768350"/>
            </a:xfrm>
            <a:prstGeom prst="rect">
              <a:avLst/>
            </a:prstGeom>
            <a:noFill/>
          </p:spPr>
          <p:txBody>
            <a:bodyPr wrap="square" rtlCol="0">
              <a:spAutoFit/>
              <a:scene3d>
                <a:camera prst="orthographicFront"/>
                <a:lightRig rig="threePt" dir="t"/>
              </a:scene3d>
              <a:sp3d contourW="12700"/>
            </a:bodyPr>
            <a:lstStyle/>
            <a:p>
              <a:pPr algn="ctr"/>
              <a:r>
                <a:rPr lang="en-US" altLang="zh-CN" sz="4400" b="1" dirty="0">
                  <a:solidFill>
                    <a:schemeClr val="tx1">
                      <a:lumMod val="75000"/>
                      <a:lumOff val="25000"/>
                    </a:schemeClr>
                  </a:solidFill>
                  <a:latin typeface="Century Gothic" panose="020B0502020202020204" pitchFamily="34" charset="0"/>
                </a:rPr>
                <a:t>05</a:t>
              </a:r>
              <a:endParaRPr lang="zh-CN" altLang="en-US" sz="4400" b="1" dirty="0">
                <a:solidFill>
                  <a:schemeClr val="tx1">
                    <a:lumMod val="75000"/>
                    <a:lumOff val="25000"/>
                  </a:schemeClr>
                </a:solidFill>
                <a:latin typeface="Century Gothic" panose="020B0502020202020204" pitchFamily="34" charset="0"/>
              </a:endParaRPr>
            </a:p>
          </p:txBody>
        </p:sp>
      </p:grpSp>
      <p:sp>
        <p:nvSpPr>
          <p:cNvPr id="38" name="文本框 37"/>
          <p:cNvSpPr txBox="1"/>
          <p:nvPr/>
        </p:nvSpPr>
        <p:spPr>
          <a:xfrm>
            <a:off x="2053858" y="3803997"/>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项目背景</a:t>
            </a:r>
          </a:p>
        </p:txBody>
      </p:sp>
      <p:sp>
        <p:nvSpPr>
          <p:cNvPr id="50" name="文本框 49"/>
          <p:cNvSpPr txBox="1"/>
          <p:nvPr/>
        </p:nvSpPr>
        <p:spPr>
          <a:xfrm>
            <a:off x="2053858" y="4240506"/>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市场分析</a:t>
            </a:r>
          </a:p>
        </p:txBody>
      </p:sp>
      <p:sp>
        <p:nvSpPr>
          <p:cNvPr id="51" name="文本框 50"/>
          <p:cNvSpPr txBox="1"/>
          <p:nvPr/>
        </p:nvSpPr>
        <p:spPr>
          <a:xfrm>
            <a:off x="2053858" y="4677015"/>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问题分析</a:t>
            </a:r>
          </a:p>
        </p:txBody>
      </p:sp>
      <p:sp>
        <p:nvSpPr>
          <p:cNvPr id="52" name="文本框 51"/>
          <p:cNvSpPr txBox="1"/>
          <p:nvPr/>
        </p:nvSpPr>
        <p:spPr>
          <a:xfrm>
            <a:off x="2053858" y="5113524"/>
            <a:ext cx="1866768" cy="707886"/>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项目目标</a:t>
            </a:r>
          </a:p>
          <a:p>
            <a:pPr algn="ctr"/>
            <a:endParaRPr lang="zh-CN" altLang="en-US" sz="2000" b="1" dirty="0">
              <a:solidFill>
                <a:schemeClr val="bg1"/>
              </a:solidFill>
            </a:endParaRPr>
          </a:p>
        </p:txBody>
      </p:sp>
      <p:sp>
        <p:nvSpPr>
          <p:cNvPr id="61" name="文本框 60"/>
          <p:cNvSpPr txBox="1"/>
          <p:nvPr/>
        </p:nvSpPr>
        <p:spPr>
          <a:xfrm>
            <a:off x="3933010" y="3803996"/>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总体架构</a:t>
            </a:r>
          </a:p>
        </p:txBody>
      </p:sp>
      <p:sp>
        <p:nvSpPr>
          <p:cNvPr id="62" name="文本框 61"/>
          <p:cNvSpPr txBox="1"/>
          <p:nvPr/>
        </p:nvSpPr>
        <p:spPr>
          <a:xfrm>
            <a:off x="3920626" y="4261726"/>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功能模块</a:t>
            </a:r>
            <a:endParaRPr lang="en-US" altLang="zh-CN" sz="2000" b="1" dirty="0">
              <a:solidFill>
                <a:schemeClr val="bg1"/>
              </a:solidFill>
            </a:endParaRPr>
          </a:p>
        </p:txBody>
      </p:sp>
      <p:sp>
        <p:nvSpPr>
          <p:cNvPr id="63" name="文本框 62"/>
          <p:cNvSpPr txBox="1"/>
          <p:nvPr/>
        </p:nvSpPr>
        <p:spPr>
          <a:xfrm>
            <a:off x="3920626" y="5126366"/>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功能说明</a:t>
            </a:r>
          </a:p>
        </p:txBody>
      </p:sp>
      <p:sp>
        <p:nvSpPr>
          <p:cNvPr id="64" name="文本框 63"/>
          <p:cNvSpPr txBox="1"/>
          <p:nvPr/>
        </p:nvSpPr>
        <p:spPr>
          <a:xfrm>
            <a:off x="5821899" y="3800061"/>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工具与技术</a:t>
            </a:r>
          </a:p>
        </p:txBody>
      </p:sp>
      <p:sp>
        <p:nvSpPr>
          <p:cNvPr id="65" name="文本框 64"/>
          <p:cNvSpPr txBox="1"/>
          <p:nvPr/>
        </p:nvSpPr>
        <p:spPr>
          <a:xfrm>
            <a:off x="5690823" y="4261726"/>
            <a:ext cx="2128921"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界面展示</a:t>
            </a:r>
          </a:p>
        </p:txBody>
      </p:sp>
      <p:sp>
        <p:nvSpPr>
          <p:cNvPr id="66" name="文本框 65"/>
          <p:cNvSpPr txBox="1"/>
          <p:nvPr/>
        </p:nvSpPr>
        <p:spPr>
          <a:xfrm>
            <a:off x="7710788" y="3800061"/>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项目管理</a:t>
            </a:r>
          </a:p>
        </p:txBody>
      </p:sp>
      <p:sp>
        <p:nvSpPr>
          <p:cNvPr id="67" name="文本框 66"/>
          <p:cNvSpPr txBox="1"/>
          <p:nvPr/>
        </p:nvSpPr>
        <p:spPr>
          <a:xfrm>
            <a:off x="7710788" y="4232734"/>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人员组织构架</a:t>
            </a:r>
          </a:p>
        </p:txBody>
      </p:sp>
      <p:sp>
        <p:nvSpPr>
          <p:cNvPr id="68" name="文本框 67"/>
          <p:cNvSpPr txBox="1"/>
          <p:nvPr/>
        </p:nvSpPr>
        <p:spPr>
          <a:xfrm>
            <a:off x="7710788" y="4642339"/>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a:solidFill>
                  <a:schemeClr val="bg1"/>
                </a:solidFill>
              </a:rPr>
              <a:t>可行性分析</a:t>
            </a:r>
            <a:endParaRPr lang="zh-CN" altLang="en-US" sz="2000" b="1" dirty="0">
              <a:solidFill>
                <a:schemeClr val="bg1"/>
              </a:solidFill>
            </a:endParaRPr>
          </a:p>
        </p:txBody>
      </p:sp>
      <p:sp>
        <p:nvSpPr>
          <p:cNvPr id="9" name="文本框 8"/>
          <p:cNvSpPr txBox="1"/>
          <p:nvPr/>
        </p:nvSpPr>
        <p:spPr>
          <a:xfrm>
            <a:off x="3920626" y="4703418"/>
            <a:ext cx="1866768" cy="400110"/>
          </a:xfrm>
          <a:prstGeom prst="rect">
            <a:avLst/>
          </a:prstGeom>
          <a:noFill/>
        </p:spPr>
        <p:txBody>
          <a:bodyPr wrap="square" rtlCol="0">
            <a:spAutoFit/>
            <a:scene3d>
              <a:camera prst="orthographicFront"/>
              <a:lightRig rig="threePt" dir="t"/>
            </a:scene3d>
            <a:sp3d contourW="12700"/>
          </a:bodyPr>
          <a:lstStyle/>
          <a:p>
            <a:pPr algn="ctr"/>
            <a:r>
              <a:rPr lang="zh-CN" altLang="en-US" sz="2000" b="1" dirty="0">
                <a:solidFill>
                  <a:schemeClr val="bg1"/>
                </a:solidFill>
              </a:rPr>
              <a:t>流程设计</a:t>
            </a:r>
          </a:p>
        </p:txBody>
      </p:sp>
      <p:sp>
        <p:nvSpPr>
          <p:cNvPr id="10" name="图文框 9"/>
          <p:cNvSpPr/>
          <p:nvPr/>
        </p:nvSpPr>
        <p:spPr>
          <a:xfrm>
            <a:off x="4330065" y="1536065"/>
            <a:ext cx="1073150" cy="1073150"/>
          </a:xfrm>
          <a:prstGeom prst="frame">
            <a:avLst>
              <a:gd name="adj1" fmla="val 81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图文框 10"/>
          <p:cNvSpPr/>
          <p:nvPr/>
        </p:nvSpPr>
        <p:spPr>
          <a:xfrm>
            <a:off x="6221095" y="1515745"/>
            <a:ext cx="1073150" cy="1073150"/>
          </a:xfrm>
          <a:prstGeom prst="frame">
            <a:avLst>
              <a:gd name="adj1" fmla="val 81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图文框 11"/>
          <p:cNvSpPr/>
          <p:nvPr/>
        </p:nvSpPr>
        <p:spPr>
          <a:xfrm>
            <a:off x="8112760" y="1536065"/>
            <a:ext cx="1073150" cy="1073150"/>
          </a:xfrm>
          <a:prstGeom prst="frame">
            <a:avLst>
              <a:gd name="adj1" fmla="val 81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图文框 13"/>
          <p:cNvSpPr/>
          <p:nvPr/>
        </p:nvSpPr>
        <p:spPr>
          <a:xfrm>
            <a:off x="9994265" y="1536065"/>
            <a:ext cx="1073150" cy="1073150"/>
          </a:xfrm>
          <a:prstGeom prst="frame">
            <a:avLst>
              <a:gd name="adj1" fmla="val 81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1+#ppt_w/2"/>
                                          </p:val>
                                        </p:tav>
                                        <p:tav tm="100000">
                                          <p:val>
                                            <p:strVal val="#ppt_x"/>
                                          </p:val>
                                        </p:tav>
                                      </p:tavLst>
                                    </p:anim>
                                    <p:anim calcmode="lin" valueType="num">
                                      <p:cBhvr additive="base">
                                        <p:cTn id="12" dur="500" fill="hold"/>
                                        <p:tgtEl>
                                          <p:spTgt spid="3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1+#ppt_w/2"/>
                                          </p:val>
                                        </p:tav>
                                        <p:tav tm="100000">
                                          <p:val>
                                            <p:strVal val="#ppt_x"/>
                                          </p:val>
                                        </p:tav>
                                      </p:tavLst>
                                    </p:anim>
                                    <p:anim calcmode="lin" valueType="num">
                                      <p:cBhvr additive="base">
                                        <p:cTn id="16" dur="500" fill="hold"/>
                                        <p:tgtEl>
                                          <p:spTgt spid="50"/>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1+#ppt_w/2"/>
                                          </p:val>
                                        </p:tav>
                                        <p:tav tm="100000">
                                          <p:val>
                                            <p:strVal val="#ppt_x"/>
                                          </p:val>
                                        </p:tav>
                                      </p:tavLst>
                                    </p:anim>
                                    <p:anim calcmode="lin" valueType="num">
                                      <p:cBhvr additive="base">
                                        <p:cTn id="20" dur="500" fill="hold"/>
                                        <p:tgtEl>
                                          <p:spTgt spid="51"/>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500" fill="hold"/>
                                        <p:tgtEl>
                                          <p:spTgt spid="52"/>
                                        </p:tgtEl>
                                        <p:attrNameLst>
                                          <p:attrName>ppt_x</p:attrName>
                                        </p:attrNameLst>
                                      </p:cBhvr>
                                      <p:tavLst>
                                        <p:tav tm="0">
                                          <p:val>
                                            <p:strVal val="1+#ppt_w/2"/>
                                          </p:val>
                                        </p:tav>
                                        <p:tav tm="100000">
                                          <p:val>
                                            <p:strVal val="#ppt_x"/>
                                          </p:val>
                                        </p:tav>
                                      </p:tavLst>
                                    </p:anim>
                                    <p:anim calcmode="lin" valueType="num">
                                      <p:cBhvr additive="base">
                                        <p:cTn id="24" dur="500" fill="hold"/>
                                        <p:tgtEl>
                                          <p:spTgt spid="52"/>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2"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1+#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61"/>
                                        </p:tgtEl>
                                        <p:attrNameLst>
                                          <p:attrName>style.visibility</p:attrName>
                                        </p:attrNameLst>
                                      </p:cBhvr>
                                      <p:to>
                                        <p:strVal val="visible"/>
                                      </p:to>
                                    </p:set>
                                    <p:anim calcmode="lin" valueType="num">
                                      <p:cBhvr additive="base">
                                        <p:cTn id="32" dur="500" fill="hold"/>
                                        <p:tgtEl>
                                          <p:spTgt spid="61"/>
                                        </p:tgtEl>
                                        <p:attrNameLst>
                                          <p:attrName>ppt_x</p:attrName>
                                        </p:attrNameLst>
                                      </p:cBhvr>
                                      <p:tavLst>
                                        <p:tav tm="0">
                                          <p:val>
                                            <p:strVal val="1+#ppt_w/2"/>
                                          </p:val>
                                        </p:tav>
                                        <p:tav tm="100000">
                                          <p:val>
                                            <p:strVal val="#ppt_x"/>
                                          </p:val>
                                        </p:tav>
                                      </p:tavLst>
                                    </p:anim>
                                    <p:anim calcmode="lin" valueType="num">
                                      <p:cBhvr additive="base">
                                        <p:cTn id="33" dur="500" fill="hold"/>
                                        <p:tgtEl>
                                          <p:spTgt spid="61"/>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62"/>
                                        </p:tgtEl>
                                        <p:attrNameLst>
                                          <p:attrName>style.visibility</p:attrName>
                                        </p:attrNameLst>
                                      </p:cBhvr>
                                      <p:to>
                                        <p:strVal val="visible"/>
                                      </p:to>
                                    </p:set>
                                    <p:anim calcmode="lin" valueType="num">
                                      <p:cBhvr additive="base">
                                        <p:cTn id="36" dur="500" fill="hold"/>
                                        <p:tgtEl>
                                          <p:spTgt spid="62"/>
                                        </p:tgtEl>
                                        <p:attrNameLst>
                                          <p:attrName>ppt_x</p:attrName>
                                        </p:attrNameLst>
                                      </p:cBhvr>
                                      <p:tavLst>
                                        <p:tav tm="0">
                                          <p:val>
                                            <p:strVal val="1+#ppt_w/2"/>
                                          </p:val>
                                        </p:tav>
                                        <p:tav tm="100000">
                                          <p:val>
                                            <p:strVal val="#ppt_x"/>
                                          </p:val>
                                        </p:tav>
                                      </p:tavLst>
                                    </p:anim>
                                    <p:anim calcmode="lin" valueType="num">
                                      <p:cBhvr additive="base">
                                        <p:cTn id="37" dur="500" fill="hold"/>
                                        <p:tgtEl>
                                          <p:spTgt spid="62"/>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63"/>
                                        </p:tgtEl>
                                        <p:attrNameLst>
                                          <p:attrName>style.visibility</p:attrName>
                                        </p:attrNameLst>
                                      </p:cBhvr>
                                      <p:to>
                                        <p:strVal val="visible"/>
                                      </p:to>
                                    </p:set>
                                    <p:anim calcmode="lin" valueType="num">
                                      <p:cBhvr additive="base">
                                        <p:cTn id="40" dur="500" fill="hold"/>
                                        <p:tgtEl>
                                          <p:spTgt spid="63"/>
                                        </p:tgtEl>
                                        <p:attrNameLst>
                                          <p:attrName>ppt_x</p:attrName>
                                        </p:attrNameLst>
                                      </p:cBhvr>
                                      <p:tavLst>
                                        <p:tav tm="0">
                                          <p:val>
                                            <p:strVal val="1+#ppt_w/2"/>
                                          </p:val>
                                        </p:tav>
                                        <p:tav tm="100000">
                                          <p:val>
                                            <p:strVal val="#ppt_x"/>
                                          </p:val>
                                        </p:tav>
                                      </p:tavLst>
                                    </p:anim>
                                    <p:anim calcmode="lin" valueType="num">
                                      <p:cBhvr additive="base">
                                        <p:cTn id="41" dur="500" fill="hold"/>
                                        <p:tgtEl>
                                          <p:spTgt spid="63"/>
                                        </p:tgtEl>
                                        <p:attrNameLst>
                                          <p:attrName>ppt_y</p:attrName>
                                        </p:attrNameLst>
                                      </p:cBhvr>
                                      <p:tavLst>
                                        <p:tav tm="0">
                                          <p:val>
                                            <p:strVal val="#ppt_y"/>
                                          </p:val>
                                        </p:tav>
                                        <p:tav tm="100000">
                                          <p:val>
                                            <p:strVal val="#ppt_y"/>
                                          </p:val>
                                        </p:tav>
                                      </p:tavLst>
                                    </p:anim>
                                  </p:childTnLst>
                                </p:cTn>
                              </p:par>
                            </p:childTnLst>
                          </p:cTn>
                        </p:par>
                        <p:par>
                          <p:cTn id="42" fill="hold">
                            <p:stCondLst>
                              <p:cond delay="1000"/>
                            </p:stCondLst>
                            <p:childTnLst>
                              <p:par>
                                <p:cTn id="43" presetID="2" presetClass="entr" presetSubtype="2" fill="hold" nodeType="after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500" fill="hold"/>
                                        <p:tgtEl>
                                          <p:spTgt spid="5"/>
                                        </p:tgtEl>
                                        <p:attrNameLst>
                                          <p:attrName>ppt_x</p:attrName>
                                        </p:attrNameLst>
                                      </p:cBhvr>
                                      <p:tavLst>
                                        <p:tav tm="0">
                                          <p:val>
                                            <p:strVal val="1+#ppt_w/2"/>
                                          </p:val>
                                        </p:tav>
                                        <p:tav tm="100000">
                                          <p:val>
                                            <p:strVal val="#ppt_x"/>
                                          </p:val>
                                        </p:tav>
                                      </p:tavLst>
                                    </p:anim>
                                    <p:anim calcmode="lin" valueType="num">
                                      <p:cBhvr additive="base">
                                        <p:cTn id="46" dur="500" fill="hold"/>
                                        <p:tgtEl>
                                          <p:spTgt spid="5"/>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anim calcmode="lin" valueType="num">
                                      <p:cBhvr additive="base">
                                        <p:cTn id="49" dur="500" fill="hold"/>
                                        <p:tgtEl>
                                          <p:spTgt spid="64"/>
                                        </p:tgtEl>
                                        <p:attrNameLst>
                                          <p:attrName>ppt_x</p:attrName>
                                        </p:attrNameLst>
                                      </p:cBhvr>
                                      <p:tavLst>
                                        <p:tav tm="0">
                                          <p:val>
                                            <p:strVal val="1+#ppt_w/2"/>
                                          </p:val>
                                        </p:tav>
                                        <p:tav tm="100000">
                                          <p:val>
                                            <p:strVal val="#ppt_x"/>
                                          </p:val>
                                        </p:tav>
                                      </p:tavLst>
                                    </p:anim>
                                    <p:anim calcmode="lin" valueType="num">
                                      <p:cBhvr additive="base">
                                        <p:cTn id="50" dur="500" fill="hold"/>
                                        <p:tgtEl>
                                          <p:spTgt spid="6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65"/>
                                        </p:tgtEl>
                                        <p:attrNameLst>
                                          <p:attrName>style.visibility</p:attrName>
                                        </p:attrNameLst>
                                      </p:cBhvr>
                                      <p:to>
                                        <p:strVal val="visible"/>
                                      </p:to>
                                    </p:set>
                                    <p:anim calcmode="lin" valueType="num">
                                      <p:cBhvr additive="base">
                                        <p:cTn id="53" dur="500" fill="hold"/>
                                        <p:tgtEl>
                                          <p:spTgt spid="65"/>
                                        </p:tgtEl>
                                        <p:attrNameLst>
                                          <p:attrName>ppt_x</p:attrName>
                                        </p:attrNameLst>
                                      </p:cBhvr>
                                      <p:tavLst>
                                        <p:tav tm="0">
                                          <p:val>
                                            <p:strVal val="1+#ppt_w/2"/>
                                          </p:val>
                                        </p:tav>
                                        <p:tav tm="100000">
                                          <p:val>
                                            <p:strVal val="#ppt_x"/>
                                          </p:val>
                                        </p:tav>
                                      </p:tavLst>
                                    </p:anim>
                                    <p:anim calcmode="lin" valueType="num">
                                      <p:cBhvr additive="base">
                                        <p:cTn id="54" dur="500" fill="hold"/>
                                        <p:tgtEl>
                                          <p:spTgt spid="65"/>
                                        </p:tgtEl>
                                        <p:attrNameLst>
                                          <p:attrName>ppt_y</p:attrName>
                                        </p:attrNameLst>
                                      </p:cBhvr>
                                      <p:tavLst>
                                        <p:tav tm="0">
                                          <p:val>
                                            <p:strVal val="#ppt_y"/>
                                          </p:val>
                                        </p:tav>
                                        <p:tav tm="100000">
                                          <p:val>
                                            <p:strVal val="#ppt_y"/>
                                          </p:val>
                                        </p:tav>
                                      </p:tavLst>
                                    </p:anim>
                                  </p:childTnLst>
                                </p:cTn>
                              </p:par>
                            </p:childTnLst>
                          </p:cTn>
                        </p:par>
                        <p:par>
                          <p:cTn id="55" fill="hold">
                            <p:stCondLst>
                              <p:cond delay="1500"/>
                            </p:stCondLst>
                            <p:childTnLst>
                              <p:par>
                                <p:cTn id="56" presetID="2" presetClass="entr" presetSubtype="2"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 calcmode="lin" valueType="num">
                                      <p:cBhvr additive="base">
                                        <p:cTn id="58" dur="500" fill="hold"/>
                                        <p:tgtEl>
                                          <p:spTgt spid="8"/>
                                        </p:tgtEl>
                                        <p:attrNameLst>
                                          <p:attrName>ppt_x</p:attrName>
                                        </p:attrNameLst>
                                      </p:cBhvr>
                                      <p:tavLst>
                                        <p:tav tm="0">
                                          <p:val>
                                            <p:strVal val="1+#ppt_w/2"/>
                                          </p:val>
                                        </p:tav>
                                        <p:tav tm="100000">
                                          <p:val>
                                            <p:strVal val="#ppt_x"/>
                                          </p:val>
                                        </p:tav>
                                      </p:tavLst>
                                    </p:anim>
                                    <p:anim calcmode="lin" valueType="num">
                                      <p:cBhvr additive="base">
                                        <p:cTn id="59" dur="500" fill="hold"/>
                                        <p:tgtEl>
                                          <p:spTgt spid="8"/>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 calcmode="lin" valueType="num">
                                      <p:cBhvr additive="base">
                                        <p:cTn id="62" dur="500" fill="hold"/>
                                        <p:tgtEl>
                                          <p:spTgt spid="66"/>
                                        </p:tgtEl>
                                        <p:attrNameLst>
                                          <p:attrName>ppt_x</p:attrName>
                                        </p:attrNameLst>
                                      </p:cBhvr>
                                      <p:tavLst>
                                        <p:tav tm="0">
                                          <p:val>
                                            <p:strVal val="1+#ppt_w/2"/>
                                          </p:val>
                                        </p:tav>
                                        <p:tav tm="100000">
                                          <p:val>
                                            <p:strVal val="#ppt_x"/>
                                          </p:val>
                                        </p:tav>
                                      </p:tavLst>
                                    </p:anim>
                                    <p:anim calcmode="lin" valueType="num">
                                      <p:cBhvr additive="base">
                                        <p:cTn id="63" dur="500" fill="hold"/>
                                        <p:tgtEl>
                                          <p:spTgt spid="66"/>
                                        </p:tgtEl>
                                        <p:attrNameLst>
                                          <p:attrName>ppt_y</p:attrName>
                                        </p:attrNameLst>
                                      </p:cBhvr>
                                      <p:tavLst>
                                        <p:tav tm="0">
                                          <p:val>
                                            <p:strVal val="#ppt_y"/>
                                          </p:val>
                                        </p:tav>
                                        <p:tav tm="100000">
                                          <p:val>
                                            <p:strVal val="#ppt_y"/>
                                          </p:val>
                                        </p:tav>
                                      </p:tavLst>
                                    </p:anim>
                                  </p:childTnLst>
                                </p:cTn>
                              </p:par>
                              <p:par>
                                <p:cTn id="64" presetID="2" presetClass="entr" presetSubtype="2" fill="hold" grpId="0" nodeType="withEffect">
                                  <p:stCondLst>
                                    <p:cond delay="0"/>
                                  </p:stCondLst>
                                  <p:childTnLst>
                                    <p:set>
                                      <p:cBhvr>
                                        <p:cTn id="65" dur="1" fill="hold">
                                          <p:stCondLst>
                                            <p:cond delay="0"/>
                                          </p:stCondLst>
                                        </p:cTn>
                                        <p:tgtEl>
                                          <p:spTgt spid="67"/>
                                        </p:tgtEl>
                                        <p:attrNameLst>
                                          <p:attrName>style.visibility</p:attrName>
                                        </p:attrNameLst>
                                      </p:cBhvr>
                                      <p:to>
                                        <p:strVal val="visible"/>
                                      </p:to>
                                    </p:set>
                                    <p:anim calcmode="lin" valueType="num">
                                      <p:cBhvr additive="base">
                                        <p:cTn id="66" dur="500" fill="hold"/>
                                        <p:tgtEl>
                                          <p:spTgt spid="67"/>
                                        </p:tgtEl>
                                        <p:attrNameLst>
                                          <p:attrName>ppt_x</p:attrName>
                                        </p:attrNameLst>
                                      </p:cBhvr>
                                      <p:tavLst>
                                        <p:tav tm="0">
                                          <p:val>
                                            <p:strVal val="1+#ppt_w/2"/>
                                          </p:val>
                                        </p:tav>
                                        <p:tav tm="100000">
                                          <p:val>
                                            <p:strVal val="#ppt_x"/>
                                          </p:val>
                                        </p:tav>
                                      </p:tavLst>
                                    </p:anim>
                                    <p:anim calcmode="lin" valueType="num">
                                      <p:cBhvr additive="base">
                                        <p:cTn id="67" dur="500" fill="hold"/>
                                        <p:tgtEl>
                                          <p:spTgt spid="67"/>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0"/>
                                  </p:stCondLst>
                                  <p:childTnLst>
                                    <p:set>
                                      <p:cBhvr>
                                        <p:cTn id="69" dur="1" fill="hold">
                                          <p:stCondLst>
                                            <p:cond delay="0"/>
                                          </p:stCondLst>
                                        </p:cTn>
                                        <p:tgtEl>
                                          <p:spTgt spid="68"/>
                                        </p:tgtEl>
                                        <p:attrNameLst>
                                          <p:attrName>style.visibility</p:attrName>
                                        </p:attrNameLst>
                                      </p:cBhvr>
                                      <p:to>
                                        <p:strVal val="visible"/>
                                      </p:to>
                                    </p:set>
                                    <p:anim calcmode="lin" valueType="num">
                                      <p:cBhvr additive="base">
                                        <p:cTn id="70" dur="500" fill="hold"/>
                                        <p:tgtEl>
                                          <p:spTgt spid="68"/>
                                        </p:tgtEl>
                                        <p:attrNameLst>
                                          <p:attrName>ppt_x</p:attrName>
                                        </p:attrNameLst>
                                      </p:cBhvr>
                                      <p:tavLst>
                                        <p:tav tm="0">
                                          <p:val>
                                            <p:strVal val="1+#ppt_w/2"/>
                                          </p:val>
                                        </p:tav>
                                        <p:tav tm="100000">
                                          <p:val>
                                            <p:strVal val="#ppt_x"/>
                                          </p:val>
                                        </p:tav>
                                      </p:tavLst>
                                    </p:anim>
                                    <p:anim calcmode="lin" valueType="num">
                                      <p:cBhvr additive="base">
                                        <p:cTn id="71" dur="500" fill="hold"/>
                                        <p:tgtEl>
                                          <p:spTgt spid="68"/>
                                        </p:tgtEl>
                                        <p:attrNameLst>
                                          <p:attrName>ppt_y</p:attrName>
                                        </p:attrNameLst>
                                      </p:cBhvr>
                                      <p:tavLst>
                                        <p:tav tm="0">
                                          <p:val>
                                            <p:strVal val="#ppt_y"/>
                                          </p:val>
                                        </p:tav>
                                        <p:tav tm="100000">
                                          <p:val>
                                            <p:strVal val="#ppt_y"/>
                                          </p:val>
                                        </p:tav>
                                      </p:tavLst>
                                    </p:anim>
                                  </p:childTnLst>
                                </p:cTn>
                              </p:par>
                            </p:childTnLst>
                          </p:cTn>
                        </p:par>
                        <p:par>
                          <p:cTn id="72" fill="hold">
                            <p:stCondLst>
                              <p:cond delay="2000"/>
                            </p:stCondLst>
                            <p:childTnLst>
                              <p:par>
                                <p:cTn id="73" presetID="2" presetClass="entr" presetSubtype="2" fill="hold" nodeType="afterEffect">
                                  <p:stCondLst>
                                    <p:cond delay="0"/>
                                  </p:stCondLst>
                                  <p:childTnLst>
                                    <p:set>
                                      <p:cBhvr>
                                        <p:cTn id="74" dur="1" fill="hold">
                                          <p:stCondLst>
                                            <p:cond delay="0"/>
                                          </p:stCondLst>
                                        </p:cTn>
                                        <p:tgtEl>
                                          <p:spTgt spid="31"/>
                                        </p:tgtEl>
                                        <p:attrNameLst>
                                          <p:attrName>style.visibility</p:attrName>
                                        </p:attrNameLst>
                                      </p:cBhvr>
                                      <p:to>
                                        <p:strVal val="visible"/>
                                      </p:to>
                                    </p:set>
                                    <p:anim calcmode="lin" valueType="num">
                                      <p:cBhvr additive="base">
                                        <p:cTn id="75" dur="500" fill="hold"/>
                                        <p:tgtEl>
                                          <p:spTgt spid="31"/>
                                        </p:tgtEl>
                                        <p:attrNameLst>
                                          <p:attrName>ppt_x</p:attrName>
                                        </p:attrNameLst>
                                      </p:cBhvr>
                                      <p:tavLst>
                                        <p:tav tm="0">
                                          <p:val>
                                            <p:strVal val="1+#ppt_w/2"/>
                                          </p:val>
                                        </p:tav>
                                        <p:tav tm="100000">
                                          <p:val>
                                            <p:strVal val="#ppt_x"/>
                                          </p:val>
                                        </p:tav>
                                      </p:tavLst>
                                    </p:anim>
                                    <p:anim calcmode="lin" valueType="num">
                                      <p:cBhvr additive="base">
                                        <p:cTn id="76" dur="500" fill="hold"/>
                                        <p:tgtEl>
                                          <p:spTgt spid="31"/>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0"/>
                                  </p:stCondLst>
                                  <p:childTnLst>
                                    <p:set>
                                      <p:cBhvr>
                                        <p:cTn id="78" dur="1" fill="hold">
                                          <p:stCondLst>
                                            <p:cond delay="0"/>
                                          </p:stCondLst>
                                        </p:cTn>
                                        <p:tgtEl>
                                          <p:spTgt spid="9"/>
                                        </p:tgtEl>
                                        <p:attrNameLst>
                                          <p:attrName>style.visibility</p:attrName>
                                        </p:attrNameLst>
                                      </p:cBhvr>
                                      <p:to>
                                        <p:strVal val="visible"/>
                                      </p:to>
                                    </p:set>
                                    <p:anim calcmode="lin" valueType="num">
                                      <p:cBhvr additive="base">
                                        <p:cTn id="79" dur="500" fill="hold"/>
                                        <p:tgtEl>
                                          <p:spTgt spid="9"/>
                                        </p:tgtEl>
                                        <p:attrNameLst>
                                          <p:attrName>ppt_x</p:attrName>
                                        </p:attrNameLst>
                                      </p:cBhvr>
                                      <p:tavLst>
                                        <p:tav tm="0">
                                          <p:val>
                                            <p:strVal val="1+#ppt_w/2"/>
                                          </p:val>
                                        </p:tav>
                                        <p:tav tm="100000">
                                          <p:val>
                                            <p:strVal val="#ppt_x"/>
                                          </p:val>
                                        </p:tav>
                                      </p:tavLst>
                                    </p:anim>
                                    <p:anim calcmode="lin" valueType="num">
                                      <p:cBhvr additive="base">
                                        <p:cTn id="8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8" grpId="0"/>
      <p:bldP spid="50" grpId="0"/>
      <p:bldP spid="51" grpId="0"/>
      <p:bldP spid="52" grpId="0"/>
      <p:bldP spid="61" grpId="0"/>
      <p:bldP spid="62" grpId="0"/>
      <p:bldP spid="63" grpId="0"/>
      <p:bldP spid="64" grpId="0"/>
      <p:bldP spid="65" grpId="0"/>
      <p:bldP spid="66" grpId="0"/>
      <p:bldP spid="67" grpId="0"/>
      <p:bldP spid="6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a:xfrm>
            <a:off x="6099446" y="1747636"/>
            <a:ext cx="5010874" cy="2255357"/>
          </a:xfrm>
          <a:prstGeom prst="rect">
            <a:avLst/>
          </a:prstGeom>
        </p:spPr>
      </p:pic>
      <p:pic>
        <p:nvPicPr>
          <p:cNvPr id="3" name="图片 2"/>
          <p:cNvPicPr>
            <a:picLocks noChangeAspect="1"/>
          </p:cNvPicPr>
          <p:nvPr/>
        </p:nvPicPr>
        <p:blipFill>
          <a:blip r:embed="rId4"/>
          <a:stretch>
            <a:fillRect/>
          </a:stretch>
        </p:blipFill>
        <p:spPr>
          <a:xfrm>
            <a:off x="1088571" y="1748137"/>
            <a:ext cx="5010875" cy="2246026"/>
          </a:xfrm>
          <a:prstGeom prst="rect">
            <a:avLst/>
          </a:prstGeom>
        </p:spPr>
      </p:pic>
      <p:grpSp>
        <p:nvGrpSpPr>
          <p:cNvPr id="37" name="组合 36"/>
          <p:cNvGrpSpPr/>
          <p:nvPr/>
        </p:nvGrpSpPr>
        <p:grpSpPr>
          <a:xfrm>
            <a:off x="5294144" y="3200400"/>
            <a:ext cx="1603714" cy="1603712"/>
            <a:chOff x="5294144" y="3200400"/>
            <a:chExt cx="1603714" cy="1603712"/>
          </a:xfrm>
        </p:grpSpPr>
        <p:sp>
          <p:nvSpPr>
            <p:cNvPr id="28" name="íšļîďé"/>
            <p:cNvSpPr/>
            <p:nvPr/>
          </p:nvSpPr>
          <p:spPr>
            <a:xfrm>
              <a:off x="5294144" y="3200400"/>
              <a:ext cx="1603714" cy="1603712"/>
            </a:xfrm>
            <a:prstGeom prst="ellipse">
              <a:avLst/>
            </a:prstGeom>
            <a:solidFill>
              <a:schemeClr val="accent1"/>
            </a:solidFill>
            <a:ln w="38100" cap="flat" cmpd="sng" algn="ctr">
              <a:solidFill>
                <a:schemeClr val="bg1">
                  <a:lumMod val="9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
          <p:nvSpPr>
            <p:cNvPr id="29" name="íšļîďé"/>
            <p:cNvSpPr/>
            <p:nvPr/>
          </p:nvSpPr>
          <p:spPr>
            <a:xfrm>
              <a:off x="5700545" y="3614509"/>
              <a:ext cx="790912" cy="775491"/>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7" name="组合 16"/>
          <p:cNvGrpSpPr/>
          <p:nvPr/>
        </p:nvGrpSpPr>
        <p:grpSpPr>
          <a:xfrm>
            <a:off x="1276078" y="4183502"/>
            <a:ext cx="3618003" cy="1903194"/>
            <a:chOff x="1541719" y="2349127"/>
            <a:chExt cx="3618003" cy="1903194"/>
          </a:xfrm>
        </p:grpSpPr>
        <p:sp>
          <p:nvSpPr>
            <p:cNvPr id="18" name="文本框 17"/>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整体背景</a:t>
              </a:r>
            </a:p>
          </p:txBody>
        </p:sp>
        <p:sp>
          <p:nvSpPr>
            <p:cNvPr id="19" name="文本框 18"/>
            <p:cNvSpPr txBox="1"/>
            <p:nvPr/>
          </p:nvSpPr>
          <p:spPr>
            <a:xfrm>
              <a:off x="1541719" y="2687681"/>
              <a:ext cx="3618003" cy="1564640"/>
            </a:xfrm>
            <a:prstGeom prst="rect">
              <a:avLst/>
            </a:prstGeom>
            <a:noFill/>
          </p:spPr>
          <p:txBody>
            <a:bodyPr wrap="square" rtlCol="0">
              <a:spAutoFit/>
            </a:bodyPr>
            <a:lstStyle/>
            <a:p>
              <a:pPr>
                <a:lnSpc>
                  <a:spcPct val="114000"/>
                </a:lnSpc>
              </a:pPr>
              <a:r>
                <a:rPr lang="zh-CN" altLang="zh-CN" sz="1400" dirty="0"/>
                <a:t>近年来，我国高校毕业生规模持续扩大，</a:t>
              </a:r>
              <a:r>
                <a:rPr lang="en-US" altLang="zh-CN" sz="1400" dirty="0"/>
                <a:t>2024</a:t>
              </a:r>
              <a:r>
                <a:rPr lang="zh-CN" altLang="zh-CN" sz="1400" dirty="0"/>
                <a:t>届全国高校毕业生人数突破</a:t>
              </a:r>
              <a:r>
                <a:rPr lang="en-US" altLang="zh-CN" sz="1400" dirty="0"/>
                <a:t>1200</a:t>
              </a:r>
              <a:r>
                <a:rPr lang="zh-CN" altLang="zh-CN" sz="1400" dirty="0"/>
                <a:t>万，同比增长约</a:t>
              </a:r>
              <a:r>
                <a:rPr lang="en-US" altLang="zh-CN" sz="1400" dirty="0"/>
                <a:t>21</a:t>
              </a:r>
              <a:r>
                <a:rPr lang="zh-CN" altLang="zh-CN" sz="1400" dirty="0"/>
                <a:t>万人，创历史新高。</a:t>
              </a:r>
              <a:r>
                <a:rPr lang="zh-CN" altLang="en-US" sz="1400" dirty="0"/>
                <a:t>然而，</a:t>
              </a:r>
              <a:r>
                <a:rPr lang="zh-CN" altLang="zh-CN" sz="1400" dirty="0"/>
                <a:t>大量毕业生在求职过程中面临</a:t>
              </a:r>
              <a:r>
                <a:rPr lang="zh-CN" altLang="en-US" sz="1400" dirty="0"/>
                <a:t>信息不对称，自我认知不明确等痛点，导致“</a:t>
              </a:r>
              <a:r>
                <a:rPr lang="zh-CN" altLang="en-US" sz="1400" b="1" dirty="0">
                  <a:ln/>
                  <a:solidFill>
                    <a:schemeClr val="accent1"/>
                  </a:solidFill>
                  <a:effectLst>
                    <a:outerShdw blurRad="38100" dist="25400" dir="5400000" algn="ctr" rotWithShape="0">
                      <a:srgbClr val="6E747A">
                        <a:alpha val="43000"/>
                      </a:srgbClr>
                    </a:outerShdw>
                  </a:effectLst>
                </a:rPr>
                <a:t>大学生就业难</a:t>
              </a:r>
              <a:r>
                <a:rPr lang="zh-CN" altLang="en-US" sz="1400" dirty="0"/>
                <a:t>”逐渐成为亟待解决的社会问题。</a:t>
              </a:r>
              <a:endParaRPr lang="zh-CN" altLang="en-US" sz="1400" dirty="0">
                <a:solidFill>
                  <a:schemeClr val="tx1">
                    <a:lumMod val="65000"/>
                    <a:lumOff val="35000"/>
                  </a:schemeClr>
                </a:solidFill>
                <a:latin typeface="Century Gothic" panose="020B0502020202020204" pitchFamily="34" charset="0"/>
                <a:ea typeface="+mj-ea"/>
              </a:endParaRPr>
            </a:p>
          </p:txBody>
        </p:sp>
      </p:grpSp>
      <p:grpSp>
        <p:nvGrpSpPr>
          <p:cNvPr id="20" name="组合 19"/>
          <p:cNvGrpSpPr/>
          <p:nvPr/>
        </p:nvGrpSpPr>
        <p:grpSpPr>
          <a:xfrm>
            <a:off x="7162801" y="4183502"/>
            <a:ext cx="3353059" cy="1657449"/>
            <a:chOff x="1541719" y="2349127"/>
            <a:chExt cx="3353059" cy="1657449"/>
          </a:xfrm>
        </p:grpSpPr>
        <p:sp>
          <p:nvSpPr>
            <p:cNvPr id="21" name="文本框 20"/>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en-US" altLang="zh-CN" b="1" dirty="0">
                  <a:solidFill>
                    <a:schemeClr val="tx1">
                      <a:lumMod val="75000"/>
                      <a:lumOff val="25000"/>
                    </a:schemeClr>
                  </a:solidFill>
                  <a:latin typeface="Century Gothic" panose="020B0502020202020204" pitchFamily="34" charset="0"/>
                </a:rPr>
                <a:t>AI</a:t>
              </a:r>
              <a:r>
                <a:rPr lang="zh-CN" altLang="en-US" b="1" dirty="0">
                  <a:solidFill>
                    <a:schemeClr val="tx1">
                      <a:lumMod val="75000"/>
                      <a:lumOff val="25000"/>
                    </a:schemeClr>
                  </a:solidFill>
                  <a:latin typeface="Century Gothic" panose="020B0502020202020204" pitchFamily="34" charset="0"/>
                </a:rPr>
                <a:t>赋能</a:t>
              </a:r>
            </a:p>
          </p:txBody>
        </p:sp>
        <p:sp>
          <p:nvSpPr>
            <p:cNvPr id="22" name="文本框 21"/>
            <p:cNvSpPr txBox="1"/>
            <p:nvPr/>
          </p:nvSpPr>
          <p:spPr>
            <a:xfrm>
              <a:off x="1541719" y="2687681"/>
              <a:ext cx="3353059" cy="1318895"/>
            </a:xfrm>
            <a:prstGeom prst="rect">
              <a:avLst/>
            </a:prstGeom>
            <a:noFill/>
          </p:spPr>
          <p:txBody>
            <a:bodyPr wrap="square" rtlCol="0">
              <a:spAutoFit/>
            </a:bodyPr>
            <a:lstStyle/>
            <a:p>
              <a:pPr>
                <a:lnSpc>
                  <a:spcPct val="114000"/>
                </a:lnSpc>
              </a:pPr>
              <a:r>
                <a:rPr lang="zh-CN" altLang="zh-CN" sz="1400" dirty="0"/>
                <a:t>与此同时，</a:t>
              </a:r>
              <a:r>
                <a:rPr lang="en-US" altLang="zh-CN" sz="1400" dirty="0"/>
                <a:t>DeepSeek-V3</a:t>
              </a:r>
              <a:r>
                <a:rPr lang="zh-CN" altLang="zh-CN" sz="1400" dirty="0"/>
                <a:t>等国产大模型在中文理解、逻辑推理和结构化输出方面的能力已达到实用化水平，且</a:t>
              </a:r>
              <a:r>
                <a:rPr lang="en-US" altLang="zh-CN" sz="1400" dirty="0"/>
                <a:t>API</a:t>
              </a:r>
              <a:r>
                <a:rPr lang="zh-CN" altLang="zh-CN" sz="1400" dirty="0"/>
                <a:t>调用成本大幅下降，使</a:t>
              </a:r>
              <a:r>
                <a:rPr lang="en-US" altLang="zh-CN" sz="1400" b="1" dirty="0">
                  <a:ln/>
                  <a:solidFill>
                    <a:schemeClr val="accent1"/>
                  </a:solidFill>
                  <a:effectLst>
                    <a:outerShdw blurRad="38100" dist="25400" dir="5400000" algn="ctr" rotWithShape="0">
                      <a:srgbClr val="6E747A">
                        <a:alpha val="43000"/>
                      </a:srgbClr>
                    </a:outerShdw>
                  </a:effectLst>
                </a:rPr>
                <a:t>AI</a:t>
              </a:r>
              <a:r>
                <a:rPr lang="zh-CN" altLang="zh-CN" sz="1400" b="1" dirty="0">
                  <a:ln/>
                  <a:solidFill>
                    <a:schemeClr val="accent1"/>
                  </a:solidFill>
                  <a:effectLst>
                    <a:outerShdw blurRad="38100" dist="25400" dir="5400000" algn="ctr" rotWithShape="0">
                      <a:srgbClr val="6E747A">
                        <a:alpha val="43000"/>
                      </a:srgbClr>
                    </a:outerShdw>
                  </a:effectLst>
                </a:rPr>
                <a:t>驱动的个性化职业规划服务</a:t>
              </a:r>
              <a:r>
                <a:rPr lang="zh-CN" altLang="zh-CN" sz="1400" dirty="0"/>
                <a:t>具备了规模化落地的可行性。</a:t>
              </a:r>
            </a:p>
          </p:txBody>
        </p:sp>
      </p:grpSp>
      <p:grpSp>
        <p:nvGrpSpPr>
          <p:cNvPr id="16" name="组合 15"/>
          <p:cNvGrpSpPr/>
          <p:nvPr/>
        </p:nvGrpSpPr>
        <p:grpSpPr>
          <a:xfrm>
            <a:off x="1473289" y="371367"/>
            <a:ext cx="4260761" cy="787074"/>
            <a:chOff x="7318011" y="1456480"/>
            <a:chExt cx="4260761" cy="787074"/>
          </a:xfrm>
        </p:grpSpPr>
        <p:sp>
          <p:nvSpPr>
            <p:cNvPr id="23" name="文本框 22"/>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项目背景</a:t>
              </a:r>
            </a:p>
          </p:txBody>
        </p:sp>
        <p:sp>
          <p:nvSpPr>
            <p:cNvPr id="24" name="文本框 23"/>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PROJECT BACKGROUND</a:t>
              </a:r>
            </a:p>
          </p:txBody>
        </p:sp>
      </p:grpSp>
      <p:sp>
        <p:nvSpPr>
          <p:cNvPr id="30" name="矩形 29"/>
          <p:cNvSpPr/>
          <p:nvPr/>
        </p:nvSpPr>
        <p:spPr>
          <a:xfrm>
            <a:off x="2661196" y="6282474"/>
            <a:ext cx="1276467" cy="37117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个性化匹配</a:t>
            </a:r>
          </a:p>
        </p:txBody>
      </p:sp>
      <p:sp>
        <p:nvSpPr>
          <p:cNvPr id="31" name="矩形 30"/>
          <p:cNvSpPr/>
          <p:nvPr/>
        </p:nvSpPr>
        <p:spPr>
          <a:xfrm>
            <a:off x="5294144" y="6282474"/>
            <a:ext cx="1276467" cy="37117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数据海量 </a:t>
            </a:r>
          </a:p>
        </p:txBody>
      </p:sp>
      <p:sp>
        <p:nvSpPr>
          <p:cNvPr id="32" name="矩形 31"/>
          <p:cNvSpPr/>
          <p:nvPr/>
        </p:nvSpPr>
        <p:spPr>
          <a:xfrm>
            <a:off x="7837461" y="6282474"/>
            <a:ext cx="1276467" cy="371171"/>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分析范围广</a:t>
            </a:r>
          </a:p>
        </p:txBody>
      </p:sp>
      <p:sp>
        <p:nvSpPr>
          <p:cNvPr id="2" name="文本框 1"/>
          <p:cNvSpPr txBox="1"/>
          <p:nvPr/>
        </p:nvSpPr>
        <p:spPr>
          <a:xfrm>
            <a:off x="4797425" y="5726430"/>
            <a:ext cx="2545080" cy="368300"/>
          </a:xfrm>
          <a:prstGeom prst="rect">
            <a:avLst/>
          </a:prstGeom>
          <a:noFill/>
        </p:spPr>
        <p:txBody>
          <a:bodyPr wrap="square" rtlCol="0">
            <a:spAutoFit/>
          </a:bodyPr>
          <a:lstStyle/>
          <a:p>
            <a:r>
              <a:rPr kumimoji="1" lang="en-US" altLang="zh-CN" b="1" dirty="0">
                <a:solidFill>
                  <a:schemeClr val="tx1">
                    <a:lumMod val="75000"/>
                    <a:lumOff val="25000"/>
                  </a:schemeClr>
                </a:solidFill>
              </a:rPr>
              <a:t>AI</a:t>
            </a:r>
            <a:r>
              <a:rPr kumimoji="1" lang="zh-CN" altLang="en-US" b="1" dirty="0">
                <a:solidFill>
                  <a:schemeClr val="tx1">
                    <a:lumMod val="75000"/>
                    <a:lumOff val="25000"/>
                  </a:schemeClr>
                </a:solidFill>
              </a:rPr>
              <a:t>赋能就业三大特点</a:t>
            </a:r>
          </a:p>
        </p:txBody>
      </p:sp>
      <p:grpSp>
        <p:nvGrpSpPr>
          <p:cNvPr id="5" name="组合 4"/>
          <p:cNvGrpSpPr/>
          <p:nvPr/>
        </p:nvGrpSpPr>
        <p:grpSpPr>
          <a:xfrm>
            <a:off x="419100" y="259080"/>
            <a:ext cx="942340" cy="922655"/>
            <a:chOff x="660" y="408"/>
            <a:chExt cx="1484" cy="1453"/>
          </a:xfrm>
        </p:grpSpPr>
        <p:sp>
          <p:nvSpPr>
            <p:cNvPr id="7"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8"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90" y="578"/>
              <a:ext cx="1455" cy="1115"/>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01</a:t>
              </a:r>
              <a:endParaRPr lang="zh-CN" altLang="en-US" sz="4000" dirty="0">
                <a:solidFill>
                  <a:schemeClr val="accent1"/>
                </a:solidFill>
                <a:latin typeface="Century Gothic" panose="020B0502020202020204" pitchFamily="34" charset="0"/>
              </a:endParaRPr>
            </a:p>
          </p:txBody>
        </p:sp>
      </p:grpSp>
      <p:pic>
        <p:nvPicPr>
          <p:cNvPr id="4" name="图片 3"/>
          <p:cNvPicPr>
            <a:picLocks noChangeAspect="1"/>
          </p:cNvPicPr>
          <p:nvPr/>
        </p:nvPicPr>
        <p:blipFill>
          <a:blip r:embed="rId5"/>
          <a:stretch>
            <a:fillRect/>
          </a:stretch>
        </p:blipFill>
        <p:spPr>
          <a:xfrm>
            <a:off x="4486275" y="422910"/>
            <a:ext cx="7705725" cy="297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1+#ppt_w/2"/>
                                          </p:val>
                                        </p:tav>
                                        <p:tav tm="100000">
                                          <p:val>
                                            <p:strVal val="#ppt_x"/>
                                          </p:val>
                                        </p:tav>
                                      </p:tavLst>
                                    </p:anim>
                                    <p:anim calcmode="lin" valueType="num">
                                      <p:cBhvr additive="base">
                                        <p:cTn id="1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outVertical)">
                                      <p:cBhvr>
                                        <p:cTn id="23" dur="500"/>
                                        <p:tgtEl>
                                          <p:spTgt spid="2"/>
                                        </p:tgtEl>
                                      </p:cBhvr>
                                    </p:animEffect>
                                  </p:childTnLst>
                                </p:cTn>
                              </p:par>
                            </p:childTnLst>
                          </p:cTn>
                        </p:par>
                        <p:par>
                          <p:cTn id="24" fill="hold">
                            <p:stCondLst>
                              <p:cond delay="500"/>
                            </p:stCondLst>
                            <p:childTnLst>
                              <p:par>
                                <p:cTn id="25" presetID="16" presetClass="entr" presetSubtype="37"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barn(outVertical)">
                                      <p:cBhvr>
                                        <p:cTn id="27" dur="500"/>
                                        <p:tgtEl>
                                          <p:spTgt spid="30"/>
                                        </p:tgtEl>
                                      </p:cBhvr>
                                    </p:animEffect>
                                  </p:childTnLst>
                                </p:cTn>
                              </p:par>
                              <p:par>
                                <p:cTn id="28" presetID="16" presetClass="entr" presetSubtype="37"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barn(outVertical)">
                                      <p:cBhvr>
                                        <p:cTn id="30" dur="500"/>
                                        <p:tgtEl>
                                          <p:spTgt spid="31"/>
                                        </p:tgtEl>
                                      </p:cBhvr>
                                    </p:animEffect>
                                  </p:childTnLst>
                                </p:cTn>
                              </p:par>
                              <p:par>
                                <p:cTn id="31" presetID="16" presetClass="entr" presetSubtype="37"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barn(outVertical)">
                                      <p:cBhvr>
                                        <p:cTn id="3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9100" y="259080"/>
            <a:ext cx="942340" cy="922655"/>
            <a:chOff x="660" y="408"/>
            <a:chExt cx="1484" cy="1453"/>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90" y="578"/>
              <a:ext cx="1455" cy="1115"/>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01</a:t>
              </a:r>
              <a:endParaRPr lang="zh-CN" altLang="en-US" sz="4000" dirty="0">
                <a:solidFill>
                  <a:schemeClr val="accent1"/>
                </a:solidFill>
                <a:latin typeface="Century Gothic" panose="020B0502020202020204" pitchFamily="34" charset="0"/>
              </a:endParaRPr>
            </a:p>
          </p:txBody>
        </p:sp>
      </p:grpSp>
      <p:grpSp>
        <p:nvGrpSpPr>
          <p:cNvPr id="26" name="组合 25"/>
          <p:cNvGrpSpPr/>
          <p:nvPr/>
        </p:nvGrpSpPr>
        <p:grpSpPr>
          <a:xfrm>
            <a:off x="1473289" y="371367"/>
            <a:ext cx="4260761" cy="787074"/>
            <a:chOff x="7318011" y="1456480"/>
            <a:chExt cx="4260761" cy="787074"/>
          </a:xfrm>
        </p:grpSpPr>
        <p:sp>
          <p:nvSpPr>
            <p:cNvPr id="27" name="文本框 26"/>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市场分析</a:t>
              </a:r>
            </a:p>
          </p:txBody>
        </p:sp>
        <p:sp>
          <p:nvSpPr>
            <p:cNvPr id="28" name="文本框 27"/>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MARKET ANALYSIS</a:t>
              </a:r>
            </a:p>
          </p:txBody>
        </p:sp>
      </p:grpSp>
      <p:grpSp>
        <p:nvGrpSpPr>
          <p:cNvPr id="18" name="组 17"/>
          <p:cNvGrpSpPr/>
          <p:nvPr/>
        </p:nvGrpSpPr>
        <p:grpSpPr>
          <a:xfrm>
            <a:off x="515936" y="1781378"/>
            <a:ext cx="3203576" cy="3698884"/>
            <a:chOff x="515936" y="1781378"/>
            <a:chExt cx="3203576" cy="3698884"/>
          </a:xfrm>
        </p:grpSpPr>
        <p:grpSp>
          <p:nvGrpSpPr>
            <p:cNvPr id="20" name="组合 19"/>
            <p:cNvGrpSpPr/>
            <p:nvPr/>
          </p:nvGrpSpPr>
          <p:grpSpPr>
            <a:xfrm>
              <a:off x="515937" y="1781378"/>
              <a:ext cx="3203575" cy="1218347"/>
              <a:chOff x="515937" y="1781378"/>
              <a:chExt cx="3203575" cy="1218347"/>
            </a:xfrm>
          </p:grpSpPr>
          <p:grpSp>
            <p:nvGrpSpPr>
              <p:cNvPr id="5" name="组合 4"/>
              <p:cNvGrpSpPr/>
              <p:nvPr/>
            </p:nvGrpSpPr>
            <p:grpSpPr>
              <a:xfrm>
                <a:off x="515937" y="1781378"/>
                <a:ext cx="2771777" cy="1218347"/>
                <a:chOff x="6907886" y="1775395"/>
                <a:chExt cx="2483762" cy="1218347"/>
              </a:xfrm>
            </p:grpSpPr>
            <p:sp>
              <p:nvSpPr>
                <p:cNvPr id="6" name="矩形 5"/>
                <p:cNvSpPr/>
                <p:nvPr/>
              </p:nvSpPr>
              <p:spPr>
                <a:xfrm>
                  <a:off x="6907886" y="1775395"/>
                  <a:ext cx="1773341"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75000"/>
                          <a:lumOff val="25000"/>
                        </a:schemeClr>
                      </a:solidFill>
                    </a:rPr>
                    <a:t>国家政策</a:t>
                  </a:r>
                </a:p>
              </p:txBody>
            </p:sp>
            <p:sp>
              <p:nvSpPr>
                <p:cNvPr id="7" name="文本框 6"/>
                <p:cNvSpPr txBox="1"/>
                <p:nvPr/>
              </p:nvSpPr>
              <p:spPr>
                <a:xfrm>
                  <a:off x="6907887" y="2165702"/>
                  <a:ext cx="2483761" cy="828040"/>
                </a:xfrm>
                <a:prstGeom prst="rect">
                  <a:avLst/>
                </a:prstGeom>
                <a:noFill/>
              </p:spPr>
              <p:txBody>
                <a:bodyPr wrap="square" rtlCol="0">
                  <a:spAutoFit/>
                </a:bodyPr>
                <a:lstStyle/>
                <a:p>
                  <a:pPr>
                    <a:lnSpc>
                      <a:spcPct val="114000"/>
                    </a:lnSpc>
                  </a:pPr>
                  <a:r>
                    <a:rPr lang="zh-CN" altLang="en-US" sz="1400" dirty="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楷体" panose="02010609060101010101" charset="-122"/>
                      <a:sym typeface="+mn-ea"/>
                    </a:rPr>
                    <a:t>促进大学生高质量就业，是教育强国的必然要求，是人才为本的重要手段与锚点。</a:t>
                  </a:r>
                </a:p>
              </p:txBody>
            </p:sp>
          </p:grpSp>
          <p:sp>
            <p:nvSpPr>
              <p:cNvPr id="14" name="矩形 13"/>
              <p:cNvSpPr/>
              <p:nvPr/>
            </p:nvSpPr>
            <p:spPr>
              <a:xfrm>
                <a:off x="3287712" y="1915363"/>
                <a:ext cx="431800" cy="422275"/>
              </a:xfrm>
              <a:prstGeom prst="rect">
                <a:avLst/>
              </a:prstGeom>
              <a:ln>
                <a:solidFill>
                  <a:schemeClr val="bg1">
                    <a:lumMod val="85000"/>
                  </a:schemeClr>
                </a:solidFill>
              </a:ln>
            </p:spPr>
            <p:txBody>
              <a:bodyPr wrap="square">
                <a:noAutofit/>
                <a:scene3d>
                  <a:camera prst="orthographicFront"/>
                  <a:lightRig rig="threePt" dir="t"/>
                </a:scene3d>
                <a:sp3d contourW="12700"/>
              </a:bodyPr>
              <a:lstStyle/>
              <a:p>
                <a:pPr algn="ctr">
                  <a:lnSpc>
                    <a:spcPct val="120000"/>
                  </a:lnSpc>
                </a:pPr>
                <a:r>
                  <a:rPr lang="en-US" altLang="zh-CN" sz="1600" b="1" dirty="0">
                    <a:solidFill>
                      <a:schemeClr val="accent1"/>
                    </a:solidFill>
                  </a:rPr>
                  <a:t>01</a:t>
                </a:r>
                <a:endParaRPr lang="zh-CN" altLang="en-US" sz="1600" b="1" dirty="0">
                  <a:solidFill>
                    <a:schemeClr val="accent1"/>
                  </a:solidFill>
                </a:endParaRPr>
              </a:p>
            </p:txBody>
          </p:sp>
        </p:grpSp>
        <p:pic>
          <p:nvPicPr>
            <p:cNvPr id="17" name="图片 16"/>
            <p:cNvPicPr>
              <a:picLocks noChangeAspect="1"/>
            </p:cNvPicPr>
            <p:nvPr/>
          </p:nvPicPr>
          <p:blipFill rotWithShape="1">
            <a:blip r:embed="rId3">
              <a:extLst>
                <a:ext uri="{28A0092B-C50C-407E-A947-70E740481C1C}">
                  <a14:useLocalDpi xmlns:a14="http://schemas.microsoft.com/office/drawing/2010/main" val="0"/>
                </a:ext>
              </a:extLst>
            </a:blip>
            <a:srcRect l="2429" t="-300" r="2429" b="300"/>
            <a:stretch>
              <a:fillRect/>
            </a:stretch>
          </p:blipFill>
          <p:spPr>
            <a:xfrm>
              <a:off x="515936" y="3117786"/>
              <a:ext cx="3157233" cy="2362476"/>
            </a:xfrm>
            <a:prstGeom prst="rect">
              <a:avLst/>
            </a:prstGeom>
          </p:spPr>
        </p:pic>
      </p:grpSp>
      <p:grpSp>
        <p:nvGrpSpPr>
          <p:cNvPr id="29" name="组 28"/>
          <p:cNvGrpSpPr/>
          <p:nvPr/>
        </p:nvGrpSpPr>
        <p:grpSpPr>
          <a:xfrm>
            <a:off x="4390995" y="1781378"/>
            <a:ext cx="3672085" cy="4034881"/>
            <a:chOff x="4136508" y="2560711"/>
            <a:chExt cx="3672085" cy="4034881"/>
          </a:xfrm>
        </p:grpSpPr>
        <p:grpSp>
          <p:nvGrpSpPr>
            <p:cNvPr id="21" name="组合 20"/>
            <p:cNvGrpSpPr/>
            <p:nvPr/>
          </p:nvGrpSpPr>
          <p:grpSpPr>
            <a:xfrm>
              <a:off x="4390232" y="5172326"/>
              <a:ext cx="3203776" cy="1423266"/>
              <a:chOff x="4286049" y="5172326"/>
              <a:chExt cx="3203776" cy="1423266"/>
            </a:xfrm>
          </p:grpSpPr>
          <p:grpSp>
            <p:nvGrpSpPr>
              <p:cNvPr id="11" name="组合 10"/>
              <p:cNvGrpSpPr/>
              <p:nvPr/>
            </p:nvGrpSpPr>
            <p:grpSpPr>
              <a:xfrm>
                <a:off x="4718049" y="5385338"/>
                <a:ext cx="2771776" cy="1210254"/>
                <a:chOff x="6907887" y="2241522"/>
                <a:chExt cx="2483761" cy="1210254"/>
              </a:xfrm>
            </p:grpSpPr>
            <p:sp>
              <p:nvSpPr>
                <p:cNvPr id="12" name="矩形 11"/>
                <p:cNvSpPr/>
                <p:nvPr/>
              </p:nvSpPr>
              <p:spPr>
                <a:xfrm>
                  <a:off x="6907887" y="2241522"/>
                  <a:ext cx="1773341"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75000"/>
                          <a:lumOff val="25000"/>
                        </a:schemeClr>
                      </a:solidFill>
                    </a:rPr>
                    <a:t>应届毕业生情况</a:t>
                  </a:r>
                </a:p>
              </p:txBody>
            </p:sp>
            <p:sp>
              <p:nvSpPr>
                <p:cNvPr id="13" name="文本框 12"/>
                <p:cNvSpPr txBox="1"/>
                <p:nvPr/>
              </p:nvSpPr>
              <p:spPr>
                <a:xfrm>
                  <a:off x="6907887" y="2623736"/>
                  <a:ext cx="2483761" cy="828040"/>
                </a:xfrm>
                <a:prstGeom prst="rect">
                  <a:avLst/>
                </a:prstGeom>
                <a:noFill/>
              </p:spPr>
              <p:txBody>
                <a:bodyPr wrap="square" rtlCol="0">
                  <a:spAutoFit/>
                </a:bodyPr>
                <a:lstStyle/>
                <a:p>
                  <a:pPr>
                    <a:lnSpc>
                      <a:spcPct val="114000"/>
                    </a:lnSpc>
                  </a:pPr>
                  <a:r>
                    <a:rPr lang="zh-CN" altLang="en-US" sz="1400" dirty="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根据智联招聘的数据来看，高校毕业生近年的就业比重下降，而应届大学生的人数却水涨船高。</a:t>
                  </a:r>
                </a:p>
              </p:txBody>
            </p:sp>
          </p:grpSp>
          <p:sp>
            <p:nvSpPr>
              <p:cNvPr id="16" name="矩形 15"/>
              <p:cNvSpPr/>
              <p:nvPr/>
            </p:nvSpPr>
            <p:spPr>
              <a:xfrm>
                <a:off x="4286049" y="5172326"/>
                <a:ext cx="431800" cy="449580"/>
              </a:xfrm>
              <a:prstGeom prst="rect">
                <a:avLst/>
              </a:prstGeom>
              <a:ln>
                <a:solidFill>
                  <a:schemeClr val="bg1">
                    <a:lumMod val="85000"/>
                  </a:schemeClr>
                </a:solidFill>
              </a:ln>
            </p:spPr>
            <p:txBody>
              <a:bodyPr wrap="square">
                <a:noAutofit/>
                <a:scene3d>
                  <a:camera prst="orthographicFront"/>
                  <a:lightRig rig="threePt" dir="t"/>
                </a:scene3d>
                <a:sp3d contourW="12700"/>
              </a:bodyPr>
              <a:lstStyle/>
              <a:p>
                <a:pPr algn="ctr">
                  <a:lnSpc>
                    <a:spcPct val="120000"/>
                  </a:lnSpc>
                </a:pPr>
                <a:r>
                  <a:rPr lang="en-US" altLang="zh-CN" sz="1600" b="1" dirty="0">
                    <a:solidFill>
                      <a:schemeClr val="accent1"/>
                    </a:solidFill>
                  </a:rPr>
                  <a:t>02</a:t>
                </a:r>
                <a:endParaRPr lang="zh-CN" altLang="en-US" sz="1600" b="1" dirty="0">
                  <a:solidFill>
                    <a:schemeClr val="accent1"/>
                  </a:solidFill>
                </a:endParaRPr>
              </a:p>
            </p:txBody>
          </p:sp>
        </p:grpSp>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6508" y="2560711"/>
              <a:ext cx="3672085" cy="1962270"/>
            </a:xfrm>
            <a:prstGeom prst="rect">
              <a:avLst/>
            </a:prstGeom>
          </p:spPr>
        </p:pic>
      </p:grpSp>
      <p:grpSp>
        <p:nvGrpSpPr>
          <p:cNvPr id="22" name="组合 21"/>
          <p:cNvGrpSpPr/>
          <p:nvPr/>
        </p:nvGrpSpPr>
        <p:grpSpPr>
          <a:xfrm>
            <a:off x="8734425" y="1482090"/>
            <a:ext cx="3203575" cy="1517650"/>
            <a:chOff x="8472285" y="1481825"/>
            <a:chExt cx="3203776" cy="1517900"/>
          </a:xfrm>
        </p:grpSpPr>
        <p:grpSp>
          <p:nvGrpSpPr>
            <p:cNvPr id="8" name="组合 7"/>
            <p:cNvGrpSpPr/>
            <p:nvPr/>
          </p:nvGrpSpPr>
          <p:grpSpPr>
            <a:xfrm>
              <a:off x="8904285" y="1775551"/>
              <a:ext cx="2771776" cy="1224174"/>
              <a:chOff x="6907885" y="1769568"/>
              <a:chExt cx="2483761" cy="1224174"/>
            </a:xfrm>
          </p:grpSpPr>
          <p:sp>
            <p:nvSpPr>
              <p:cNvPr id="9" name="矩形 8"/>
              <p:cNvSpPr/>
              <p:nvPr/>
            </p:nvSpPr>
            <p:spPr>
              <a:xfrm>
                <a:off x="6907885" y="1769568"/>
                <a:ext cx="2483761" cy="396134"/>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chemeClr val="tx1">
                        <a:lumMod val="75000"/>
                        <a:lumOff val="25000"/>
                      </a:schemeClr>
                    </a:solidFill>
                  </a:rPr>
                  <a:t>AI</a:t>
                </a:r>
                <a:r>
                  <a:rPr lang="zh-CN" altLang="en-US" b="1" dirty="0">
                    <a:solidFill>
                      <a:schemeClr val="tx1">
                        <a:lumMod val="75000"/>
                        <a:lumOff val="25000"/>
                      </a:schemeClr>
                    </a:solidFill>
                  </a:rPr>
                  <a:t>与大数据等技术发展</a:t>
                </a:r>
              </a:p>
            </p:txBody>
          </p:sp>
          <p:sp>
            <p:nvSpPr>
              <p:cNvPr id="10" name="文本框 9"/>
              <p:cNvSpPr txBox="1"/>
              <p:nvPr/>
            </p:nvSpPr>
            <p:spPr>
              <a:xfrm>
                <a:off x="6907885" y="2165702"/>
                <a:ext cx="2483761" cy="828040"/>
              </a:xfrm>
              <a:prstGeom prst="rect">
                <a:avLst/>
              </a:prstGeom>
              <a:noFill/>
            </p:spPr>
            <p:txBody>
              <a:bodyPr wrap="square" rtlCol="0">
                <a:spAutoFit/>
              </a:bodyPr>
              <a:lstStyle/>
              <a:p>
                <a:pPr>
                  <a:lnSpc>
                    <a:spcPct val="114000"/>
                  </a:lnSpc>
                </a:pPr>
                <a:r>
                  <a:rPr lang="zh-CN" altLang="en-US" sz="1400" dirty="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通过大数据与</a:t>
                </a:r>
                <a:r>
                  <a:rPr lang="en-US" altLang="zh-CN" sz="1400" dirty="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AI</a:t>
                </a:r>
                <a:r>
                  <a:rPr lang="zh-CN" altLang="en-US" sz="1400" dirty="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来搭建就业智能体，能够帮助大学生便捷地找到就业锚点，摆脱迷茫。</a:t>
                </a:r>
              </a:p>
            </p:txBody>
          </p:sp>
        </p:grpSp>
        <p:sp>
          <p:nvSpPr>
            <p:cNvPr id="15" name="矩形 14"/>
            <p:cNvSpPr/>
            <p:nvPr/>
          </p:nvSpPr>
          <p:spPr>
            <a:xfrm>
              <a:off x="8472285" y="1481825"/>
              <a:ext cx="431800" cy="433070"/>
            </a:xfrm>
            <a:prstGeom prst="rect">
              <a:avLst/>
            </a:prstGeom>
            <a:ln>
              <a:solidFill>
                <a:schemeClr val="bg1">
                  <a:lumMod val="85000"/>
                </a:schemeClr>
              </a:solidFill>
            </a:ln>
          </p:spPr>
          <p:txBody>
            <a:bodyPr wrap="square">
              <a:noAutofit/>
              <a:scene3d>
                <a:camera prst="orthographicFront"/>
                <a:lightRig rig="threePt" dir="t"/>
              </a:scene3d>
              <a:sp3d contourW="12700"/>
            </a:bodyPr>
            <a:lstStyle/>
            <a:p>
              <a:pPr algn="ctr">
                <a:lnSpc>
                  <a:spcPct val="120000"/>
                </a:lnSpc>
              </a:pPr>
              <a:r>
                <a:rPr lang="en-US" altLang="zh-CN" sz="1600" b="1" dirty="0">
                  <a:solidFill>
                    <a:schemeClr val="accent1"/>
                  </a:solidFill>
                </a:rPr>
                <a:t>03</a:t>
              </a:r>
              <a:endParaRPr lang="zh-CN" altLang="en-US" sz="1600" b="1" dirty="0">
                <a:solidFill>
                  <a:schemeClr val="accent1"/>
                </a:solidFill>
              </a:endParaRPr>
            </a:p>
          </p:txBody>
        </p:sp>
      </p:grpSp>
      <p:pic>
        <p:nvPicPr>
          <p:cNvPr id="2" name="图片 1"/>
          <p:cNvPicPr>
            <a:picLocks noChangeAspect="1"/>
          </p:cNvPicPr>
          <p:nvPr/>
        </p:nvPicPr>
        <p:blipFill>
          <a:blip r:embed="rId5"/>
          <a:stretch>
            <a:fillRect/>
          </a:stretch>
        </p:blipFill>
        <p:spPr>
          <a:xfrm>
            <a:off x="515936" y="3009859"/>
            <a:ext cx="3181828" cy="2491364"/>
          </a:xfrm>
          <a:prstGeom prst="rect">
            <a:avLst/>
          </a:prstGeom>
        </p:spPr>
      </p:pic>
      <p:cxnSp>
        <p:nvCxnSpPr>
          <p:cNvPr id="4" name="曲线连接符 3"/>
          <p:cNvCxnSpPr>
            <a:stCxn id="14" idx="2"/>
            <a:endCxn id="16" idx="1"/>
          </p:cNvCxnSpPr>
          <p:nvPr/>
        </p:nvCxnSpPr>
        <p:spPr>
          <a:xfrm rot="5400000" flipV="1">
            <a:off x="2934018" y="2906713"/>
            <a:ext cx="2280285" cy="1141730"/>
          </a:xfrm>
          <a:prstGeom prst="curved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32" name="曲线连接符 31"/>
          <p:cNvCxnSpPr>
            <a:stCxn id="16" idx="3"/>
            <a:endCxn id="15" idx="2"/>
          </p:cNvCxnSpPr>
          <p:nvPr/>
        </p:nvCxnSpPr>
        <p:spPr>
          <a:xfrm flipV="1">
            <a:off x="5076825" y="1915160"/>
            <a:ext cx="3873500" cy="2702560"/>
          </a:xfrm>
          <a:prstGeom prst="curvedConnector2">
            <a:avLst/>
          </a:prstGeom>
          <a:ln>
            <a:tailEnd type="arrow"/>
          </a:ln>
        </p:spPr>
        <p:style>
          <a:lnRef idx="2">
            <a:schemeClr val="accent1"/>
          </a:lnRef>
          <a:fillRef idx="0">
            <a:srgbClr val="FFFFFF"/>
          </a:fillRef>
          <a:effectRef idx="0">
            <a:srgbClr val="FFFFFF"/>
          </a:effectRef>
          <a:fontRef idx="minor">
            <a:schemeClr val="tx1"/>
          </a:fontRef>
        </p:style>
      </p:cxnSp>
      <p:pic>
        <p:nvPicPr>
          <p:cNvPr id="33" name="图片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90994" y="1591300"/>
            <a:ext cx="3742971" cy="2491415"/>
          </a:xfrm>
          <a:prstGeom prst="rect">
            <a:avLst/>
          </a:prstGeom>
        </p:spPr>
      </p:pic>
      <p:pic>
        <p:nvPicPr>
          <p:cNvPr id="35" name="图片 34"/>
          <p:cNvPicPr>
            <a:picLocks noChangeAspect="1"/>
          </p:cNvPicPr>
          <p:nvPr/>
        </p:nvPicPr>
        <p:blipFill>
          <a:blip r:embed="rId7"/>
          <a:stretch>
            <a:fillRect/>
          </a:stretch>
        </p:blipFill>
        <p:spPr>
          <a:xfrm>
            <a:off x="4486275" y="422910"/>
            <a:ext cx="7705725" cy="297815"/>
          </a:xfrm>
          <a:prstGeom prst="rect">
            <a:avLst/>
          </a:prstGeom>
        </p:spPr>
      </p:pic>
      <p:pic>
        <p:nvPicPr>
          <p:cNvPr id="36" name="图片 10" descr="429a14edc1a601202d480f31d06805f8"/>
          <p:cNvPicPr>
            <a:picLocks noChangeAspect="1"/>
          </p:cNvPicPr>
          <p:nvPr/>
        </p:nvPicPr>
        <p:blipFill>
          <a:blip r:embed="rId8"/>
          <a:stretch>
            <a:fillRect/>
          </a:stretch>
        </p:blipFill>
        <p:spPr>
          <a:xfrm>
            <a:off x="8827135" y="3418840"/>
            <a:ext cx="3103880" cy="22987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14:presetBounceEnd="50000">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14:bounceEnd="50000">
                                          <p:cBhvr additive="base">
                                            <p:cTn id="7" dur="500" fill="hold"/>
                                            <p:tgtEl>
                                              <p:spTgt spid="18"/>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14:presetBounceEnd="50000">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14:bounceEnd="50000">
                                          <p:cBhvr additive="base">
                                            <p:cTn id="11"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custDataLst>
              <p:tags r:id="rId1"/>
            </p:custDataLst>
          </p:nvPr>
        </p:nvGrpSpPr>
        <p:grpSpPr>
          <a:xfrm>
            <a:off x="188505" y="4541065"/>
            <a:ext cx="2482850" cy="1647190"/>
            <a:chOff x="2468865" y="2381224"/>
            <a:chExt cx="2482850" cy="1647190"/>
          </a:xfrm>
        </p:grpSpPr>
        <p:sp>
          <p:nvSpPr>
            <p:cNvPr id="23" name="文本框 22"/>
            <p:cNvSpPr txBox="1"/>
            <p:nvPr>
              <p:custDataLst>
                <p:tags r:id="rId8"/>
              </p:custDataLst>
            </p:nvPr>
          </p:nvSpPr>
          <p:spPr>
            <a:xfrm>
              <a:off x="2531095" y="2381224"/>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自我认知模糊</a:t>
              </a:r>
            </a:p>
          </p:txBody>
        </p:sp>
        <p:sp>
          <p:nvSpPr>
            <p:cNvPr id="24" name="文本框 23"/>
            <p:cNvSpPr txBox="1"/>
            <p:nvPr>
              <p:custDataLst>
                <p:tags r:id="rId9"/>
              </p:custDataLst>
            </p:nvPr>
          </p:nvSpPr>
          <p:spPr>
            <a:xfrm>
              <a:off x="2468865" y="2828264"/>
              <a:ext cx="2482850" cy="1200150"/>
            </a:xfrm>
            <a:prstGeom prst="rect">
              <a:avLst/>
            </a:prstGeom>
            <a:noFill/>
          </p:spPr>
          <p:txBody>
            <a:bodyPr wrap="square" rtlCol="0">
              <a:noAutofit/>
              <a:scene3d>
                <a:camera prst="orthographicFront"/>
                <a:lightRig rig="threePt" dir="t"/>
              </a:scene3d>
              <a:sp3d contourW="12700"/>
            </a:bodyPr>
            <a:lstStyle/>
            <a:p>
              <a:pPr lvl="0"/>
              <a:r>
                <a:rPr lang="zh-CN" altLang="zh-CN" dirty="0"/>
                <a:t>缺乏客观、系统的自我能力评估工具，不清楚自身技能与市场需求的匹配程度</a:t>
              </a:r>
              <a:r>
                <a:rPr lang="zh-CN" altLang="en-US" dirty="0"/>
                <a:t>。</a:t>
              </a:r>
              <a:endParaRPr lang="zh-CN" altLang="zh-CN" dirty="0"/>
            </a:p>
          </p:txBody>
        </p:sp>
      </p:grpSp>
      <p:grpSp>
        <p:nvGrpSpPr>
          <p:cNvPr id="25" name="组合 24"/>
          <p:cNvGrpSpPr/>
          <p:nvPr>
            <p:custDataLst>
              <p:tags r:id="rId2"/>
            </p:custDataLst>
          </p:nvPr>
        </p:nvGrpSpPr>
        <p:grpSpPr>
          <a:xfrm>
            <a:off x="3251201" y="4541065"/>
            <a:ext cx="2482850" cy="1369159"/>
            <a:chOff x="2166060" y="2381224"/>
            <a:chExt cx="2482850" cy="1369159"/>
          </a:xfrm>
        </p:grpSpPr>
        <p:sp>
          <p:nvSpPr>
            <p:cNvPr id="26" name="文本框 25"/>
            <p:cNvSpPr txBox="1"/>
            <p:nvPr>
              <p:custDataLst>
                <p:tags r:id="rId6"/>
              </p:custDataLst>
            </p:nvPr>
          </p:nvSpPr>
          <p:spPr>
            <a:xfrm>
              <a:off x="2321545" y="2381224"/>
              <a:ext cx="2133781" cy="368300"/>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职业信息碎片化</a:t>
              </a:r>
            </a:p>
          </p:txBody>
        </p:sp>
        <p:sp>
          <p:nvSpPr>
            <p:cNvPr id="27" name="文本框 26"/>
            <p:cNvSpPr txBox="1"/>
            <p:nvPr>
              <p:custDataLst>
                <p:tags r:id="rId7"/>
              </p:custDataLst>
            </p:nvPr>
          </p:nvSpPr>
          <p:spPr>
            <a:xfrm>
              <a:off x="2166060" y="2828363"/>
              <a:ext cx="2482850" cy="922020"/>
            </a:xfrm>
            <a:prstGeom prst="rect">
              <a:avLst/>
            </a:prstGeom>
            <a:noFill/>
          </p:spPr>
          <p:txBody>
            <a:bodyPr wrap="square" rtlCol="0">
              <a:spAutoFit/>
              <a:scene3d>
                <a:camera prst="orthographicFront"/>
                <a:lightRig rig="threePt" dir="t"/>
              </a:scene3d>
              <a:sp3d contourW="12700"/>
            </a:bodyPr>
            <a:lstStyle/>
            <a:p>
              <a:pPr lvl="0"/>
              <a:r>
                <a:rPr lang="zh-CN" altLang="zh-CN" dirty="0"/>
                <a:t>对</a:t>
              </a:r>
              <a:r>
                <a:rPr lang="zh-CN" altLang="en-US" dirty="0"/>
                <a:t>本专业的</a:t>
              </a:r>
              <a:r>
                <a:rPr lang="zh-CN" altLang="zh-CN" dirty="0"/>
                <a:t>各岗位具体技能要求、薪资水平、等信息缺乏系统了解</a:t>
              </a:r>
              <a:r>
                <a:rPr lang="zh-CN" altLang="en-US" dirty="0"/>
                <a:t>。</a:t>
              </a:r>
              <a:endParaRPr lang="zh-CN" altLang="zh-CN" dirty="0"/>
            </a:p>
          </p:txBody>
        </p:sp>
      </p:grpSp>
      <p:grpSp>
        <p:nvGrpSpPr>
          <p:cNvPr id="28" name="组合 27"/>
          <p:cNvGrpSpPr/>
          <p:nvPr>
            <p:custDataLst>
              <p:tags r:id="rId3"/>
            </p:custDataLst>
          </p:nvPr>
        </p:nvGrpSpPr>
        <p:grpSpPr>
          <a:xfrm>
            <a:off x="9429750" y="4551860"/>
            <a:ext cx="2482850" cy="1313954"/>
            <a:chOff x="4979110" y="2345664"/>
            <a:chExt cx="2482850" cy="1313954"/>
          </a:xfrm>
        </p:grpSpPr>
        <p:sp>
          <p:nvSpPr>
            <p:cNvPr id="29" name="文本框 28"/>
            <p:cNvSpPr txBox="1"/>
            <p:nvPr>
              <p:custDataLst>
                <p:tags r:id="rId4"/>
              </p:custDataLst>
            </p:nvPr>
          </p:nvSpPr>
          <p:spPr>
            <a:xfrm>
              <a:off x="5086335" y="2345664"/>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职业规划指导缺位</a:t>
              </a:r>
            </a:p>
          </p:txBody>
        </p:sp>
        <p:sp>
          <p:nvSpPr>
            <p:cNvPr id="30" name="文本框 29"/>
            <p:cNvSpPr txBox="1"/>
            <p:nvPr>
              <p:custDataLst>
                <p:tags r:id="rId5"/>
              </p:custDataLst>
            </p:nvPr>
          </p:nvSpPr>
          <p:spPr>
            <a:xfrm>
              <a:off x="4979110" y="2736288"/>
              <a:ext cx="2482850" cy="923330"/>
            </a:xfrm>
            <a:prstGeom prst="rect">
              <a:avLst/>
            </a:prstGeom>
            <a:noFill/>
          </p:spPr>
          <p:txBody>
            <a:bodyPr wrap="square" rtlCol="0">
              <a:spAutoFit/>
              <a:scene3d>
                <a:camera prst="orthographicFront"/>
                <a:lightRig rig="threePt" dir="t"/>
              </a:scene3d>
              <a:sp3d contourW="12700"/>
            </a:bodyPr>
            <a:lstStyle/>
            <a:p>
              <a:pPr lvl="0"/>
              <a:r>
                <a:rPr lang="zh-CN" altLang="zh-CN" dirty="0"/>
                <a:t>高校职业指导资源有限，难以为百万量级毕业生提供个性化建议</a:t>
              </a:r>
              <a:r>
                <a:rPr lang="zh-CN" altLang="en-US" dirty="0"/>
                <a:t>。</a:t>
              </a:r>
              <a:endParaRPr lang="zh-CN" altLang="zh-CN" dirty="0"/>
            </a:p>
          </p:txBody>
        </p:sp>
      </p:grpSp>
      <p:grpSp>
        <p:nvGrpSpPr>
          <p:cNvPr id="17" name="组合 16"/>
          <p:cNvGrpSpPr/>
          <p:nvPr/>
        </p:nvGrpSpPr>
        <p:grpSpPr>
          <a:xfrm>
            <a:off x="1473289" y="371367"/>
            <a:ext cx="4260761" cy="787074"/>
            <a:chOff x="7318011" y="1456480"/>
            <a:chExt cx="4260761" cy="787074"/>
          </a:xfrm>
        </p:grpSpPr>
        <p:sp>
          <p:nvSpPr>
            <p:cNvPr id="18" name="文本框 17"/>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问题分析</a:t>
              </a:r>
            </a:p>
          </p:txBody>
        </p:sp>
        <p:sp>
          <p:nvSpPr>
            <p:cNvPr id="31" name="文本框 30"/>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PROBLEM ANALYSIS</a:t>
              </a:r>
            </a:p>
          </p:txBody>
        </p:sp>
      </p:grpSp>
      <p:sp>
        <p:nvSpPr>
          <p:cNvPr id="20" name="文本框 19"/>
          <p:cNvSpPr txBox="1"/>
          <p:nvPr/>
        </p:nvSpPr>
        <p:spPr>
          <a:xfrm>
            <a:off x="1489075" y="1294696"/>
            <a:ext cx="8729345" cy="371475"/>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600" dirty="0">
                <a:solidFill>
                  <a:schemeClr val="tx1">
                    <a:lumMod val="65000"/>
                    <a:lumOff val="35000"/>
                  </a:schemeClr>
                </a:solidFill>
                <a:latin typeface="Century Gothic" panose="020B0502020202020204" pitchFamily="34" charset="0"/>
                <a:ea typeface="+mj-ea"/>
              </a:rPr>
              <a:t>大学生的就业难问题，集中在以下四大痛点：</a:t>
            </a:r>
          </a:p>
        </p:txBody>
      </p:sp>
      <p:pic>
        <p:nvPicPr>
          <p:cNvPr id="2050" name="Picture 2" descr="自我认知图片_自我认知素材_自我认知高清图片_摄图网图片下载"/>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8546" y="1974847"/>
            <a:ext cx="2568265" cy="2268417"/>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13"/>
          <a:stretch>
            <a:fillRect/>
          </a:stretch>
        </p:blipFill>
        <p:spPr>
          <a:xfrm>
            <a:off x="3299582" y="1976753"/>
            <a:ext cx="2348629" cy="1153398"/>
          </a:xfrm>
          <a:prstGeom prst="rect">
            <a:avLst/>
          </a:prstGeom>
        </p:spPr>
      </p:pic>
      <p:pic>
        <p:nvPicPr>
          <p:cNvPr id="10" name="图片 9"/>
          <p:cNvPicPr>
            <a:picLocks noChangeAspect="1"/>
          </p:cNvPicPr>
          <p:nvPr/>
        </p:nvPicPr>
        <p:blipFill>
          <a:blip r:embed="rId14"/>
          <a:stretch>
            <a:fillRect/>
          </a:stretch>
        </p:blipFill>
        <p:spPr>
          <a:xfrm>
            <a:off x="3299582" y="3138407"/>
            <a:ext cx="2348629" cy="1115018"/>
          </a:xfrm>
          <a:prstGeom prst="rect">
            <a:avLst/>
          </a:prstGeom>
        </p:spPr>
      </p:pic>
      <p:pic>
        <p:nvPicPr>
          <p:cNvPr id="2054" name="Picture 6" descr="概念手写显示职业规划概念意义战略地规划您的职业目标和工作成功高清图片下载-正版图片503835340-摄图网"/>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37997" y="1958972"/>
            <a:ext cx="2666961" cy="226841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419100" y="259080"/>
            <a:ext cx="942340" cy="922655"/>
            <a:chOff x="660" y="408"/>
            <a:chExt cx="1484" cy="1453"/>
          </a:xfrm>
        </p:grpSpPr>
        <p:sp>
          <p:nvSpPr>
            <p:cNvPr id="2"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5" name="文本框 4"/>
            <p:cNvSpPr txBox="1"/>
            <p:nvPr/>
          </p:nvSpPr>
          <p:spPr>
            <a:xfrm>
              <a:off x="690" y="578"/>
              <a:ext cx="1455" cy="1115"/>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01</a:t>
              </a:r>
              <a:endParaRPr lang="zh-CN" altLang="en-US" sz="4000" dirty="0">
                <a:solidFill>
                  <a:schemeClr val="accent1"/>
                </a:solidFill>
                <a:latin typeface="Century Gothic" panose="020B0502020202020204" pitchFamily="34" charset="0"/>
              </a:endParaRPr>
            </a:p>
          </p:txBody>
        </p:sp>
      </p:grpSp>
      <p:pic>
        <p:nvPicPr>
          <p:cNvPr id="7" name="图片 6"/>
          <p:cNvPicPr>
            <a:picLocks noChangeAspect="1"/>
          </p:cNvPicPr>
          <p:nvPr/>
        </p:nvPicPr>
        <p:blipFill>
          <a:blip r:embed="rId16"/>
          <a:stretch>
            <a:fillRect/>
          </a:stretch>
        </p:blipFill>
        <p:spPr>
          <a:xfrm>
            <a:off x="4486275" y="422910"/>
            <a:ext cx="7705725" cy="297815"/>
          </a:xfrm>
          <a:prstGeom prst="rect">
            <a:avLst/>
          </a:prstGeom>
        </p:spPr>
      </p:pic>
      <p:pic>
        <p:nvPicPr>
          <p:cNvPr id="12" name="图片 11"/>
          <p:cNvPicPr/>
          <p:nvPr/>
        </p:nvPicPr>
        <p:blipFill>
          <a:blip r:embed="rId17"/>
          <a:stretch>
            <a:fillRect/>
          </a:stretch>
        </p:blipFill>
        <p:spPr>
          <a:xfrm>
            <a:off x="6285230" y="1958975"/>
            <a:ext cx="2661920" cy="2319655"/>
          </a:xfrm>
          <a:prstGeom prst="rect">
            <a:avLst/>
          </a:prstGeom>
        </p:spPr>
      </p:pic>
      <p:sp>
        <p:nvSpPr>
          <p:cNvPr id="13" name="文本框 12"/>
          <p:cNvSpPr txBox="1"/>
          <p:nvPr/>
        </p:nvSpPr>
        <p:spPr>
          <a:xfrm>
            <a:off x="6405245" y="4551045"/>
            <a:ext cx="2422525" cy="368300"/>
          </a:xfrm>
          <a:prstGeom prst="rect">
            <a:avLst/>
          </a:prstGeom>
          <a:noFill/>
        </p:spPr>
        <p:txBody>
          <a:bodyPr wrap="square" rtlCol="0">
            <a:spAutoFit/>
          </a:bodyPr>
          <a:lstStyle/>
          <a:p>
            <a:r>
              <a:rPr lang="zh-CN" altLang="en-US" b="1" dirty="0">
                <a:solidFill>
                  <a:schemeClr val="tx1">
                    <a:lumMod val="75000"/>
                    <a:lumOff val="25000"/>
                  </a:schemeClr>
                </a:solidFill>
                <a:latin typeface="Century Gothic" panose="020B0502020202020204" pitchFamily="34" charset="0"/>
              </a:rPr>
              <a:t>职业晋升路径不清晰</a:t>
            </a:r>
            <a:endParaRPr lang="zh-CN" altLang="en-US"/>
          </a:p>
        </p:txBody>
      </p:sp>
      <p:sp>
        <p:nvSpPr>
          <p:cNvPr id="14" name="文本框 13"/>
          <p:cNvSpPr txBox="1"/>
          <p:nvPr/>
        </p:nvSpPr>
        <p:spPr>
          <a:xfrm>
            <a:off x="6184900" y="4987925"/>
            <a:ext cx="2879725" cy="922020"/>
          </a:xfrm>
          <a:prstGeom prst="rect">
            <a:avLst/>
          </a:prstGeom>
          <a:noFill/>
        </p:spPr>
        <p:txBody>
          <a:bodyPr wrap="square" rtlCol="0">
            <a:spAutoFit/>
          </a:bodyPr>
          <a:lstStyle/>
          <a:p>
            <a:r>
              <a:rPr lang="zh-CN" altLang="en-US" dirty="0"/>
              <a:t>学生对从入门到高级工程师的晋升路径缺乏了解，职业规划缺乏方向感。</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ppt_x</p:attrName>
                                        </p:attrNameLst>
                                      </p:cBhvr>
                                      <p:tavLst>
                                        <p:tav tm="0">
                                          <p:val>
                                            <p:strVal val="#ppt_x-#ppt_w*1.125000"/>
                                          </p:val>
                                        </p:tav>
                                        <p:tav tm="100000">
                                          <p:val>
                                            <p:strVal val="#ppt_x"/>
                                          </p:val>
                                        </p:tav>
                                      </p:tavLst>
                                    </p:anim>
                                    <p:animEffect transition="in" filter="wipe(right)">
                                      <p:cBhvr>
                                        <p:cTn id="8" dur="500"/>
                                        <p:tgtEl>
                                          <p:spTgt spid="20"/>
                                        </p:tgtEl>
                                      </p:cBhvr>
                                    </p:animEffect>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1000"/>
                                        <p:tgtEl>
                                          <p:spTgt spid="28"/>
                                        </p:tgtEl>
                                      </p:cBhvr>
                                    </p:animEffect>
                                    <p:anim calcmode="lin" valueType="num">
                                      <p:cBhvr>
                                        <p:cTn id="23" dur="1000" fill="hold"/>
                                        <p:tgtEl>
                                          <p:spTgt spid="28"/>
                                        </p:tgtEl>
                                        <p:attrNameLst>
                                          <p:attrName>ppt_x</p:attrName>
                                        </p:attrNameLst>
                                      </p:cBhvr>
                                      <p:tavLst>
                                        <p:tav tm="0">
                                          <p:val>
                                            <p:strVal val="#ppt_x"/>
                                          </p:val>
                                        </p:tav>
                                        <p:tav tm="100000">
                                          <p:val>
                                            <p:strVal val="#ppt_x"/>
                                          </p:val>
                                        </p:tav>
                                      </p:tavLst>
                                    </p:anim>
                                    <p:anim calcmode="lin" valueType="num">
                                      <p:cBhvr>
                                        <p:cTn id="24" dur="1000" fill="hold"/>
                                        <p:tgtEl>
                                          <p:spTgt spid="2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1000"/>
                                        <p:tgtEl>
                                          <p:spTgt spid="13">
                                            <p:txEl>
                                              <p:pRg st="0" end="0"/>
                                            </p:txEl>
                                          </p:spTgt>
                                        </p:tgtEl>
                                      </p:cBhvr>
                                    </p:animEffect>
                                    <p:anim calcmode="lin" valueType="num">
                                      <p:cBhvr>
                                        <p:cTn id="2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fade">
                                      <p:cBhvr>
                                        <p:cTn id="32" dur="1000"/>
                                        <p:tgtEl>
                                          <p:spTgt spid="14">
                                            <p:txEl>
                                              <p:pRg st="0" end="0"/>
                                            </p:txEl>
                                          </p:spTgt>
                                        </p:tgtEl>
                                      </p:cBhvr>
                                    </p:animEffect>
                                    <p:anim calcmode="lin" valueType="num">
                                      <p:cBhvr>
                                        <p:cTn id="3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0" name="Freeform 5" descr="e7d195523061f1c0f55f9af68525816972d868573ada39bc763F3977967589A5F92C178830C92595A6CE4D0132F8C206B2B04C416AAA86B7FD80AB023F78DAEB544E2F013E11B2B95AD21703D1C90034A379EC9026EFAAF5D8D3F6EDD7215B01D0409FDE2EB8F6E929173B8073E2301F364EE885D6D8697F6674C70ED10ED42D334E50A353488E95E90D50708BC427BA"/>
          <p:cNvSpPr>
            <a:spLocks noEditPoints="1"/>
          </p:cNvSpPr>
          <p:nvPr/>
        </p:nvSpPr>
        <p:spPr bwMode="auto">
          <a:xfrm>
            <a:off x="8812304" y="5915415"/>
            <a:ext cx="3459117" cy="957459"/>
          </a:xfrm>
          <a:custGeom>
            <a:avLst/>
            <a:gdLst>
              <a:gd name="T0" fmla="*/ 93 w 3149"/>
              <a:gd name="T1" fmla="*/ 872 h 872"/>
              <a:gd name="T2" fmla="*/ 0 w 3149"/>
              <a:gd name="T3" fmla="*/ 627 h 872"/>
              <a:gd name="T4" fmla="*/ 364 w 3149"/>
              <a:gd name="T5" fmla="*/ 261 h 872"/>
              <a:gd name="T6" fmla="*/ 670 w 3149"/>
              <a:gd name="T7" fmla="*/ 426 h 872"/>
              <a:gd name="T8" fmla="*/ 541 w 3149"/>
              <a:gd name="T9" fmla="*/ 611 h 872"/>
              <a:gd name="T10" fmla="*/ 1269 w 3149"/>
              <a:gd name="T11" fmla="*/ 619 h 872"/>
              <a:gd name="T12" fmla="*/ 1455 w 3149"/>
              <a:gd name="T13" fmla="*/ 650 h 872"/>
              <a:gd name="T14" fmla="*/ 1756 w 3149"/>
              <a:gd name="T15" fmla="*/ 492 h 872"/>
              <a:gd name="T16" fmla="*/ 1855 w 3149"/>
              <a:gd name="T17" fmla="*/ 597 h 872"/>
              <a:gd name="T18" fmla="*/ 2197 w 3149"/>
              <a:gd name="T19" fmla="*/ 328 h 872"/>
              <a:gd name="T20" fmla="*/ 2123 w 3149"/>
              <a:gd name="T21" fmla="*/ 210 h 872"/>
              <a:gd name="T22" fmla="*/ 2528 w 3149"/>
              <a:gd name="T23" fmla="*/ 211 h 872"/>
              <a:gd name="T24" fmla="*/ 2530 w 3149"/>
              <a:gd name="T25" fmla="*/ 214 h 872"/>
              <a:gd name="T26" fmla="*/ 2407 w 3149"/>
              <a:gd name="T27" fmla="*/ 262 h 872"/>
              <a:gd name="T28" fmla="*/ 2835 w 3149"/>
              <a:gd name="T29" fmla="*/ 752 h 872"/>
              <a:gd name="T30" fmla="*/ 3149 w 3149"/>
              <a:gd name="T31" fmla="*/ 872 h 872"/>
              <a:gd name="T32" fmla="*/ 93 w 3149"/>
              <a:gd name="T33" fmla="*/ 872 h 872"/>
              <a:gd name="T34" fmla="*/ 2450 w 3149"/>
              <a:gd name="T35" fmla="*/ 736 h 872"/>
              <a:gd name="T36" fmla="*/ 2122 w 3149"/>
              <a:gd name="T37" fmla="*/ 541 h 872"/>
              <a:gd name="T38" fmla="*/ 2123 w 3149"/>
              <a:gd name="T39" fmla="*/ 535 h 872"/>
              <a:gd name="T40" fmla="*/ 2119 w 3149"/>
              <a:gd name="T41" fmla="*/ 541 h 872"/>
              <a:gd name="T42" fmla="*/ 2008 w 3149"/>
              <a:gd name="T43" fmla="*/ 569 h 872"/>
              <a:gd name="T44" fmla="*/ 1888 w 3149"/>
              <a:gd name="T45" fmla="*/ 662 h 872"/>
              <a:gd name="T46" fmla="*/ 1992 w 3149"/>
              <a:gd name="T47" fmla="*/ 594 h 872"/>
              <a:gd name="T48" fmla="*/ 2451 w 3149"/>
              <a:gd name="T49" fmla="*/ 739 h 872"/>
              <a:gd name="T50" fmla="*/ 2450 w 3149"/>
              <a:gd name="T51" fmla="*/ 736 h 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149" h="872">
                <a:moveTo>
                  <a:pt x="93" y="872"/>
                </a:moveTo>
                <a:cubicBezTo>
                  <a:pt x="35" y="821"/>
                  <a:pt x="0" y="720"/>
                  <a:pt x="0" y="627"/>
                </a:cubicBezTo>
                <a:cubicBezTo>
                  <a:pt x="0" y="425"/>
                  <a:pt x="163" y="261"/>
                  <a:pt x="364" y="261"/>
                </a:cubicBezTo>
                <a:cubicBezTo>
                  <a:pt x="493" y="261"/>
                  <a:pt x="605" y="326"/>
                  <a:pt x="670" y="426"/>
                </a:cubicBezTo>
                <a:cubicBezTo>
                  <a:pt x="613" y="475"/>
                  <a:pt x="567" y="537"/>
                  <a:pt x="541" y="611"/>
                </a:cubicBezTo>
                <a:cubicBezTo>
                  <a:pt x="718" y="331"/>
                  <a:pt x="1098" y="335"/>
                  <a:pt x="1269" y="619"/>
                </a:cubicBezTo>
                <a:cubicBezTo>
                  <a:pt x="1334" y="617"/>
                  <a:pt x="1397" y="628"/>
                  <a:pt x="1455" y="650"/>
                </a:cubicBezTo>
                <a:cubicBezTo>
                  <a:pt x="1525" y="551"/>
                  <a:pt x="1638" y="494"/>
                  <a:pt x="1756" y="492"/>
                </a:cubicBezTo>
                <a:cubicBezTo>
                  <a:pt x="1778" y="538"/>
                  <a:pt x="1813" y="574"/>
                  <a:pt x="1855" y="597"/>
                </a:cubicBezTo>
                <a:cubicBezTo>
                  <a:pt x="1576" y="368"/>
                  <a:pt x="2037" y="0"/>
                  <a:pt x="2197" y="328"/>
                </a:cubicBezTo>
                <a:cubicBezTo>
                  <a:pt x="2184" y="279"/>
                  <a:pt x="2158" y="240"/>
                  <a:pt x="2123" y="210"/>
                </a:cubicBezTo>
                <a:cubicBezTo>
                  <a:pt x="2201" y="38"/>
                  <a:pt x="2449" y="35"/>
                  <a:pt x="2528" y="211"/>
                </a:cubicBezTo>
                <a:cubicBezTo>
                  <a:pt x="2529" y="212"/>
                  <a:pt x="2529" y="213"/>
                  <a:pt x="2530" y="214"/>
                </a:cubicBezTo>
                <a:cubicBezTo>
                  <a:pt x="2488" y="222"/>
                  <a:pt x="2447" y="238"/>
                  <a:pt x="2407" y="262"/>
                </a:cubicBezTo>
                <a:cubicBezTo>
                  <a:pt x="2707" y="142"/>
                  <a:pt x="2993" y="469"/>
                  <a:pt x="2835" y="752"/>
                </a:cubicBezTo>
                <a:cubicBezTo>
                  <a:pt x="2953" y="734"/>
                  <a:pt x="3072" y="771"/>
                  <a:pt x="3149" y="872"/>
                </a:cubicBezTo>
                <a:cubicBezTo>
                  <a:pt x="1774" y="872"/>
                  <a:pt x="1469" y="872"/>
                  <a:pt x="93" y="872"/>
                </a:cubicBezTo>
                <a:close/>
                <a:moveTo>
                  <a:pt x="2450" y="736"/>
                </a:moveTo>
                <a:cubicBezTo>
                  <a:pt x="2390" y="605"/>
                  <a:pt x="2257" y="531"/>
                  <a:pt x="2122" y="541"/>
                </a:cubicBezTo>
                <a:cubicBezTo>
                  <a:pt x="2122" y="539"/>
                  <a:pt x="2122" y="537"/>
                  <a:pt x="2123" y="535"/>
                </a:cubicBezTo>
                <a:cubicBezTo>
                  <a:pt x="2121" y="537"/>
                  <a:pt x="2120" y="539"/>
                  <a:pt x="2119" y="541"/>
                </a:cubicBezTo>
                <a:cubicBezTo>
                  <a:pt x="2082" y="544"/>
                  <a:pt x="2044" y="553"/>
                  <a:pt x="2008" y="569"/>
                </a:cubicBezTo>
                <a:cubicBezTo>
                  <a:pt x="1960" y="591"/>
                  <a:pt x="1919" y="623"/>
                  <a:pt x="1888" y="662"/>
                </a:cubicBezTo>
                <a:cubicBezTo>
                  <a:pt x="1917" y="634"/>
                  <a:pt x="1952" y="611"/>
                  <a:pt x="1992" y="594"/>
                </a:cubicBezTo>
                <a:cubicBezTo>
                  <a:pt x="2163" y="522"/>
                  <a:pt x="2362" y="587"/>
                  <a:pt x="2451" y="739"/>
                </a:cubicBezTo>
                <a:cubicBezTo>
                  <a:pt x="2450" y="738"/>
                  <a:pt x="2450" y="737"/>
                  <a:pt x="2450" y="736"/>
                </a:cubicBezTo>
                <a:close/>
              </a:path>
            </a:pathLst>
          </a:custGeom>
          <a:solidFill>
            <a:schemeClr val="tx2">
              <a:lumMod val="20000"/>
              <a:lumOff val="80000"/>
              <a:alpha val="37000"/>
            </a:schemeClr>
          </a:solidFill>
          <a:ln>
            <a:noFill/>
          </a:ln>
        </p:spPr>
        <p:txBody>
          <a:bodyPr vert="horz" wrap="square" lIns="91440" tIns="45720" rIns="91440" bIns="45720" numCol="1" anchor="t" anchorCtr="0" compatLnSpc="1"/>
          <a:lstStyle/>
          <a:p>
            <a:endParaRPr lang="en-US">
              <a:solidFill>
                <a:srgbClr val="15F2FA"/>
              </a:solidFill>
              <a:latin typeface="微软雅黑" panose="020B0503020204020204" pitchFamily="34" charset="-122"/>
              <a:ea typeface="微软雅黑" panose="020B0503020204020204" pitchFamily="34" charset="-122"/>
            </a:endParaRPr>
          </a:p>
        </p:txBody>
      </p:sp>
      <p:grpSp>
        <p:nvGrpSpPr>
          <p:cNvPr id="76" name="组合 51"/>
          <p:cNvGrpSpPr/>
          <p:nvPr/>
        </p:nvGrpSpPr>
        <p:grpSpPr>
          <a:xfrm>
            <a:off x="1473289" y="371367"/>
            <a:ext cx="4260761" cy="787074"/>
            <a:chOff x="7318011" y="1456480"/>
            <a:chExt cx="4260761" cy="787074"/>
          </a:xfrm>
        </p:grpSpPr>
        <p:sp>
          <p:nvSpPr>
            <p:cNvPr id="77" name="文本框 76"/>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项目目标</a:t>
              </a:r>
            </a:p>
          </p:txBody>
        </p:sp>
        <p:sp>
          <p:nvSpPr>
            <p:cNvPr id="79" name="文本框 78"/>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PROJECT OBJECTIVE</a:t>
              </a:r>
            </a:p>
          </p:txBody>
        </p:sp>
      </p:grpSp>
      <p:pic>
        <p:nvPicPr>
          <p:cNvPr id="13" name="图片 12"/>
          <p:cNvPicPr>
            <a:picLocks noChangeAspect="1"/>
          </p:cNvPicPr>
          <p:nvPr/>
        </p:nvPicPr>
        <p:blipFill>
          <a:blip r:embed="rId3"/>
          <a:srcRect l="3733" t="12926" r="-543" b="-571"/>
          <a:stretch>
            <a:fillRect/>
          </a:stretch>
        </p:blipFill>
        <p:spPr>
          <a:xfrm>
            <a:off x="7428865" y="1927860"/>
            <a:ext cx="4516755" cy="3868420"/>
          </a:xfrm>
          <a:prstGeom prst="rect">
            <a:avLst/>
          </a:prstGeom>
        </p:spPr>
      </p:pic>
      <p:grpSp>
        <p:nvGrpSpPr>
          <p:cNvPr id="2" name="组合 1"/>
          <p:cNvGrpSpPr/>
          <p:nvPr/>
        </p:nvGrpSpPr>
        <p:grpSpPr>
          <a:xfrm>
            <a:off x="419100" y="259080"/>
            <a:ext cx="942340" cy="922655"/>
            <a:chOff x="660" y="408"/>
            <a:chExt cx="1484" cy="1453"/>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90" y="578"/>
              <a:ext cx="1455" cy="1115"/>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01</a:t>
              </a:r>
              <a:endParaRPr lang="zh-CN" altLang="en-US" sz="4000" dirty="0">
                <a:solidFill>
                  <a:schemeClr val="accent1"/>
                </a:solidFill>
                <a:latin typeface="Century Gothic" panose="020B0502020202020204" pitchFamily="34" charset="0"/>
              </a:endParaRPr>
            </a:p>
          </p:txBody>
        </p:sp>
      </p:grpSp>
      <p:pic>
        <p:nvPicPr>
          <p:cNvPr id="8" name="图片 7"/>
          <p:cNvPicPr>
            <a:picLocks noChangeAspect="1"/>
          </p:cNvPicPr>
          <p:nvPr/>
        </p:nvPicPr>
        <p:blipFill>
          <a:blip r:embed="rId4"/>
          <a:stretch>
            <a:fillRect/>
          </a:stretch>
        </p:blipFill>
        <p:spPr>
          <a:xfrm>
            <a:off x="4486275" y="422910"/>
            <a:ext cx="7705725" cy="297815"/>
          </a:xfrm>
          <a:prstGeom prst="rect">
            <a:avLst/>
          </a:prstGeom>
        </p:spPr>
      </p:pic>
      <p:sp>
        <p:nvSpPr>
          <p:cNvPr id="9" name="矩形 8"/>
          <p:cNvSpPr/>
          <p:nvPr/>
        </p:nvSpPr>
        <p:spPr>
          <a:xfrm>
            <a:off x="368300" y="1967230"/>
            <a:ext cx="4935855" cy="3665220"/>
          </a:xfrm>
          <a:prstGeom prst="rect">
            <a:avLst/>
          </a:prstGeom>
          <a:gradFill>
            <a:gsLst>
              <a:gs pos="0">
                <a:schemeClr val="bg2"/>
              </a:gs>
              <a:gs pos="100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 name="ECB019B1-382A-4266-B25C-5B523AA43C14-1"/>
          <p:cNvPicPr>
            <a:picLocks noChangeAspect="1"/>
          </p:cNvPicPr>
          <p:nvPr/>
        </p:nvPicPr>
        <p:blipFill>
          <a:blip r:embed="rId5"/>
          <a:stretch>
            <a:fillRect/>
          </a:stretch>
        </p:blipFill>
        <p:spPr>
          <a:xfrm>
            <a:off x="438150" y="1920875"/>
            <a:ext cx="4866640" cy="3792220"/>
          </a:xfrm>
          <a:prstGeom prst="rect">
            <a:avLst/>
          </a:prstGeom>
        </p:spPr>
      </p:pic>
      <p:sp>
        <p:nvSpPr>
          <p:cNvPr id="11" name="右箭头 10"/>
          <p:cNvSpPr/>
          <p:nvPr/>
        </p:nvSpPr>
        <p:spPr>
          <a:xfrm>
            <a:off x="5552440" y="2426335"/>
            <a:ext cx="1876425" cy="167767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605790" y="1231265"/>
            <a:ext cx="9923780" cy="461010"/>
          </a:xfrm>
          <a:prstGeom prst="rect">
            <a:avLst/>
          </a:prstGeom>
          <a:noFill/>
        </p:spPr>
        <p:txBody>
          <a:bodyPr wrap="square" rtlCol="0">
            <a:noAutofit/>
          </a:bodyPr>
          <a:lstStyle/>
          <a:p>
            <a:r>
              <a:rPr lang="zh-CN" altLang="en-US" sz="2400" b="1">
                <a:ln w="9525">
                  <a:solidFill>
                    <a:schemeClr val="bg1"/>
                  </a:solidFill>
                  <a:prstDash val="solid"/>
                </a:ln>
                <a:solidFill>
                  <a:schemeClr val="tx1"/>
                </a:solidFill>
                <a:effectLst>
                  <a:outerShdw blurRad="12700" dist="38100" dir="2700000" algn="tl" rotWithShape="0">
                    <a:schemeClr val="bg1">
                      <a:lumMod val="50000"/>
                    </a:schemeClr>
                  </a:outerShdw>
                </a:effectLst>
              </a:rPr>
              <a:t>针对上述四大问题，我们提出对应的解决方案，并进行了项目目标设计</a:t>
            </a:r>
          </a:p>
        </p:txBody>
      </p:sp>
      <p:sp>
        <p:nvSpPr>
          <p:cNvPr id="17" name="文本框 16"/>
          <p:cNvSpPr txBox="1"/>
          <p:nvPr/>
        </p:nvSpPr>
        <p:spPr>
          <a:xfrm>
            <a:off x="7428865" y="5713095"/>
            <a:ext cx="4100195" cy="460375"/>
          </a:xfrm>
          <a:prstGeom prst="rect">
            <a:avLst/>
          </a:prstGeom>
          <a:noFill/>
        </p:spPr>
        <p:txBody>
          <a:bodyPr wrap="square" rtlCol="0">
            <a:spAutoFit/>
          </a:bodyPr>
          <a:lstStyle/>
          <a:p>
            <a:pPr algn="ctr"/>
            <a:r>
              <a:rPr lang="zh-CN" altLang="en-US" sz="24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项目目标</a:t>
            </a:r>
          </a:p>
        </p:txBody>
      </p:sp>
      <p:sp>
        <p:nvSpPr>
          <p:cNvPr id="18" name="文本框 17"/>
          <p:cNvSpPr txBox="1"/>
          <p:nvPr/>
        </p:nvSpPr>
        <p:spPr>
          <a:xfrm>
            <a:off x="1511935" y="5796280"/>
            <a:ext cx="2888615" cy="460375"/>
          </a:xfrm>
          <a:prstGeom prst="rect">
            <a:avLst/>
          </a:prstGeom>
          <a:noFill/>
        </p:spPr>
        <p:txBody>
          <a:bodyPr wrap="square" rtlCol="0">
            <a:spAutoFit/>
          </a:bodyPr>
          <a:lstStyle/>
          <a:p>
            <a:pPr algn="ctr"/>
            <a:r>
              <a:rPr lang="zh-CN" altLang="en-US" sz="24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解决方案</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1000"/>
                                        <p:tgtEl>
                                          <p:spTgt spid="50"/>
                                        </p:tgtEl>
                                      </p:cBhvr>
                                    </p:animEffect>
                                    <p:anim calcmode="lin" valueType="num">
                                      <p:cBhvr>
                                        <p:cTn id="8" dur="1000" fill="hold"/>
                                        <p:tgtEl>
                                          <p:spTgt spid="50"/>
                                        </p:tgtEl>
                                        <p:attrNameLst>
                                          <p:attrName>ppt_x</p:attrName>
                                        </p:attrNameLst>
                                      </p:cBhvr>
                                      <p:tavLst>
                                        <p:tav tm="0">
                                          <p:val>
                                            <p:strVal val="#ppt_x"/>
                                          </p:val>
                                        </p:tav>
                                        <p:tav tm="100000">
                                          <p:val>
                                            <p:strVal val="#ppt_x"/>
                                          </p:val>
                                        </p:tav>
                                      </p:tavLst>
                                    </p:anim>
                                    <p:anim calcmode="lin" valueType="num">
                                      <p:cBhvr>
                                        <p:cTn id="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
                                            <p:txEl>
                                              <p:pRg st="0" end="0"/>
                                            </p:txEl>
                                          </p:spTgt>
                                        </p:tgtEl>
                                        <p:attrNameLst>
                                          <p:attrName>style.visibility</p:attrName>
                                        </p:attrNameLst>
                                      </p:cBhvr>
                                      <p:to>
                                        <p:strVal val="visible"/>
                                      </p:to>
                                    </p:set>
                                    <p:animEffect transition="in" filter="fade">
                                      <p:cBhvr>
                                        <p:cTn id="24" dur="1000"/>
                                        <p:tgtEl>
                                          <p:spTgt spid="18">
                                            <p:txEl>
                                              <p:pRg st="0" end="0"/>
                                            </p:txEl>
                                          </p:spTgt>
                                        </p:tgtEl>
                                      </p:cBhvr>
                                    </p:animEffect>
                                    <p:anim calcmode="lin" valueType="num">
                                      <p:cBhvr>
                                        <p:cTn id="25"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7">
                                            <p:txEl>
                                              <p:pRg st="0" end="0"/>
                                            </p:txEl>
                                          </p:spTgt>
                                        </p:tgtEl>
                                        <p:attrNameLst>
                                          <p:attrName>style.visibility</p:attrName>
                                        </p:attrNameLst>
                                      </p:cBhvr>
                                      <p:to>
                                        <p:strVal val="visible"/>
                                      </p:to>
                                    </p:set>
                                    <p:animEffect transition="in" filter="fade">
                                      <p:cBhvr>
                                        <p:cTn id="41" dur="1000"/>
                                        <p:tgtEl>
                                          <p:spTgt spid="17">
                                            <p:txEl>
                                              <p:pRg st="0" end="0"/>
                                            </p:txEl>
                                          </p:spTgt>
                                        </p:tgtEl>
                                      </p:cBhvr>
                                    </p:animEffect>
                                    <p:anim calcmode="lin" valueType="num">
                                      <p:cBhvr>
                                        <p:cTn id="42"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9" grpId="0" animBg="1"/>
      <p:bldP spid="9" grpId="1" animBg="1"/>
      <p:bldP spid="11" grpId="0" animBg="1"/>
      <p:bldP spid="11"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473289" y="371367"/>
            <a:ext cx="4260761" cy="787074"/>
            <a:chOff x="7318011" y="1456480"/>
            <a:chExt cx="4260761" cy="787074"/>
          </a:xfrm>
        </p:grpSpPr>
        <p:sp>
          <p:nvSpPr>
            <p:cNvPr id="18" name="文本框 17"/>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总体架构</a:t>
              </a:r>
            </a:p>
          </p:txBody>
        </p:sp>
        <p:sp>
          <p:nvSpPr>
            <p:cNvPr id="19" name="文本框 18"/>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OVERALL ARCHITECTURE</a:t>
              </a:r>
            </a:p>
          </p:txBody>
        </p:sp>
      </p:grpSp>
      <p:grpSp>
        <p:nvGrpSpPr>
          <p:cNvPr id="10" name="组合 70"/>
          <p:cNvGrpSpPr/>
          <p:nvPr/>
        </p:nvGrpSpPr>
        <p:grpSpPr>
          <a:xfrm>
            <a:off x="201200" y="1710267"/>
            <a:ext cx="3402469" cy="4729049"/>
            <a:chOff x="1867327" y="2349127"/>
            <a:chExt cx="3861207" cy="2495224"/>
          </a:xfrm>
        </p:grpSpPr>
        <p:sp>
          <p:nvSpPr>
            <p:cNvPr id="11" name="文本框 10"/>
            <p:cNvSpPr txBox="1"/>
            <p:nvPr/>
          </p:nvSpPr>
          <p:spPr>
            <a:xfrm>
              <a:off x="1867328" y="2349127"/>
              <a:ext cx="2133781" cy="194873"/>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系统技术框架</a:t>
              </a:r>
            </a:p>
          </p:txBody>
        </p:sp>
        <p:sp>
          <p:nvSpPr>
            <p:cNvPr id="12" name="文本框 11"/>
            <p:cNvSpPr txBox="1"/>
            <p:nvPr/>
          </p:nvSpPr>
          <p:spPr>
            <a:xfrm>
              <a:off x="1867327" y="2602969"/>
              <a:ext cx="3861207" cy="2241382"/>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400" dirty="0"/>
                <a:t>        </a:t>
              </a:r>
              <a:r>
                <a:rPr lang="zh-CN" altLang="zh-CN" sz="1400" dirty="0"/>
                <a:t>本职途罗盘采用前后端分离架构，将系统划分为</a:t>
              </a:r>
              <a:r>
                <a:rPr lang="zh-CN" altLang="zh-CN" sz="1400" b="1" dirty="0"/>
                <a:t>表现层、业务层、服务层和数据层</a:t>
              </a:r>
              <a:r>
                <a:rPr lang="zh-CN" altLang="zh-CN" sz="1400" dirty="0"/>
                <a:t>四个主要层次。各层之间通过标准化的</a:t>
              </a:r>
              <a:r>
                <a:rPr lang="en-US" altLang="zh-CN" sz="1400" dirty="0"/>
                <a:t>API</a:t>
              </a:r>
              <a:r>
                <a:rPr lang="zh-CN" altLang="zh-CN" sz="1400" dirty="0"/>
                <a:t>接口进行通信，实现系统的模块化、可扩展化以及安全化。</a:t>
              </a:r>
              <a:endParaRPr lang="en-US" altLang="zh-CN" sz="1400" dirty="0"/>
            </a:p>
            <a:p>
              <a:pPr>
                <a:lnSpc>
                  <a:spcPct val="114000"/>
                </a:lnSpc>
              </a:pPr>
              <a:r>
                <a:rPr lang="en-US" altLang="zh-CN" sz="1400" dirty="0"/>
                <a:t>        </a:t>
              </a:r>
              <a:r>
                <a:rPr lang="zh-CN" altLang="zh-CN" sz="1400" dirty="0"/>
                <a:t>系统的四个层次各有明确的职责定位。</a:t>
              </a:r>
              <a:r>
                <a:rPr lang="zh-CN" altLang="zh-CN" sz="1400" b="1" dirty="0"/>
                <a:t>表现层（前端）</a:t>
              </a:r>
              <a:r>
                <a:rPr lang="zh-CN" altLang="zh-CN" sz="1400" dirty="0"/>
                <a:t>负责用户界面的渲染和交互逻辑处理，采用</a:t>
              </a:r>
              <a:r>
                <a:rPr lang="en-US" altLang="zh-CN" sz="1400" dirty="0"/>
                <a:t>React SPA</a:t>
              </a:r>
              <a:r>
                <a:rPr lang="zh-CN" altLang="zh-CN" sz="1400" dirty="0"/>
                <a:t>架构，为求职</a:t>
              </a:r>
              <a:r>
                <a:rPr lang="en-US" altLang="zh-CN" sz="1400" dirty="0"/>
                <a:t>APP</a:t>
              </a:r>
              <a:r>
                <a:rPr lang="zh-CN" altLang="zh-CN" sz="1400" dirty="0"/>
                <a:t>用户提供直观的操作入口和流畅的使用体验。</a:t>
              </a:r>
              <a:r>
                <a:rPr lang="zh-CN" altLang="zh-CN" sz="1400" b="1" dirty="0"/>
                <a:t>服务层（后端）</a:t>
              </a:r>
              <a:r>
                <a:rPr lang="zh-CN" altLang="zh-CN" sz="1400" dirty="0"/>
                <a:t>负责处理前端请求、调用</a:t>
              </a:r>
              <a:r>
                <a:rPr lang="en-US" altLang="zh-CN" sz="1400" dirty="0"/>
                <a:t>AI</a:t>
              </a:r>
              <a:r>
                <a:rPr lang="zh-CN" altLang="zh-CN" sz="1400" dirty="0"/>
                <a:t>能力、执行数据处理和返回结果，是系统的业务逻辑中枢。</a:t>
              </a:r>
              <a:r>
                <a:rPr lang="en-US" altLang="zh-CN" sz="1400" b="1" dirty="0"/>
                <a:t>AI</a:t>
              </a:r>
              <a:r>
                <a:rPr lang="zh-CN" altLang="zh-CN" sz="1400" b="1" dirty="0"/>
                <a:t>能力层</a:t>
              </a:r>
              <a:r>
                <a:rPr lang="zh-CN" altLang="zh-CN" sz="1400" dirty="0"/>
                <a:t>是系统的智能核心，将大模型的自然语言理解、推理分析能力与结构化数据相结合，生成个性化的职业规划建议。</a:t>
              </a:r>
              <a:r>
                <a:rPr lang="zh-CN" altLang="zh-CN" sz="1400" b="1" dirty="0"/>
                <a:t>数据层</a:t>
              </a:r>
              <a:r>
                <a:rPr lang="zh-CN" altLang="zh-CN" sz="1400" dirty="0"/>
                <a:t>负责岗位数据的存储、管理和检索，为上层业务提供数据支撑。</a:t>
              </a:r>
              <a:endParaRPr lang="zh-CN" altLang="en-US" sz="1050" dirty="0">
                <a:solidFill>
                  <a:schemeClr val="tx1">
                    <a:lumMod val="65000"/>
                    <a:lumOff val="35000"/>
                  </a:schemeClr>
                </a:solidFill>
                <a:latin typeface="Century Gothic" panose="020B0502020202020204" pitchFamily="34" charset="0"/>
                <a:ea typeface="+mj-ea"/>
              </a:endParaRPr>
            </a:p>
          </p:txBody>
        </p:sp>
      </p:gr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03625" y="1494790"/>
            <a:ext cx="8257540" cy="4578350"/>
          </a:xfrm>
          <a:prstGeom prst="rect">
            <a:avLst/>
          </a:prstGeom>
        </p:spPr>
      </p:pic>
      <p:sp>
        <p:nvSpPr>
          <p:cNvPr id="5" name="文本框 4"/>
          <p:cNvSpPr txBox="1"/>
          <p:nvPr/>
        </p:nvSpPr>
        <p:spPr>
          <a:xfrm>
            <a:off x="4656221" y="5991726"/>
            <a:ext cx="6063916" cy="523220"/>
          </a:xfrm>
          <a:prstGeom prst="rect">
            <a:avLst/>
          </a:prstGeom>
          <a:noFill/>
        </p:spPr>
        <p:txBody>
          <a:bodyPr wrap="square" rtlCol="0">
            <a:spAutoFit/>
          </a:bodyPr>
          <a:lstStyle/>
          <a:p>
            <a:pPr algn="ctr"/>
            <a:r>
              <a:rPr lang="zh-CN" altLang="en-US" sz="2800" b="1" dirty="0">
                <a:solidFill>
                  <a:schemeClr val="accent5"/>
                </a:solidFill>
              </a:rPr>
              <a:t>职途罗盘</a:t>
            </a:r>
            <a:r>
              <a:rPr lang="en-US" altLang="zh-CN" sz="2800" b="1" dirty="0">
                <a:solidFill>
                  <a:schemeClr val="accent5"/>
                </a:solidFill>
              </a:rPr>
              <a:t>——</a:t>
            </a:r>
            <a:r>
              <a:rPr lang="zh-CN" altLang="en-US" sz="2800" b="1" dirty="0">
                <a:solidFill>
                  <a:schemeClr val="accent5"/>
                </a:solidFill>
              </a:rPr>
              <a:t>系统架构图展示</a:t>
            </a:r>
          </a:p>
        </p:txBody>
      </p:sp>
      <p:grpSp>
        <p:nvGrpSpPr>
          <p:cNvPr id="3" name="组合 2"/>
          <p:cNvGrpSpPr/>
          <p:nvPr/>
        </p:nvGrpSpPr>
        <p:grpSpPr>
          <a:xfrm>
            <a:off x="419100" y="259080"/>
            <a:ext cx="923925" cy="923290"/>
            <a:chOff x="660" y="408"/>
            <a:chExt cx="1455" cy="1454"/>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02</a:t>
              </a:r>
              <a:endParaRPr lang="zh-CN" altLang="en-US" sz="4000" dirty="0">
                <a:solidFill>
                  <a:schemeClr val="accent1"/>
                </a:solidFill>
                <a:latin typeface="Century Gothic" panose="020B0502020202020204" pitchFamily="34" charset="0"/>
              </a:endParaRPr>
            </a:p>
          </p:txBody>
        </p:sp>
      </p:grpSp>
      <p:pic>
        <p:nvPicPr>
          <p:cNvPr id="8" name="图片 7"/>
          <p:cNvPicPr>
            <a:picLocks noChangeAspect="1"/>
          </p:cNvPicPr>
          <p:nvPr/>
        </p:nvPicPr>
        <p:blipFill>
          <a:blip r:embed="rId4"/>
          <a:stretch>
            <a:fillRect/>
          </a:stretch>
        </p:blipFill>
        <p:spPr>
          <a:xfrm>
            <a:off x="4486275" y="422910"/>
            <a:ext cx="7705725" cy="297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24"/>
          <p:cNvGrpSpPr/>
          <p:nvPr/>
        </p:nvGrpSpPr>
        <p:grpSpPr>
          <a:xfrm>
            <a:off x="1473289" y="371367"/>
            <a:ext cx="4260761" cy="787074"/>
            <a:chOff x="7318011" y="1456480"/>
            <a:chExt cx="4260761" cy="787074"/>
          </a:xfrm>
        </p:grpSpPr>
        <p:sp>
          <p:nvSpPr>
            <p:cNvPr id="42" name="文本框 41"/>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功能模块</a:t>
              </a:r>
            </a:p>
          </p:txBody>
        </p:sp>
        <p:sp>
          <p:nvSpPr>
            <p:cNvPr id="43" name="文本框 42"/>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FUNCTION MODULE</a:t>
              </a:r>
            </a:p>
          </p:txBody>
        </p:sp>
      </p:grpSp>
      <p:pic>
        <p:nvPicPr>
          <p:cNvPr id="4" name="图片 3"/>
          <p:cNvPicPr>
            <a:picLocks noChangeAspect="1"/>
          </p:cNvPicPr>
          <p:nvPr/>
        </p:nvPicPr>
        <p:blipFill>
          <a:blip r:embed="rId2"/>
          <a:stretch>
            <a:fillRect/>
          </a:stretch>
        </p:blipFill>
        <p:spPr>
          <a:xfrm>
            <a:off x="257386" y="1226335"/>
            <a:ext cx="11602721" cy="5355346"/>
          </a:xfrm>
          <a:prstGeom prst="rect">
            <a:avLst/>
          </a:prstGeom>
        </p:spPr>
      </p:pic>
      <p:grpSp>
        <p:nvGrpSpPr>
          <p:cNvPr id="3" name="组合 2"/>
          <p:cNvGrpSpPr/>
          <p:nvPr/>
        </p:nvGrpSpPr>
        <p:grpSpPr>
          <a:xfrm>
            <a:off x="419100" y="259080"/>
            <a:ext cx="923925" cy="923290"/>
            <a:chOff x="660" y="408"/>
            <a:chExt cx="1455" cy="1454"/>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02</a:t>
              </a:r>
              <a:endParaRPr lang="zh-CN" altLang="en-US" sz="4000" dirty="0">
                <a:solidFill>
                  <a:schemeClr val="accent1"/>
                </a:solidFill>
                <a:latin typeface="Century Gothic" panose="020B0502020202020204" pitchFamily="34" charset="0"/>
              </a:endParaRPr>
            </a:p>
          </p:txBody>
        </p:sp>
      </p:grpSp>
      <p:pic>
        <p:nvPicPr>
          <p:cNvPr id="8" name="图片 7"/>
          <p:cNvPicPr>
            <a:picLocks noChangeAspect="1"/>
          </p:cNvPicPr>
          <p:nvPr/>
        </p:nvPicPr>
        <p:blipFill>
          <a:blip r:embed="rId3"/>
          <a:stretch>
            <a:fillRect/>
          </a:stretch>
        </p:blipFill>
        <p:spPr>
          <a:xfrm>
            <a:off x="4486275" y="422910"/>
            <a:ext cx="7705725" cy="297815"/>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24"/>
          <p:cNvGrpSpPr/>
          <p:nvPr/>
        </p:nvGrpSpPr>
        <p:grpSpPr>
          <a:xfrm>
            <a:off x="1473289" y="371367"/>
            <a:ext cx="4260761" cy="787074"/>
            <a:chOff x="7318011" y="1456480"/>
            <a:chExt cx="4260761" cy="787074"/>
          </a:xfrm>
        </p:grpSpPr>
        <p:sp>
          <p:nvSpPr>
            <p:cNvPr id="42" name="文本框 41"/>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200" b="1" dirty="0">
                  <a:solidFill>
                    <a:prstClr val="black">
                      <a:lumMod val="85000"/>
                      <a:lumOff val="15000"/>
                    </a:prstClr>
                  </a:solidFill>
                  <a:latin typeface="Arial" panose="020B0604020202020204"/>
                  <a:ea typeface="微软雅黑" panose="020B0503020204020204" pitchFamily="34" charset="-122"/>
                </a:rPr>
                <a:t>流程设计</a:t>
              </a:r>
              <a:endParaRPr kumimoji="0" lang="zh-CN" altLang="en-US" sz="3200" b="1" i="0" u="none" strike="noStrike" kern="1200" cap="none" spc="0" normalizeH="0" baseline="0" noProof="0" dirty="0">
                <a:ln>
                  <a:noFill/>
                </a:ln>
                <a:solidFill>
                  <a:prstClr val="black">
                    <a:lumMod val="85000"/>
                    <a:lumOff val="15000"/>
                  </a:prstClr>
                </a:solidFill>
                <a:effectLst/>
                <a:uLnTx/>
                <a:uFillTx/>
                <a:latin typeface="Arial" panose="020B0604020202020204"/>
                <a:ea typeface="微软雅黑" panose="020B0503020204020204" pitchFamily="34" charset="-122"/>
                <a:cs typeface="+mn-cs"/>
              </a:endParaRPr>
            </a:p>
          </p:txBody>
        </p:sp>
        <p:sp>
          <p:nvSpPr>
            <p:cNvPr id="43" name="文本框 42"/>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lang="en-US" altLang="zh-CN" sz="1050" dirty="0">
                  <a:solidFill>
                    <a:prstClr val="white">
                      <a:lumMod val="65000"/>
                    </a:prstClr>
                  </a:solidFill>
                  <a:latin typeface="Century Gothic" panose="020B0502020202020204" pitchFamily="34" charset="0"/>
                  <a:ea typeface="微软雅黑" panose="020B0503020204020204" pitchFamily="34" charset="-122"/>
                </a:rPr>
                <a:t>PROCESS DESIGN</a:t>
              </a:r>
              <a:endParaRPr kumimoji="0" lang="en-US" altLang="zh-CN" sz="1050" b="0" i="0" u="none" strike="noStrike" kern="1200" cap="none" spc="0" normalizeH="0" baseline="0" noProof="0" dirty="0">
                <a:ln>
                  <a:noFill/>
                </a:ln>
                <a:solidFill>
                  <a:prstClr val="white">
                    <a:lumMod val="65000"/>
                  </a:prstClr>
                </a:solidFill>
                <a:effectLst/>
                <a:uLnTx/>
                <a:uFillTx/>
                <a:latin typeface="Century Gothic" panose="020B0502020202020204" pitchFamily="34" charset="0"/>
                <a:ea typeface="微软雅黑" panose="020B0503020204020204" pitchFamily="34" charset="-122"/>
                <a:cs typeface="+mn-cs"/>
              </a:endParaRPr>
            </a:p>
          </p:txBody>
        </p:sp>
      </p:grpSp>
      <p:pic>
        <p:nvPicPr>
          <p:cNvPr id="3" name="图片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66620" y="1183005"/>
            <a:ext cx="7926705" cy="5715635"/>
          </a:xfrm>
          <a:prstGeom prst="rect">
            <a:avLst/>
          </a:prstGeom>
        </p:spPr>
      </p:pic>
      <p:pic>
        <p:nvPicPr>
          <p:cNvPr id="2" name="图片 1" descr="信息网页"/>
          <p:cNvPicPr>
            <a:picLocks noChangeAspect="1"/>
          </p:cNvPicPr>
          <p:nvPr>
            <p:custDataLst>
              <p:tags r:id="rId1"/>
            </p:custDataLst>
          </p:nvPr>
        </p:nvPicPr>
        <p:blipFill>
          <a:blip>
            <a:extLst>
              <a:ext uri="{96DAC541-7B7A-43D3-8B79-37D633B846F1}">
                <asvg:svgBlip xmlns:asvg="http://schemas.microsoft.com/office/drawing/2016/SVG/main" r:embed="rId8"/>
              </a:ext>
            </a:extLst>
          </a:blip>
          <a:stretch>
            <a:fillRect/>
          </a:stretch>
        </p:blipFill>
        <p:spPr>
          <a:xfrm>
            <a:off x="871855" y="1395730"/>
            <a:ext cx="914400" cy="914400"/>
          </a:xfrm>
          <a:prstGeom prst="rect">
            <a:avLst/>
          </a:prstGeom>
        </p:spPr>
      </p:pic>
      <p:pic>
        <p:nvPicPr>
          <p:cNvPr id="4" name="图片 3" descr="目标人群"/>
          <p:cNvPicPr>
            <a:picLocks noChangeAspect="1"/>
          </p:cNvPicPr>
          <p:nvPr>
            <p:custDataLst>
              <p:tags r:id="rId2"/>
            </p:custDataLst>
          </p:nvPr>
        </p:nvPicPr>
        <p:blipFill>
          <a:blip>
            <a:extLst>
              <a:ext uri="{96DAC541-7B7A-43D3-8B79-37D633B846F1}">
                <asvg:svgBlip xmlns:asvg="http://schemas.microsoft.com/office/drawing/2016/SVG/main" r:embed="rId9"/>
              </a:ext>
            </a:extLst>
          </a:blip>
          <a:stretch>
            <a:fillRect/>
          </a:stretch>
        </p:blipFill>
        <p:spPr>
          <a:xfrm>
            <a:off x="10454005" y="2407920"/>
            <a:ext cx="1021080" cy="1021080"/>
          </a:xfrm>
          <a:prstGeom prst="rect">
            <a:avLst/>
          </a:prstGeom>
        </p:spPr>
      </p:pic>
      <p:pic>
        <p:nvPicPr>
          <p:cNvPr id="5" name="图片 4" descr="放大镜"/>
          <p:cNvPicPr>
            <a:picLocks noChangeAspect="1"/>
          </p:cNvPicPr>
          <p:nvPr>
            <p:custDataLst>
              <p:tags r:id="rId3"/>
            </p:custDataLst>
          </p:nvPr>
        </p:nvPicPr>
        <p:blipFill>
          <a:blip>
            <a:extLst>
              <a:ext uri="{96DAC541-7B7A-43D3-8B79-37D633B846F1}">
                <asvg:svgBlip xmlns:asvg="http://schemas.microsoft.com/office/drawing/2016/SVG/main" r:embed="rId10"/>
              </a:ext>
            </a:extLst>
          </a:blip>
          <a:stretch>
            <a:fillRect/>
          </a:stretch>
        </p:blipFill>
        <p:spPr>
          <a:xfrm>
            <a:off x="861695" y="3513455"/>
            <a:ext cx="934085" cy="934085"/>
          </a:xfrm>
          <a:prstGeom prst="rect">
            <a:avLst/>
          </a:prstGeom>
        </p:spPr>
      </p:pic>
      <p:pic>
        <p:nvPicPr>
          <p:cNvPr id="6" name="图片 5" descr="对应"/>
          <p:cNvPicPr>
            <a:picLocks noChangeAspect="1"/>
          </p:cNvPicPr>
          <p:nvPr>
            <p:custDataLst>
              <p:tags r:id="rId4"/>
            </p:custDataLst>
          </p:nvPr>
        </p:nvPicPr>
        <p:blipFill>
          <a:blip>
            <a:extLst>
              <a:ext uri="{96DAC541-7B7A-43D3-8B79-37D633B846F1}">
                <asvg:svgBlip xmlns:asvg="http://schemas.microsoft.com/office/drawing/2016/SVG/main" r:embed="rId11"/>
              </a:ext>
            </a:extLst>
          </a:blip>
          <a:stretch>
            <a:fillRect/>
          </a:stretch>
        </p:blipFill>
        <p:spPr>
          <a:xfrm>
            <a:off x="10513060" y="4654550"/>
            <a:ext cx="914400" cy="914400"/>
          </a:xfrm>
          <a:prstGeom prst="rect">
            <a:avLst/>
          </a:prstGeom>
        </p:spPr>
      </p:pic>
      <p:pic>
        <p:nvPicPr>
          <p:cNvPr id="7" name="图片 6" descr="数据报告"/>
          <p:cNvPicPr>
            <a:picLocks noChangeAspect="1"/>
          </p:cNvPicPr>
          <p:nvPr>
            <p:custDataLst>
              <p:tags r:id="rId5"/>
            </p:custDataLst>
          </p:nvPr>
        </p:nvPicPr>
        <p:blipFill>
          <a:blip>
            <a:extLst>
              <a:ext uri="{96DAC541-7B7A-43D3-8B79-37D633B846F1}">
                <asvg:svgBlip xmlns:asvg="http://schemas.microsoft.com/office/drawing/2016/SVG/main" r:embed="rId12"/>
              </a:ext>
            </a:extLst>
          </a:blip>
          <a:stretch>
            <a:fillRect/>
          </a:stretch>
        </p:blipFill>
        <p:spPr>
          <a:xfrm>
            <a:off x="890905" y="5573395"/>
            <a:ext cx="914400" cy="914400"/>
          </a:xfrm>
          <a:prstGeom prst="rect">
            <a:avLst/>
          </a:prstGeom>
        </p:spPr>
      </p:pic>
      <p:grpSp>
        <p:nvGrpSpPr>
          <p:cNvPr id="8" name="组合 7"/>
          <p:cNvGrpSpPr/>
          <p:nvPr/>
        </p:nvGrpSpPr>
        <p:grpSpPr>
          <a:xfrm>
            <a:off x="419100" y="259080"/>
            <a:ext cx="923925" cy="923290"/>
            <a:chOff x="660" y="408"/>
            <a:chExt cx="1455" cy="1454"/>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02</a:t>
              </a:r>
              <a:endParaRPr lang="zh-CN" altLang="en-US" sz="4000" dirty="0">
                <a:solidFill>
                  <a:schemeClr val="accent1"/>
                </a:solidFill>
                <a:latin typeface="Century Gothic" panose="020B0502020202020204" pitchFamily="34" charset="0"/>
              </a:endParaRPr>
            </a:p>
          </p:txBody>
        </p:sp>
      </p:grpSp>
      <p:pic>
        <p:nvPicPr>
          <p:cNvPr id="10" name="图片 9"/>
          <p:cNvPicPr>
            <a:picLocks noChangeAspect="1"/>
          </p:cNvPicPr>
          <p:nvPr/>
        </p:nvPicPr>
        <p:blipFill>
          <a:blip r:embed="rId13"/>
          <a:stretch>
            <a:fillRect/>
          </a:stretch>
        </p:blipFill>
        <p:spPr>
          <a:xfrm>
            <a:off x="4486275" y="422910"/>
            <a:ext cx="7705725" cy="297815"/>
          </a:xfrm>
          <a:prstGeom prst="rect">
            <a:avLst/>
          </a:prstGeom>
        </p:spPr>
      </p:pic>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iślíďé"/>
          <p:cNvGrpSpPr/>
          <p:nvPr>
            <p:custDataLst>
              <p:tags r:id="rId1"/>
            </p:custDataLst>
          </p:nvPr>
        </p:nvGrpSpPr>
        <p:grpSpPr>
          <a:xfrm>
            <a:off x="4265088" y="1710267"/>
            <a:ext cx="3648204" cy="3870324"/>
            <a:chOff x="3872920" y="1852424"/>
            <a:chExt cx="4036217" cy="4281963"/>
          </a:xfrm>
        </p:grpSpPr>
        <p:grpSp>
          <p:nvGrpSpPr>
            <p:cNvPr id="40" name="ïṥḻiḑé"/>
            <p:cNvGrpSpPr/>
            <p:nvPr/>
          </p:nvGrpSpPr>
          <p:grpSpPr>
            <a:xfrm>
              <a:off x="3872920" y="4112842"/>
              <a:ext cx="4036217" cy="2021545"/>
              <a:chOff x="4063207" y="4258807"/>
              <a:chExt cx="4184973" cy="2090400"/>
            </a:xfrm>
          </p:grpSpPr>
          <p:sp>
            <p:nvSpPr>
              <p:cNvPr id="56" name="îŝḻîḍè"/>
              <p:cNvSpPr/>
              <p:nvPr>
                <p:custDataLst>
                  <p:tags r:id="rId26"/>
                </p:custDataLst>
              </p:nvPr>
            </p:nvSpPr>
            <p:spPr bwMode="auto">
              <a:xfrm>
                <a:off x="6155277" y="4747818"/>
                <a:ext cx="2092903" cy="1601389"/>
              </a:xfrm>
              <a:custGeom>
                <a:avLst/>
                <a:gdLst>
                  <a:gd name="T0" fmla="*/ 1990605 w 21600"/>
                  <a:gd name="T1" fmla="*/ 1523119 h 21600"/>
                  <a:gd name="T2" fmla="*/ 1990605 w 21600"/>
                  <a:gd name="T3" fmla="*/ 1523119 h 21600"/>
                  <a:gd name="T4" fmla="*/ 1990605 w 21600"/>
                  <a:gd name="T5" fmla="*/ 1523119 h 21600"/>
                  <a:gd name="T6" fmla="*/ 1990605 w 21600"/>
                  <a:gd name="T7" fmla="*/ 15231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6858" y="0"/>
                    </a:moveTo>
                    <a:lnTo>
                      <a:pt x="0" y="8486"/>
                    </a:lnTo>
                    <a:lnTo>
                      <a:pt x="0" y="21599"/>
                    </a:lnTo>
                    <a:lnTo>
                      <a:pt x="21599" y="10727"/>
                    </a:lnTo>
                    <a:lnTo>
                      <a:pt x="16858" y="0"/>
                    </a:lnTo>
                    <a:close/>
                  </a:path>
                </a:pathLst>
              </a:custGeom>
              <a:solidFill>
                <a:schemeClr val="accent1">
                  <a:lumMod val="75000"/>
                </a:schemeClr>
              </a:solidFill>
              <a:ln>
                <a:noFill/>
              </a:ln>
              <a:effectLst/>
            </p:spPr>
            <p:txBody>
              <a:bodyPr anchor="ctr"/>
              <a:lstStyle/>
              <a:p>
                <a:pPr algn="ctr"/>
                <a:endParaRPr/>
              </a:p>
            </p:txBody>
          </p:sp>
          <p:sp>
            <p:nvSpPr>
              <p:cNvPr id="57" name="îšlíḋé"/>
              <p:cNvSpPr/>
              <p:nvPr>
                <p:custDataLst>
                  <p:tags r:id="rId27"/>
                </p:custDataLst>
              </p:nvPr>
            </p:nvSpPr>
            <p:spPr bwMode="auto">
              <a:xfrm>
                <a:off x="4519674" y="4258807"/>
                <a:ext cx="3272039" cy="1136576"/>
              </a:xfrm>
              <a:custGeom>
                <a:avLst/>
                <a:gdLst>
                  <a:gd name="T0" fmla="*/ 3112106 w 21600"/>
                  <a:gd name="T1" fmla="*/ 1081025 h 21600"/>
                  <a:gd name="T2" fmla="*/ 3112106 w 21600"/>
                  <a:gd name="T3" fmla="*/ 1081025 h 21600"/>
                  <a:gd name="T4" fmla="*/ 3112106 w 21600"/>
                  <a:gd name="T5" fmla="*/ 1081025 h 21600"/>
                  <a:gd name="T6" fmla="*/ 3112106 w 21600"/>
                  <a:gd name="T7" fmla="*/ 10810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0" y="9469"/>
                    </a:lnTo>
                    <a:lnTo>
                      <a:pt x="10800" y="21600"/>
                    </a:lnTo>
                    <a:lnTo>
                      <a:pt x="21600" y="9469"/>
                    </a:lnTo>
                    <a:lnTo>
                      <a:pt x="10800" y="0"/>
                    </a:lnTo>
                    <a:close/>
                  </a:path>
                </a:pathLst>
              </a:custGeom>
              <a:solidFill>
                <a:schemeClr val="accent1">
                  <a:lumMod val="50000"/>
                </a:schemeClr>
              </a:solidFill>
              <a:ln>
                <a:noFill/>
              </a:ln>
              <a:effectLst/>
            </p:spPr>
            <p:txBody>
              <a:bodyPr anchor="ctr"/>
              <a:lstStyle/>
              <a:p>
                <a:pPr algn="ctr"/>
                <a:endParaRPr/>
              </a:p>
            </p:txBody>
          </p:sp>
          <p:sp>
            <p:nvSpPr>
              <p:cNvPr id="58" name="ïšlíḑe"/>
              <p:cNvSpPr/>
              <p:nvPr>
                <p:custDataLst>
                  <p:tags r:id="rId28"/>
                </p:custDataLst>
              </p:nvPr>
            </p:nvSpPr>
            <p:spPr bwMode="auto">
              <a:xfrm>
                <a:off x="4063207" y="4747818"/>
                <a:ext cx="2092903" cy="1601389"/>
              </a:xfrm>
              <a:custGeom>
                <a:avLst/>
                <a:gdLst>
                  <a:gd name="T0" fmla="*/ 1990605 w 21600"/>
                  <a:gd name="T1" fmla="*/ 1523119 h 21600"/>
                  <a:gd name="T2" fmla="*/ 1990605 w 21600"/>
                  <a:gd name="T3" fmla="*/ 1523119 h 21600"/>
                  <a:gd name="T4" fmla="*/ 1990605 w 21600"/>
                  <a:gd name="T5" fmla="*/ 1523119 h 21600"/>
                  <a:gd name="T6" fmla="*/ 1990605 w 21600"/>
                  <a:gd name="T7" fmla="*/ 15231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4741" y="0"/>
                    </a:moveTo>
                    <a:lnTo>
                      <a:pt x="0" y="10727"/>
                    </a:lnTo>
                    <a:lnTo>
                      <a:pt x="21599" y="21599"/>
                    </a:lnTo>
                    <a:lnTo>
                      <a:pt x="21599" y="8486"/>
                    </a:lnTo>
                    <a:lnTo>
                      <a:pt x="4741" y="0"/>
                    </a:lnTo>
                    <a:close/>
                  </a:path>
                </a:pathLst>
              </a:custGeom>
              <a:solidFill>
                <a:schemeClr val="accent1"/>
              </a:solidFill>
              <a:ln>
                <a:noFill/>
              </a:ln>
              <a:effectLst/>
            </p:spPr>
            <p:txBody>
              <a:bodyPr anchor="ctr"/>
              <a:lstStyle/>
              <a:p>
                <a:pPr algn="ctr"/>
                <a:endParaRPr/>
              </a:p>
            </p:txBody>
          </p:sp>
        </p:grpSp>
        <p:grpSp>
          <p:nvGrpSpPr>
            <p:cNvPr id="41" name="îṣ1îḋè"/>
            <p:cNvGrpSpPr/>
            <p:nvPr/>
          </p:nvGrpSpPr>
          <p:grpSpPr>
            <a:xfrm>
              <a:off x="4408133" y="3325204"/>
              <a:ext cx="2965796" cy="1674533"/>
              <a:chOff x="4618144" y="3444343"/>
              <a:chExt cx="3075100" cy="1731570"/>
            </a:xfrm>
          </p:grpSpPr>
          <p:sp>
            <p:nvSpPr>
              <p:cNvPr id="53" name="îšļïďé"/>
              <p:cNvSpPr/>
              <p:nvPr>
                <p:custDataLst>
                  <p:tags r:id="rId23"/>
                </p:custDataLst>
              </p:nvPr>
            </p:nvSpPr>
            <p:spPr bwMode="auto">
              <a:xfrm>
                <a:off x="5049576" y="3444343"/>
                <a:ext cx="2212236" cy="768567"/>
              </a:xfrm>
              <a:custGeom>
                <a:avLst/>
                <a:gdLst>
                  <a:gd name="T0" fmla="*/ 2104537 w 21600"/>
                  <a:gd name="T1" fmla="*/ 731139 h 21600"/>
                  <a:gd name="T2" fmla="*/ 2104537 w 21600"/>
                  <a:gd name="T3" fmla="*/ 731139 h 21600"/>
                  <a:gd name="T4" fmla="*/ 2104537 w 21600"/>
                  <a:gd name="T5" fmla="*/ 731139 h 21600"/>
                  <a:gd name="T6" fmla="*/ 2104537 w 21600"/>
                  <a:gd name="T7" fmla="*/ 73113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0" y="9469"/>
                    </a:lnTo>
                    <a:lnTo>
                      <a:pt x="10800" y="21600"/>
                    </a:lnTo>
                    <a:lnTo>
                      <a:pt x="21600" y="9469"/>
                    </a:lnTo>
                    <a:lnTo>
                      <a:pt x="10800" y="0"/>
                    </a:lnTo>
                    <a:close/>
                  </a:path>
                </a:pathLst>
              </a:custGeom>
              <a:solidFill>
                <a:schemeClr val="accent2">
                  <a:lumMod val="50000"/>
                </a:schemeClr>
              </a:solidFill>
              <a:ln>
                <a:noFill/>
              </a:ln>
              <a:effectLst/>
            </p:spPr>
            <p:txBody>
              <a:bodyPr anchor="ctr"/>
              <a:lstStyle/>
              <a:p>
                <a:pPr algn="ctr"/>
                <a:endParaRPr/>
              </a:p>
            </p:txBody>
          </p:sp>
          <p:sp>
            <p:nvSpPr>
              <p:cNvPr id="54" name="ïŝḻiḋê"/>
              <p:cNvSpPr/>
              <p:nvPr>
                <p:custDataLst>
                  <p:tags r:id="rId24"/>
                </p:custDataLst>
              </p:nvPr>
            </p:nvSpPr>
            <p:spPr bwMode="auto">
              <a:xfrm>
                <a:off x="6155277" y="3788988"/>
                <a:ext cx="1537967" cy="1386925"/>
              </a:xfrm>
              <a:custGeom>
                <a:avLst/>
                <a:gdLst>
                  <a:gd name="T0" fmla="*/ 1463094 w 21600"/>
                  <a:gd name="T1" fmla="*/ 1319385 h 21600"/>
                  <a:gd name="T2" fmla="*/ 1463094 w 21600"/>
                  <a:gd name="T3" fmla="*/ 1319385 h 21600"/>
                  <a:gd name="T4" fmla="*/ 1463094 w 21600"/>
                  <a:gd name="T5" fmla="*/ 1319385 h 21600"/>
                  <a:gd name="T6" fmla="*/ 1463094 w 21600"/>
                  <a:gd name="T7" fmla="*/ 13193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5151" y="0"/>
                    </a:moveTo>
                    <a:lnTo>
                      <a:pt x="0" y="6467"/>
                    </a:lnTo>
                    <a:lnTo>
                      <a:pt x="0" y="21599"/>
                    </a:lnTo>
                    <a:lnTo>
                      <a:pt x="21599" y="12378"/>
                    </a:lnTo>
                    <a:lnTo>
                      <a:pt x="15151" y="0"/>
                    </a:lnTo>
                    <a:close/>
                  </a:path>
                </a:pathLst>
              </a:custGeom>
              <a:solidFill>
                <a:schemeClr val="accent2">
                  <a:lumMod val="75000"/>
                </a:schemeClr>
              </a:solidFill>
              <a:ln>
                <a:noFill/>
              </a:ln>
              <a:effectLst/>
            </p:spPr>
            <p:txBody>
              <a:bodyPr anchor="ctr"/>
              <a:lstStyle/>
              <a:p>
                <a:pPr algn="ctr"/>
                <a:endParaRPr/>
              </a:p>
            </p:txBody>
          </p:sp>
          <p:sp>
            <p:nvSpPr>
              <p:cNvPr id="55" name="íṥlíďé"/>
              <p:cNvSpPr/>
              <p:nvPr>
                <p:custDataLst>
                  <p:tags r:id="rId25"/>
                </p:custDataLst>
              </p:nvPr>
            </p:nvSpPr>
            <p:spPr bwMode="auto">
              <a:xfrm>
                <a:off x="4618144" y="3788988"/>
                <a:ext cx="1537967" cy="1386925"/>
              </a:xfrm>
              <a:custGeom>
                <a:avLst/>
                <a:gdLst>
                  <a:gd name="T0" fmla="*/ 1463094 w 21600"/>
                  <a:gd name="T1" fmla="*/ 1319385 h 21600"/>
                  <a:gd name="T2" fmla="*/ 1463094 w 21600"/>
                  <a:gd name="T3" fmla="*/ 1319385 h 21600"/>
                  <a:gd name="T4" fmla="*/ 1463094 w 21600"/>
                  <a:gd name="T5" fmla="*/ 1319385 h 21600"/>
                  <a:gd name="T6" fmla="*/ 1463094 w 21600"/>
                  <a:gd name="T7" fmla="*/ 13193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6448" y="0"/>
                    </a:moveTo>
                    <a:lnTo>
                      <a:pt x="0" y="12378"/>
                    </a:lnTo>
                    <a:lnTo>
                      <a:pt x="21599" y="21599"/>
                    </a:lnTo>
                    <a:lnTo>
                      <a:pt x="21599" y="6467"/>
                    </a:lnTo>
                    <a:lnTo>
                      <a:pt x="6448" y="0"/>
                    </a:lnTo>
                    <a:close/>
                  </a:path>
                </a:pathLst>
              </a:custGeom>
              <a:solidFill>
                <a:schemeClr val="accent2"/>
              </a:solidFill>
              <a:ln>
                <a:noFill/>
              </a:ln>
              <a:effectLst/>
            </p:spPr>
            <p:txBody>
              <a:bodyPr anchor="ctr"/>
              <a:lstStyle/>
              <a:p>
                <a:pPr algn="ctr"/>
                <a:endParaRPr/>
              </a:p>
            </p:txBody>
          </p:sp>
        </p:grpSp>
        <p:grpSp>
          <p:nvGrpSpPr>
            <p:cNvPr id="42" name="ïSľïḑê"/>
            <p:cNvGrpSpPr/>
            <p:nvPr/>
          </p:nvGrpSpPr>
          <p:grpSpPr>
            <a:xfrm>
              <a:off x="4928055" y="2593252"/>
              <a:ext cx="1925955" cy="1301697"/>
              <a:chOff x="5157226" y="2687460"/>
              <a:chExt cx="1996937" cy="1346034"/>
            </a:xfrm>
          </p:grpSpPr>
          <p:sp>
            <p:nvSpPr>
              <p:cNvPr id="50" name="i$ḻídè"/>
              <p:cNvSpPr/>
              <p:nvPr>
                <p:custDataLst>
                  <p:tags r:id="rId20"/>
                </p:custDataLst>
              </p:nvPr>
            </p:nvSpPr>
            <p:spPr bwMode="auto">
              <a:xfrm>
                <a:off x="5595333" y="2687460"/>
                <a:ext cx="1120722" cy="388873"/>
              </a:xfrm>
              <a:custGeom>
                <a:avLst/>
                <a:gdLst>
                  <a:gd name="T0" fmla="*/ 1065832 w 21600"/>
                  <a:gd name="T1" fmla="*/ 370019 h 21600"/>
                  <a:gd name="T2" fmla="*/ 1065832 w 21600"/>
                  <a:gd name="T3" fmla="*/ 370019 h 21600"/>
                  <a:gd name="T4" fmla="*/ 1065832 w 21600"/>
                  <a:gd name="T5" fmla="*/ 370019 h 21600"/>
                  <a:gd name="T6" fmla="*/ 1065832 w 21600"/>
                  <a:gd name="T7" fmla="*/ 37001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lnTo>
                      <a:pt x="0" y="9469"/>
                    </a:lnTo>
                    <a:lnTo>
                      <a:pt x="10800" y="21600"/>
                    </a:lnTo>
                    <a:lnTo>
                      <a:pt x="21600" y="9469"/>
                    </a:lnTo>
                    <a:lnTo>
                      <a:pt x="10800" y="0"/>
                    </a:lnTo>
                    <a:close/>
                  </a:path>
                </a:pathLst>
              </a:custGeom>
              <a:solidFill>
                <a:schemeClr val="accent3">
                  <a:lumMod val="50000"/>
                </a:schemeClr>
              </a:solidFill>
              <a:ln>
                <a:noFill/>
              </a:ln>
              <a:effectLst/>
            </p:spPr>
            <p:txBody>
              <a:bodyPr anchor="ctr"/>
              <a:lstStyle/>
              <a:p>
                <a:pPr algn="ctr"/>
                <a:endParaRPr/>
              </a:p>
            </p:txBody>
          </p:sp>
          <p:sp>
            <p:nvSpPr>
              <p:cNvPr id="51" name="iŝľïḑê"/>
              <p:cNvSpPr/>
              <p:nvPr>
                <p:custDataLst>
                  <p:tags r:id="rId21"/>
                </p:custDataLst>
              </p:nvPr>
            </p:nvSpPr>
            <p:spPr bwMode="auto">
              <a:xfrm>
                <a:off x="6156111" y="2854358"/>
                <a:ext cx="998052" cy="1179136"/>
              </a:xfrm>
              <a:custGeom>
                <a:avLst/>
                <a:gdLst>
                  <a:gd name="T0" fmla="*/ 949170 w 21600"/>
                  <a:gd name="T1" fmla="*/ 1121967 h 21600"/>
                  <a:gd name="T2" fmla="*/ 949170 w 21600"/>
                  <a:gd name="T3" fmla="*/ 1121967 h 21600"/>
                  <a:gd name="T4" fmla="*/ 949170 w 21600"/>
                  <a:gd name="T5" fmla="*/ 1121967 h 21600"/>
                  <a:gd name="T6" fmla="*/ 949170 w 21600"/>
                  <a:gd name="T7" fmla="*/ 112196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661" y="0"/>
                    </a:moveTo>
                    <a:lnTo>
                      <a:pt x="0" y="3801"/>
                    </a:lnTo>
                    <a:lnTo>
                      <a:pt x="0" y="21600"/>
                    </a:lnTo>
                    <a:lnTo>
                      <a:pt x="21600" y="14559"/>
                    </a:lnTo>
                    <a:lnTo>
                      <a:pt x="11661" y="0"/>
                    </a:lnTo>
                    <a:close/>
                  </a:path>
                </a:pathLst>
              </a:custGeom>
              <a:solidFill>
                <a:schemeClr val="accent3">
                  <a:lumMod val="75000"/>
                </a:schemeClr>
              </a:solidFill>
              <a:ln>
                <a:noFill/>
              </a:ln>
              <a:effectLst/>
            </p:spPr>
            <p:txBody>
              <a:bodyPr anchor="ctr"/>
              <a:lstStyle/>
              <a:p>
                <a:pPr algn="ctr"/>
                <a:endParaRPr/>
              </a:p>
            </p:txBody>
          </p:sp>
          <p:sp>
            <p:nvSpPr>
              <p:cNvPr id="52" name="i$ḻíďè"/>
              <p:cNvSpPr/>
              <p:nvPr>
                <p:custDataLst>
                  <p:tags r:id="rId22"/>
                </p:custDataLst>
              </p:nvPr>
            </p:nvSpPr>
            <p:spPr bwMode="auto">
              <a:xfrm>
                <a:off x="5157226" y="2854358"/>
                <a:ext cx="998885" cy="1179136"/>
              </a:xfrm>
              <a:custGeom>
                <a:avLst/>
                <a:gdLst>
                  <a:gd name="T0" fmla="*/ 949963 w 21600"/>
                  <a:gd name="T1" fmla="*/ 1121967 h 21600"/>
                  <a:gd name="T2" fmla="*/ 949963 w 21600"/>
                  <a:gd name="T3" fmla="*/ 1121967 h 21600"/>
                  <a:gd name="T4" fmla="*/ 949963 w 21600"/>
                  <a:gd name="T5" fmla="*/ 1121967 h 21600"/>
                  <a:gd name="T6" fmla="*/ 949963 w 21600"/>
                  <a:gd name="T7" fmla="*/ 112196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9938" y="0"/>
                    </a:moveTo>
                    <a:lnTo>
                      <a:pt x="0" y="14559"/>
                    </a:lnTo>
                    <a:lnTo>
                      <a:pt x="21600" y="21600"/>
                    </a:lnTo>
                    <a:lnTo>
                      <a:pt x="21600" y="3801"/>
                    </a:lnTo>
                    <a:lnTo>
                      <a:pt x="9938" y="0"/>
                    </a:lnTo>
                    <a:close/>
                  </a:path>
                </a:pathLst>
              </a:custGeom>
              <a:solidFill>
                <a:schemeClr val="accent3"/>
              </a:solidFill>
              <a:ln>
                <a:noFill/>
              </a:ln>
              <a:effectLst/>
            </p:spPr>
            <p:txBody>
              <a:bodyPr anchor="ctr"/>
              <a:lstStyle/>
              <a:p>
                <a:pPr algn="ctr"/>
                <a:endParaRPr/>
              </a:p>
            </p:txBody>
          </p:sp>
        </p:grpSp>
        <p:grpSp>
          <p:nvGrpSpPr>
            <p:cNvPr id="43" name="i$ļíḋê"/>
            <p:cNvGrpSpPr/>
            <p:nvPr/>
          </p:nvGrpSpPr>
          <p:grpSpPr>
            <a:xfrm>
              <a:off x="5452798" y="1852424"/>
              <a:ext cx="876459" cy="928860"/>
              <a:chOff x="5701314" y="1921397"/>
              <a:chExt cx="908761" cy="960499"/>
            </a:xfrm>
          </p:grpSpPr>
          <p:sp>
            <p:nvSpPr>
              <p:cNvPr id="48" name="ïṧḷiḓé"/>
              <p:cNvSpPr/>
              <p:nvPr>
                <p:custDataLst>
                  <p:tags r:id="rId18"/>
                </p:custDataLst>
              </p:nvPr>
            </p:nvSpPr>
            <p:spPr bwMode="auto">
              <a:xfrm>
                <a:off x="6155278" y="1921397"/>
                <a:ext cx="454797" cy="960499"/>
              </a:xfrm>
              <a:custGeom>
                <a:avLst/>
                <a:gdLst>
                  <a:gd name="T0" fmla="*/ 432267 w 21600"/>
                  <a:gd name="T1" fmla="*/ 913958 h 21600"/>
                  <a:gd name="T2" fmla="*/ 432267 w 21600"/>
                  <a:gd name="T3" fmla="*/ 913958 h 21600"/>
                  <a:gd name="T4" fmla="*/ 432267 w 21600"/>
                  <a:gd name="T5" fmla="*/ 913958 h 21600"/>
                  <a:gd name="T6" fmla="*/ 432267 w 21600"/>
                  <a:gd name="T7" fmla="*/ 91395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0" y="21600"/>
                    </a:lnTo>
                    <a:lnTo>
                      <a:pt x="21599" y="17667"/>
                    </a:lnTo>
                    <a:lnTo>
                      <a:pt x="0" y="0"/>
                    </a:lnTo>
                    <a:close/>
                  </a:path>
                </a:pathLst>
              </a:custGeom>
              <a:solidFill>
                <a:schemeClr val="accent4">
                  <a:lumMod val="75000"/>
                </a:schemeClr>
              </a:solidFill>
              <a:ln>
                <a:noFill/>
              </a:ln>
              <a:effectLst/>
            </p:spPr>
            <p:txBody>
              <a:bodyPr anchor="ctr"/>
              <a:lstStyle/>
              <a:p>
                <a:pPr algn="ctr"/>
                <a:endParaRPr/>
              </a:p>
            </p:txBody>
          </p:sp>
          <p:sp>
            <p:nvSpPr>
              <p:cNvPr id="49" name="îṥļíďé"/>
              <p:cNvSpPr/>
              <p:nvPr>
                <p:custDataLst>
                  <p:tags r:id="rId19"/>
                </p:custDataLst>
              </p:nvPr>
            </p:nvSpPr>
            <p:spPr bwMode="auto">
              <a:xfrm>
                <a:off x="5701314" y="1921397"/>
                <a:ext cx="453964" cy="960499"/>
              </a:xfrm>
              <a:custGeom>
                <a:avLst/>
                <a:gdLst>
                  <a:gd name="T0" fmla="*/ 431474 w 21600"/>
                  <a:gd name="T1" fmla="*/ 913958 h 21600"/>
                  <a:gd name="T2" fmla="*/ 431474 w 21600"/>
                  <a:gd name="T3" fmla="*/ 913958 h 21600"/>
                  <a:gd name="T4" fmla="*/ 431474 w 21600"/>
                  <a:gd name="T5" fmla="*/ 913958 h 21600"/>
                  <a:gd name="T6" fmla="*/ 431474 w 21600"/>
                  <a:gd name="T7" fmla="*/ 91395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599" y="0"/>
                    </a:moveTo>
                    <a:lnTo>
                      <a:pt x="0" y="17667"/>
                    </a:lnTo>
                    <a:lnTo>
                      <a:pt x="21599" y="21600"/>
                    </a:lnTo>
                    <a:lnTo>
                      <a:pt x="21599" y="0"/>
                    </a:lnTo>
                    <a:close/>
                  </a:path>
                </a:pathLst>
              </a:custGeom>
              <a:solidFill>
                <a:schemeClr val="accent4"/>
              </a:solidFill>
              <a:ln>
                <a:noFill/>
              </a:ln>
              <a:effectLst/>
            </p:spPr>
            <p:txBody>
              <a:bodyPr anchor="ctr"/>
              <a:lstStyle/>
              <a:p>
                <a:pPr algn="ctr"/>
                <a:endParaRPr/>
              </a:p>
            </p:txBody>
          </p:sp>
        </p:grpSp>
      </p:grpSp>
      <p:grpSp>
        <p:nvGrpSpPr>
          <p:cNvPr id="59" name="组合 58"/>
          <p:cNvGrpSpPr/>
          <p:nvPr>
            <p:custDataLst>
              <p:tags r:id="rId2"/>
            </p:custDataLst>
          </p:nvPr>
        </p:nvGrpSpPr>
        <p:grpSpPr>
          <a:xfrm>
            <a:off x="8076532" y="2525762"/>
            <a:ext cx="2807247" cy="1096109"/>
            <a:chOff x="1541719" y="2349127"/>
            <a:chExt cx="2807247" cy="1096109"/>
          </a:xfrm>
        </p:grpSpPr>
        <p:sp>
          <p:nvSpPr>
            <p:cNvPr id="60" name="文本框 59"/>
            <p:cNvSpPr txBox="1"/>
            <p:nvPr>
              <p:custDataLst>
                <p:tags r:id="rId16"/>
              </p:custDataLst>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功能三</a:t>
              </a:r>
            </a:p>
          </p:txBody>
        </p:sp>
        <p:sp>
          <p:nvSpPr>
            <p:cNvPr id="61" name="文本框 60"/>
            <p:cNvSpPr txBox="1"/>
            <p:nvPr>
              <p:custDataLst>
                <p:tags r:id="rId17"/>
              </p:custDataLst>
            </p:nvPr>
          </p:nvSpPr>
          <p:spPr>
            <a:xfrm>
              <a:off x="1541719" y="2687681"/>
              <a:ext cx="2807247" cy="757555"/>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400" b="1" dirty="0">
                  <a:solidFill>
                    <a:schemeClr val="tx1">
                      <a:lumMod val="65000"/>
                      <a:lumOff val="35000"/>
                    </a:schemeClr>
                  </a:solidFill>
                  <a:latin typeface="Century Gothic" panose="020B0502020202020204" pitchFamily="34" charset="0"/>
                  <a:ea typeface="+mj-ea"/>
                </a:rPr>
                <a:t>历史记录查询</a:t>
              </a:r>
              <a:endParaRPr lang="en-US" altLang="zh-CN" sz="1400" b="1" dirty="0">
                <a:solidFill>
                  <a:schemeClr val="tx1">
                    <a:lumMod val="65000"/>
                    <a:lumOff val="35000"/>
                  </a:schemeClr>
                </a:solidFill>
                <a:latin typeface="Century Gothic" panose="020B0502020202020204" pitchFamily="34" charset="0"/>
                <a:ea typeface="+mj-ea"/>
              </a:endParaRPr>
            </a:p>
            <a:p>
              <a:pPr>
                <a:lnSpc>
                  <a:spcPct val="114000"/>
                </a:lnSpc>
              </a:pPr>
              <a:r>
                <a:rPr lang="zh-CN" altLang="en-US" sz="1200" b="1" dirty="0">
                  <a:solidFill>
                    <a:schemeClr val="accent3"/>
                  </a:solidFill>
                  <a:latin typeface="Century Gothic" panose="020B0502020202020204" pitchFamily="34" charset="0"/>
                  <a:ea typeface="+mj-ea"/>
                </a:rPr>
                <a:t>通过历史记录查询，找到自己曾上传过的简历以及其分析，能够多次回顾。</a:t>
              </a:r>
              <a:endParaRPr lang="zh-CN" altLang="en-US" sz="1200" dirty="0">
                <a:solidFill>
                  <a:schemeClr val="tx1">
                    <a:lumMod val="65000"/>
                    <a:lumOff val="35000"/>
                  </a:schemeClr>
                </a:solidFill>
                <a:latin typeface="Century Gothic" panose="020B0502020202020204" pitchFamily="34" charset="0"/>
                <a:ea typeface="+mj-ea"/>
              </a:endParaRPr>
            </a:p>
          </p:txBody>
        </p:sp>
      </p:grpSp>
      <p:cxnSp>
        <p:nvCxnSpPr>
          <p:cNvPr id="63" name="直接连接符 62"/>
          <p:cNvCxnSpPr/>
          <p:nvPr>
            <p:custDataLst>
              <p:tags r:id="rId3"/>
            </p:custDataLst>
          </p:nvPr>
        </p:nvCxnSpPr>
        <p:spPr>
          <a:xfrm>
            <a:off x="4265088" y="2120288"/>
            <a:ext cx="1295417" cy="0"/>
          </a:xfrm>
          <a:prstGeom prst="line">
            <a:avLst/>
          </a:prstGeom>
          <a:ln w="12700">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custDataLst>
              <p:tags r:id="rId4"/>
            </p:custDataLst>
          </p:nvPr>
        </p:nvCxnSpPr>
        <p:spPr>
          <a:xfrm>
            <a:off x="3689178" y="3763351"/>
            <a:ext cx="1054427" cy="0"/>
          </a:xfrm>
          <a:prstGeom prst="line">
            <a:avLst/>
          </a:prstGeom>
          <a:ln w="12700">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custDataLst>
              <p:tags r:id="rId5"/>
            </p:custDataLst>
          </p:nvPr>
        </p:nvCxnSpPr>
        <p:spPr>
          <a:xfrm>
            <a:off x="6959597" y="2835715"/>
            <a:ext cx="1077456" cy="0"/>
          </a:xfrm>
          <a:prstGeom prst="line">
            <a:avLst/>
          </a:prstGeom>
          <a:ln w="12700">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custDataLst>
              <p:tags r:id="rId6"/>
            </p:custDataLst>
          </p:nvPr>
        </p:nvCxnSpPr>
        <p:spPr>
          <a:xfrm>
            <a:off x="7913292" y="4555019"/>
            <a:ext cx="535717" cy="0"/>
          </a:xfrm>
          <a:prstGeom prst="line">
            <a:avLst/>
          </a:prstGeom>
          <a:ln w="12700">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grpSp>
        <p:nvGrpSpPr>
          <p:cNvPr id="70" name="组合 69"/>
          <p:cNvGrpSpPr/>
          <p:nvPr>
            <p:custDataLst>
              <p:tags r:id="rId7"/>
            </p:custDataLst>
          </p:nvPr>
        </p:nvGrpSpPr>
        <p:grpSpPr>
          <a:xfrm>
            <a:off x="8525479" y="4226775"/>
            <a:ext cx="2133781" cy="1726664"/>
            <a:chOff x="1541719" y="2349127"/>
            <a:chExt cx="2133781" cy="1726664"/>
          </a:xfrm>
        </p:grpSpPr>
        <p:sp>
          <p:nvSpPr>
            <p:cNvPr id="71" name="文本框 70"/>
            <p:cNvSpPr txBox="1"/>
            <p:nvPr>
              <p:custDataLst>
                <p:tags r:id="rId14"/>
              </p:custDataLst>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功能四</a:t>
              </a:r>
            </a:p>
          </p:txBody>
        </p:sp>
        <p:sp>
          <p:nvSpPr>
            <p:cNvPr id="72" name="文本框 71"/>
            <p:cNvSpPr txBox="1"/>
            <p:nvPr>
              <p:custDataLst>
                <p:tags r:id="rId15"/>
              </p:custDataLst>
            </p:nvPr>
          </p:nvSpPr>
          <p:spPr>
            <a:xfrm>
              <a:off x="1541719" y="2687681"/>
              <a:ext cx="2004057" cy="1388110"/>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400" b="1" dirty="0">
                  <a:solidFill>
                    <a:schemeClr val="tx1">
                      <a:lumMod val="65000"/>
                      <a:lumOff val="35000"/>
                    </a:schemeClr>
                  </a:solidFill>
                  <a:latin typeface="Century Gothic" panose="020B0502020202020204" pitchFamily="34" charset="0"/>
                  <a:ea typeface="+mj-ea"/>
                </a:rPr>
                <a:t>职业发展规划报告</a:t>
              </a:r>
              <a:endParaRPr lang="en-US" altLang="zh-CN" sz="1400" b="1" dirty="0">
                <a:solidFill>
                  <a:schemeClr val="tx1">
                    <a:lumMod val="65000"/>
                    <a:lumOff val="35000"/>
                  </a:schemeClr>
                </a:solidFill>
                <a:latin typeface="Century Gothic" panose="020B0502020202020204" pitchFamily="34" charset="0"/>
                <a:ea typeface="+mj-ea"/>
              </a:endParaRPr>
            </a:p>
            <a:p>
              <a:pPr>
                <a:lnSpc>
                  <a:spcPct val="114000"/>
                </a:lnSpc>
              </a:pPr>
              <a:r>
                <a:rPr lang="zh-CN" altLang="en-US" sz="1200" b="1" dirty="0">
                  <a:solidFill>
                    <a:schemeClr val="accent3"/>
                  </a:solidFill>
                  <a:latin typeface="Century Gothic" panose="020B0502020202020204" pitchFamily="34" charset="0"/>
                  <a:ea typeface="+mj-ea"/>
                </a:rPr>
                <a:t>从可提升方向到个性化行动方案，我们会为用户提供多样全面化的职业发展报告，为大学生用户指明发展方向，少走弯路。</a:t>
              </a:r>
            </a:p>
          </p:txBody>
        </p:sp>
      </p:grpSp>
      <p:grpSp>
        <p:nvGrpSpPr>
          <p:cNvPr id="73" name="组合 72"/>
          <p:cNvGrpSpPr/>
          <p:nvPr>
            <p:custDataLst>
              <p:tags r:id="rId8"/>
            </p:custDataLst>
          </p:nvPr>
        </p:nvGrpSpPr>
        <p:grpSpPr>
          <a:xfrm>
            <a:off x="1409239" y="1828886"/>
            <a:ext cx="2784999" cy="1306294"/>
            <a:chOff x="1541719" y="2349127"/>
            <a:chExt cx="2784999" cy="1306294"/>
          </a:xfrm>
        </p:grpSpPr>
        <p:sp>
          <p:nvSpPr>
            <p:cNvPr id="74" name="文本框 73"/>
            <p:cNvSpPr txBox="1"/>
            <p:nvPr>
              <p:custDataLst>
                <p:tags r:id="rId12"/>
              </p:custDataLst>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dirty="0">
                  <a:solidFill>
                    <a:schemeClr val="tx1">
                      <a:lumMod val="75000"/>
                      <a:lumOff val="25000"/>
                    </a:schemeClr>
                  </a:solidFill>
                  <a:latin typeface="Century Gothic" panose="020B0502020202020204" pitchFamily="34" charset="0"/>
                </a:rPr>
                <a:t>功能一</a:t>
              </a:r>
            </a:p>
          </p:txBody>
        </p:sp>
        <p:sp>
          <p:nvSpPr>
            <p:cNvPr id="75" name="文本框 74"/>
            <p:cNvSpPr txBox="1"/>
            <p:nvPr>
              <p:custDataLst>
                <p:tags r:id="rId13"/>
              </p:custDataLst>
            </p:nvPr>
          </p:nvSpPr>
          <p:spPr>
            <a:xfrm>
              <a:off x="1541719" y="2687681"/>
              <a:ext cx="2784999" cy="967740"/>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400" b="1" dirty="0">
                  <a:solidFill>
                    <a:schemeClr val="tx1">
                      <a:lumMod val="65000"/>
                      <a:lumOff val="35000"/>
                    </a:schemeClr>
                  </a:solidFill>
                  <a:latin typeface="Century Gothic" panose="020B0502020202020204" pitchFamily="34" charset="0"/>
                  <a:ea typeface="+mj-ea"/>
                </a:rPr>
                <a:t>个性化职业推荐</a:t>
              </a:r>
              <a:endParaRPr lang="en-US" altLang="zh-CN" sz="1400" b="1" dirty="0">
                <a:solidFill>
                  <a:schemeClr val="tx1">
                    <a:lumMod val="65000"/>
                    <a:lumOff val="35000"/>
                  </a:schemeClr>
                </a:solidFill>
                <a:latin typeface="Century Gothic" panose="020B0502020202020204" pitchFamily="34" charset="0"/>
                <a:ea typeface="+mj-ea"/>
              </a:endParaRPr>
            </a:p>
            <a:p>
              <a:pPr algn="r">
                <a:lnSpc>
                  <a:spcPct val="114000"/>
                </a:lnSpc>
              </a:pPr>
              <a:r>
                <a:rPr lang="zh-CN" altLang="en-US" sz="1200" b="1" dirty="0">
                  <a:solidFill>
                    <a:schemeClr val="accent3"/>
                  </a:solidFill>
                  <a:latin typeface="Century Gothic" panose="020B0502020202020204" pitchFamily="34" charset="0"/>
                  <a:ea typeface="+mj-ea"/>
                </a:rPr>
                <a:t>本智能体通过调用</a:t>
              </a:r>
              <a:r>
                <a:rPr lang="en-US" altLang="zh-CN" sz="1200" b="1" dirty="0">
                  <a:solidFill>
                    <a:schemeClr val="accent3"/>
                  </a:solidFill>
                  <a:latin typeface="Century Gothic" panose="020B0502020202020204" pitchFamily="34" charset="0"/>
                  <a:ea typeface="+mj-ea"/>
                </a:rPr>
                <a:t>ai</a:t>
              </a:r>
              <a:r>
                <a:rPr lang="zh-CN" altLang="en-US" sz="1200" b="1" dirty="0">
                  <a:solidFill>
                    <a:schemeClr val="accent3"/>
                  </a:solidFill>
                  <a:latin typeface="Century Gothic" panose="020B0502020202020204" pitchFamily="34" charset="0"/>
                  <a:ea typeface="+mj-ea"/>
                </a:rPr>
                <a:t>分析以及上万条真实就业数据处理，为用户大学生提供最个性化的职业推荐。</a:t>
              </a:r>
            </a:p>
          </p:txBody>
        </p:sp>
      </p:grpSp>
      <p:grpSp>
        <p:nvGrpSpPr>
          <p:cNvPr id="76" name="组合 75"/>
          <p:cNvGrpSpPr/>
          <p:nvPr>
            <p:custDataLst>
              <p:tags r:id="rId9"/>
            </p:custDataLst>
          </p:nvPr>
        </p:nvGrpSpPr>
        <p:grpSpPr>
          <a:xfrm>
            <a:off x="881155" y="3529899"/>
            <a:ext cx="2784999" cy="1516479"/>
            <a:chOff x="1541719" y="2349127"/>
            <a:chExt cx="2784999" cy="1516479"/>
          </a:xfrm>
        </p:grpSpPr>
        <p:sp>
          <p:nvSpPr>
            <p:cNvPr id="77" name="文本框 76"/>
            <p:cNvSpPr txBox="1"/>
            <p:nvPr>
              <p:custDataLst>
                <p:tags r:id="rId10"/>
              </p:custDataLst>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dirty="0">
                  <a:solidFill>
                    <a:schemeClr val="tx1">
                      <a:lumMod val="75000"/>
                      <a:lumOff val="25000"/>
                    </a:schemeClr>
                  </a:solidFill>
                  <a:latin typeface="Century Gothic" panose="020B0502020202020204" pitchFamily="34" charset="0"/>
                </a:rPr>
                <a:t>功能二</a:t>
              </a:r>
            </a:p>
          </p:txBody>
        </p:sp>
        <p:sp>
          <p:nvSpPr>
            <p:cNvPr id="78" name="文本框 77"/>
            <p:cNvSpPr txBox="1"/>
            <p:nvPr>
              <p:custDataLst>
                <p:tags r:id="rId11"/>
              </p:custDataLst>
            </p:nvPr>
          </p:nvSpPr>
          <p:spPr>
            <a:xfrm>
              <a:off x="1541719" y="2687681"/>
              <a:ext cx="2784999" cy="1177925"/>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400" b="1" dirty="0">
                  <a:solidFill>
                    <a:schemeClr val="tx1">
                      <a:lumMod val="65000"/>
                      <a:lumOff val="35000"/>
                    </a:schemeClr>
                  </a:solidFill>
                  <a:latin typeface="Century Gothic" panose="020B0502020202020204" pitchFamily="34" charset="0"/>
                  <a:ea typeface="+mj-ea"/>
                </a:rPr>
                <a:t>职业晋升路径展示</a:t>
              </a:r>
              <a:endParaRPr lang="en-US" altLang="zh-CN" sz="1400" b="1" dirty="0">
                <a:solidFill>
                  <a:schemeClr val="tx1">
                    <a:lumMod val="65000"/>
                    <a:lumOff val="35000"/>
                  </a:schemeClr>
                </a:solidFill>
                <a:latin typeface="Century Gothic" panose="020B0502020202020204" pitchFamily="34" charset="0"/>
                <a:ea typeface="+mj-ea"/>
              </a:endParaRPr>
            </a:p>
            <a:p>
              <a:pPr algn="r">
                <a:lnSpc>
                  <a:spcPct val="114000"/>
                </a:lnSpc>
              </a:pPr>
              <a:r>
                <a:rPr lang="zh-CN" altLang="en-US" sz="1200" b="1" dirty="0">
                  <a:solidFill>
                    <a:schemeClr val="accent3"/>
                  </a:solidFill>
                  <a:latin typeface="Century Gothic" panose="020B0502020202020204" pitchFamily="34" charset="0"/>
                  <a:ea typeface="+mj-ea"/>
                </a:rPr>
                <a:t>通过对用户的职业倾向分析，系统会给出适合的岗位以及该领域的纵向职业晋升路径。我们的项目不止于当下，更是为用户进行长远的未来规划</a:t>
              </a:r>
              <a:r>
                <a:rPr lang="zh-CN" altLang="en-US" sz="1200" dirty="0">
                  <a:solidFill>
                    <a:schemeClr val="tx1">
                      <a:lumMod val="65000"/>
                      <a:lumOff val="35000"/>
                    </a:schemeClr>
                  </a:solidFill>
                  <a:latin typeface="Century Gothic" panose="020B0502020202020204" pitchFamily="34" charset="0"/>
                  <a:ea typeface="+mj-ea"/>
                </a:rPr>
                <a:t>。</a:t>
              </a:r>
            </a:p>
          </p:txBody>
        </p:sp>
      </p:grpSp>
      <p:grpSp>
        <p:nvGrpSpPr>
          <p:cNvPr id="67" name="组合 66"/>
          <p:cNvGrpSpPr/>
          <p:nvPr/>
        </p:nvGrpSpPr>
        <p:grpSpPr>
          <a:xfrm>
            <a:off x="1473289" y="371367"/>
            <a:ext cx="4260761" cy="787074"/>
            <a:chOff x="7318011" y="1456480"/>
            <a:chExt cx="4260761" cy="787074"/>
          </a:xfrm>
        </p:grpSpPr>
        <p:sp>
          <p:nvSpPr>
            <p:cNvPr id="68" name="文本框 67"/>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功能说明</a:t>
              </a:r>
            </a:p>
          </p:txBody>
        </p:sp>
        <p:sp>
          <p:nvSpPr>
            <p:cNvPr id="69" name="文本框 68"/>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FUNCTION DESCRIOTION</a:t>
              </a:r>
            </a:p>
          </p:txBody>
        </p:sp>
      </p:grpSp>
      <p:pic>
        <p:nvPicPr>
          <p:cNvPr id="5" name="图片 4"/>
          <p:cNvPicPr/>
          <p:nvPr/>
        </p:nvPicPr>
        <p:blipFill>
          <a:blip r:embed="rId31"/>
          <a:stretch>
            <a:fillRect/>
          </a:stretch>
        </p:blipFill>
        <p:spPr>
          <a:xfrm>
            <a:off x="762000" y="5096510"/>
            <a:ext cx="3275965" cy="1570990"/>
          </a:xfrm>
          <a:prstGeom prst="rect">
            <a:avLst/>
          </a:prstGeom>
        </p:spPr>
      </p:pic>
      <p:pic>
        <p:nvPicPr>
          <p:cNvPr id="7" name="图片 6"/>
          <p:cNvPicPr>
            <a:picLocks noChangeAspect="1"/>
          </p:cNvPicPr>
          <p:nvPr/>
        </p:nvPicPr>
        <p:blipFill>
          <a:blip r:embed="rId32"/>
          <a:srcRect l="-241129" t="-156305" r="155902" b="32752"/>
          <a:stretch>
            <a:fillRect/>
          </a:stretch>
        </p:blipFill>
        <p:spPr>
          <a:xfrm>
            <a:off x="3524250" y="0"/>
            <a:ext cx="4792980" cy="5532755"/>
          </a:xfrm>
          <a:prstGeom prst="rect">
            <a:avLst/>
          </a:prstGeom>
        </p:spPr>
      </p:pic>
      <p:pic>
        <p:nvPicPr>
          <p:cNvPr id="8" name="图片 7"/>
          <p:cNvPicPr>
            <a:picLocks noChangeAspect="1"/>
          </p:cNvPicPr>
          <p:nvPr/>
        </p:nvPicPr>
        <p:blipFill>
          <a:blip r:embed="rId32"/>
          <a:srcRect l="1966" t="-4723" r="1445" b="9055"/>
          <a:stretch>
            <a:fillRect/>
          </a:stretch>
        </p:blipFill>
        <p:spPr>
          <a:xfrm>
            <a:off x="10443845" y="4554855"/>
            <a:ext cx="1528445" cy="2019300"/>
          </a:xfrm>
          <a:prstGeom prst="rect">
            <a:avLst/>
          </a:prstGeom>
        </p:spPr>
      </p:pic>
      <p:grpSp>
        <p:nvGrpSpPr>
          <p:cNvPr id="3" name="组合 2"/>
          <p:cNvGrpSpPr/>
          <p:nvPr/>
        </p:nvGrpSpPr>
        <p:grpSpPr>
          <a:xfrm>
            <a:off x="419100" y="259080"/>
            <a:ext cx="923925" cy="923290"/>
            <a:chOff x="660" y="408"/>
            <a:chExt cx="1455" cy="1454"/>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02</a:t>
              </a:r>
              <a:endParaRPr lang="zh-CN" altLang="en-US" sz="4000" dirty="0">
                <a:solidFill>
                  <a:schemeClr val="accent1"/>
                </a:solidFill>
                <a:latin typeface="Century Gothic" panose="020B0502020202020204" pitchFamily="34" charset="0"/>
              </a:endParaRPr>
            </a:p>
          </p:txBody>
        </p:sp>
      </p:grpSp>
      <p:pic>
        <p:nvPicPr>
          <p:cNvPr id="12" name="图片 11"/>
          <p:cNvPicPr>
            <a:picLocks noChangeAspect="1"/>
          </p:cNvPicPr>
          <p:nvPr/>
        </p:nvPicPr>
        <p:blipFill>
          <a:blip r:embed="rId33"/>
          <a:stretch>
            <a:fillRect/>
          </a:stretch>
        </p:blipFill>
        <p:spPr>
          <a:xfrm>
            <a:off x="7703185" y="908050"/>
            <a:ext cx="3778250" cy="1386840"/>
          </a:xfrm>
          <a:prstGeom prst="rect">
            <a:avLst/>
          </a:prstGeom>
        </p:spPr>
      </p:pic>
      <p:pic>
        <p:nvPicPr>
          <p:cNvPr id="2" name="图片 1"/>
          <p:cNvPicPr>
            <a:picLocks noChangeAspect="1"/>
          </p:cNvPicPr>
          <p:nvPr/>
        </p:nvPicPr>
        <p:blipFill>
          <a:blip r:embed="rId34"/>
          <a:stretch>
            <a:fillRect/>
          </a:stretch>
        </p:blipFill>
        <p:spPr>
          <a:xfrm>
            <a:off x="4486275" y="422910"/>
            <a:ext cx="7705725" cy="297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barn(inVertical)">
                                      <p:cBhvr>
                                        <p:cTn id="13" dur="500"/>
                                        <p:tgtEl>
                                          <p:spTgt spid="63"/>
                                        </p:tgtEl>
                                      </p:cBhvr>
                                    </p:animEffect>
                                  </p:childTnLst>
                                </p:cTn>
                              </p:par>
                              <p:par>
                                <p:cTn id="14" presetID="16" presetClass="entr" presetSubtype="21" fill="hold" nodeType="with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barn(inVertical)">
                                      <p:cBhvr>
                                        <p:cTn id="16" dur="500"/>
                                        <p:tgtEl>
                                          <p:spTgt spid="64"/>
                                        </p:tgtEl>
                                      </p:cBhvr>
                                    </p:animEffect>
                                  </p:childTnLst>
                                </p:cTn>
                              </p:par>
                              <p:par>
                                <p:cTn id="17" presetID="16" presetClass="entr" presetSubtype="21"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barn(inVertical)">
                                      <p:cBhvr>
                                        <p:cTn id="19" dur="500"/>
                                        <p:tgtEl>
                                          <p:spTgt spid="65"/>
                                        </p:tgtEl>
                                      </p:cBhvr>
                                    </p:animEffect>
                                  </p:childTnLst>
                                </p:cTn>
                              </p:par>
                              <p:par>
                                <p:cTn id="20" presetID="16" presetClass="entr" presetSubtype="21" fill="hold" nodeType="withEffect">
                                  <p:stCondLst>
                                    <p:cond delay="0"/>
                                  </p:stCondLst>
                                  <p:childTnLst>
                                    <p:set>
                                      <p:cBhvr>
                                        <p:cTn id="21" dur="1" fill="hold">
                                          <p:stCondLst>
                                            <p:cond delay="0"/>
                                          </p:stCondLst>
                                        </p:cTn>
                                        <p:tgtEl>
                                          <p:spTgt spid="66"/>
                                        </p:tgtEl>
                                        <p:attrNameLst>
                                          <p:attrName>style.visibility</p:attrName>
                                        </p:attrNameLst>
                                      </p:cBhvr>
                                      <p:to>
                                        <p:strVal val="visible"/>
                                      </p:to>
                                    </p:set>
                                    <p:animEffect transition="in" filter="barn(inVertical)">
                                      <p:cBhvr>
                                        <p:cTn id="22" dur="500"/>
                                        <p:tgtEl>
                                          <p:spTgt spid="66"/>
                                        </p:tgtEl>
                                      </p:cBhvr>
                                    </p:animEffect>
                                  </p:childTnLst>
                                </p:cTn>
                              </p:par>
                            </p:childTnLst>
                          </p:cTn>
                        </p:par>
                        <p:par>
                          <p:cTn id="23" fill="hold">
                            <p:stCondLst>
                              <p:cond delay="1500"/>
                            </p:stCondLst>
                            <p:childTnLst>
                              <p:par>
                                <p:cTn id="24" presetID="2" presetClass="entr" presetSubtype="8" fill="hold" nodeType="afterEffect">
                                  <p:stCondLst>
                                    <p:cond delay="0"/>
                                  </p:stCondLst>
                                  <p:childTnLst>
                                    <p:set>
                                      <p:cBhvr>
                                        <p:cTn id="25" dur="1" fill="hold">
                                          <p:stCondLst>
                                            <p:cond delay="0"/>
                                          </p:stCondLst>
                                        </p:cTn>
                                        <p:tgtEl>
                                          <p:spTgt spid="73"/>
                                        </p:tgtEl>
                                        <p:attrNameLst>
                                          <p:attrName>style.visibility</p:attrName>
                                        </p:attrNameLst>
                                      </p:cBhvr>
                                      <p:to>
                                        <p:strVal val="visible"/>
                                      </p:to>
                                    </p:set>
                                    <p:anim calcmode="lin" valueType="num">
                                      <p:cBhvr additive="base">
                                        <p:cTn id="26" dur="500" fill="hold"/>
                                        <p:tgtEl>
                                          <p:spTgt spid="73"/>
                                        </p:tgtEl>
                                        <p:attrNameLst>
                                          <p:attrName>ppt_x</p:attrName>
                                        </p:attrNameLst>
                                      </p:cBhvr>
                                      <p:tavLst>
                                        <p:tav tm="0">
                                          <p:val>
                                            <p:strVal val="0-#ppt_w/2"/>
                                          </p:val>
                                        </p:tav>
                                        <p:tav tm="100000">
                                          <p:val>
                                            <p:strVal val="#ppt_x"/>
                                          </p:val>
                                        </p:tav>
                                      </p:tavLst>
                                    </p:anim>
                                    <p:anim calcmode="lin" valueType="num">
                                      <p:cBhvr additive="base">
                                        <p:cTn id="27" dur="500" fill="hold"/>
                                        <p:tgtEl>
                                          <p:spTgt spid="73"/>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76"/>
                                        </p:tgtEl>
                                        <p:attrNameLst>
                                          <p:attrName>style.visibility</p:attrName>
                                        </p:attrNameLst>
                                      </p:cBhvr>
                                      <p:to>
                                        <p:strVal val="visible"/>
                                      </p:to>
                                    </p:set>
                                    <p:anim calcmode="lin" valueType="num">
                                      <p:cBhvr additive="base">
                                        <p:cTn id="30" dur="500" fill="hold"/>
                                        <p:tgtEl>
                                          <p:spTgt spid="76"/>
                                        </p:tgtEl>
                                        <p:attrNameLst>
                                          <p:attrName>ppt_x</p:attrName>
                                        </p:attrNameLst>
                                      </p:cBhvr>
                                      <p:tavLst>
                                        <p:tav tm="0">
                                          <p:val>
                                            <p:strVal val="0-#ppt_w/2"/>
                                          </p:val>
                                        </p:tav>
                                        <p:tav tm="100000">
                                          <p:val>
                                            <p:strVal val="#ppt_x"/>
                                          </p:val>
                                        </p:tav>
                                      </p:tavLst>
                                    </p:anim>
                                    <p:anim calcmode="lin" valueType="num">
                                      <p:cBhvr additive="base">
                                        <p:cTn id="31" dur="500" fill="hold"/>
                                        <p:tgtEl>
                                          <p:spTgt spid="76"/>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0"/>
                                  </p:stCondLst>
                                  <p:childTnLst>
                                    <p:set>
                                      <p:cBhvr>
                                        <p:cTn id="33" dur="1" fill="hold">
                                          <p:stCondLst>
                                            <p:cond delay="0"/>
                                          </p:stCondLst>
                                        </p:cTn>
                                        <p:tgtEl>
                                          <p:spTgt spid="59"/>
                                        </p:tgtEl>
                                        <p:attrNameLst>
                                          <p:attrName>style.visibility</p:attrName>
                                        </p:attrNameLst>
                                      </p:cBhvr>
                                      <p:to>
                                        <p:strVal val="visible"/>
                                      </p:to>
                                    </p:set>
                                    <p:anim calcmode="lin" valueType="num">
                                      <p:cBhvr additive="base">
                                        <p:cTn id="34" dur="500" fill="hold"/>
                                        <p:tgtEl>
                                          <p:spTgt spid="59"/>
                                        </p:tgtEl>
                                        <p:attrNameLst>
                                          <p:attrName>ppt_x</p:attrName>
                                        </p:attrNameLst>
                                      </p:cBhvr>
                                      <p:tavLst>
                                        <p:tav tm="0">
                                          <p:val>
                                            <p:strVal val="1+#ppt_w/2"/>
                                          </p:val>
                                        </p:tav>
                                        <p:tav tm="100000">
                                          <p:val>
                                            <p:strVal val="#ppt_x"/>
                                          </p:val>
                                        </p:tav>
                                      </p:tavLst>
                                    </p:anim>
                                    <p:anim calcmode="lin" valueType="num">
                                      <p:cBhvr additive="base">
                                        <p:cTn id="35" dur="500" fill="hold"/>
                                        <p:tgtEl>
                                          <p:spTgt spid="59"/>
                                        </p:tgtEl>
                                        <p:attrNameLst>
                                          <p:attrName>ppt_y</p:attrName>
                                        </p:attrNameLst>
                                      </p:cBhvr>
                                      <p:tavLst>
                                        <p:tav tm="0">
                                          <p:val>
                                            <p:strVal val="#ppt_y"/>
                                          </p:val>
                                        </p:tav>
                                        <p:tav tm="100000">
                                          <p:val>
                                            <p:strVal val="#ppt_y"/>
                                          </p:val>
                                        </p:tav>
                                      </p:tavLst>
                                    </p:anim>
                                  </p:childTnLst>
                                </p:cTn>
                              </p:par>
                              <p:par>
                                <p:cTn id="36" presetID="2" presetClass="entr" presetSubtype="2" fill="hold" nodeType="withEffect">
                                  <p:stCondLst>
                                    <p:cond delay="0"/>
                                  </p:stCondLst>
                                  <p:childTnLst>
                                    <p:set>
                                      <p:cBhvr>
                                        <p:cTn id="37" dur="1" fill="hold">
                                          <p:stCondLst>
                                            <p:cond delay="0"/>
                                          </p:stCondLst>
                                        </p:cTn>
                                        <p:tgtEl>
                                          <p:spTgt spid="70"/>
                                        </p:tgtEl>
                                        <p:attrNameLst>
                                          <p:attrName>style.visibility</p:attrName>
                                        </p:attrNameLst>
                                      </p:cBhvr>
                                      <p:to>
                                        <p:strVal val="visible"/>
                                      </p:to>
                                    </p:set>
                                    <p:anim calcmode="lin" valueType="num">
                                      <p:cBhvr additive="base">
                                        <p:cTn id="38" dur="500" fill="hold"/>
                                        <p:tgtEl>
                                          <p:spTgt spid="70"/>
                                        </p:tgtEl>
                                        <p:attrNameLst>
                                          <p:attrName>ppt_x</p:attrName>
                                        </p:attrNameLst>
                                      </p:cBhvr>
                                      <p:tavLst>
                                        <p:tav tm="0">
                                          <p:val>
                                            <p:strVal val="1+#ppt_w/2"/>
                                          </p:val>
                                        </p:tav>
                                        <p:tav tm="100000">
                                          <p:val>
                                            <p:strVal val="#ppt_x"/>
                                          </p:val>
                                        </p:tav>
                                      </p:tavLst>
                                    </p:anim>
                                    <p:anim calcmode="lin" valueType="num">
                                      <p:cBhvr additive="base">
                                        <p:cTn id="39"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473289" y="371367"/>
            <a:ext cx="4260761" cy="787074"/>
            <a:chOff x="7318011" y="1456480"/>
            <a:chExt cx="4260761" cy="787074"/>
          </a:xfrm>
        </p:grpSpPr>
        <p:sp>
          <p:nvSpPr>
            <p:cNvPr id="38" name="文本框 37"/>
            <p:cNvSpPr txBox="1"/>
            <p:nvPr/>
          </p:nvSpPr>
          <p:spPr>
            <a:xfrm>
              <a:off x="7318011" y="1456480"/>
              <a:ext cx="2236510"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工具与技术</a:t>
              </a:r>
            </a:p>
          </p:txBody>
        </p:sp>
        <p:sp>
          <p:nvSpPr>
            <p:cNvPr id="43" name="文本框 42"/>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TOOLS AND TECHNIQUES</a:t>
              </a:r>
            </a:p>
          </p:txBody>
        </p:sp>
      </p:grpSp>
      <p:graphicFrame>
        <p:nvGraphicFramePr>
          <p:cNvPr id="9" name="表格 8"/>
          <p:cNvGraphicFramePr>
            <a:graphicFrameLocks noGrp="1"/>
          </p:cNvGraphicFramePr>
          <p:nvPr/>
        </p:nvGraphicFramePr>
        <p:xfrm>
          <a:off x="486410" y="1424305"/>
          <a:ext cx="11231880" cy="5195570"/>
        </p:xfrm>
        <a:graphic>
          <a:graphicData uri="http://schemas.openxmlformats.org/drawingml/2006/table">
            <a:tbl>
              <a:tblPr firstRow="1" bandRow="1">
                <a:tableStyleId>{FABFCF23-3B69-468F-B69F-88F6DE6A72F2}</a:tableStyleId>
              </a:tblPr>
              <a:tblGrid>
                <a:gridCol w="2807970">
                  <a:extLst>
                    <a:ext uri="{9D8B030D-6E8A-4147-A177-3AD203B41FA5}">
                      <a16:colId xmlns:a16="http://schemas.microsoft.com/office/drawing/2014/main" val="20000"/>
                    </a:ext>
                  </a:extLst>
                </a:gridCol>
                <a:gridCol w="2807970">
                  <a:extLst>
                    <a:ext uri="{9D8B030D-6E8A-4147-A177-3AD203B41FA5}">
                      <a16:colId xmlns:a16="http://schemas.microsoft.com/office/drawing/2014/main" val="20001"/>
                    </a:ext>
                  </a:extLst>
                </a:gridCol>
                <a:gridCol w="2807970">
                  <a:extLst>
                    <a:ext uri="{9D8B030D-6E8A-4147-A177-3AD203B41FA5}">
                      <a16:colId xmlns:a16="http://schemas.microsoft.com/office/drawing/2014/main" val="20002"/>
                    </a:ext>
                  </a:extLst>
                </a:gridCol>
                <a:gridCol w="2807970">
                  <a:extLst>
                    <a:ext uri="{9D8B030D-6E8A-4147-A177-3AD203B41FA5}">
                      <a16:colId xmlns:a16="http://schemas.microsoft.com/office/drawing/2014/main" val="20003"/>
                    </a:ext>
                  </a:extLst>
                </a:gridCol>
              </a:tblGrid>
              <a:tr h="492760">
                <a:tc>
                  <a:txBody>
                    <a:bodyPr/>
                    <a:lstStyle/>
                    <a:p>
                      <a:pPr algn="ctr"/>
                      <a:r>
                        <a:rPr lang="zh-CN" altLang="en-US" sz="1700" dirty="0"/>
                        <a:t>开发语言</a:t>
                      </a:r>
                    </a:p>
                  </a:txBody>
                  <a:tcPr marL="108098" marR="108098" marT="54049" marB="54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altLang="en-US" sz="1700" dirty="0"/>
                        <a:t>开发工具</a:t>
                      </a:r>
                    </a:p>
                  </a:txBody>
                  <a:tcPr marL="108098" marR="108098" marT="54049" marB="54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altLang="en-US" sz="1700" dirty="0"/>
                        <a:t>其他软件及工具</a:t>
                      </a:r>
                    </a:p>
                  </a:txBody>
                  <a:tcPr marL="108098" marR="108098" marT="54049" marB="54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sz="1700" dirty="0"/>
                        <a:t>Web</a:t>
                      </a:r>
                      <a:r>
                        <a:rPr lang="zh-CN" altLang="en-US" sz="1700" dirty="0"/>
                        <a:t>开发部署平台</a:t>
                      </a:r>
                    </a:p>
                  </a:txBody>
                  <a:tcPr marL="108098" marR="108098" marT="54049" marB="54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619885">
                <a:tc>
                  <a:txBody>
                    <a:bodyPr/>
                    <a:lstStyle/>
                    <a:p>
                      <a:pPr algn="l">
                        <a:lnSpc>
                          <a:spcPts val="1800"/>
                        </a:lnSpc>
                        <a:buNone/>
                      </a:pPr>
                      <a:r>
                        <a:rPr lang="en-US" altLang="zh-CN" sz="1800" b="1"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Python 3.x</a:t>
                      </a:r>
                      <a:endParaRPr lang="zh-CN" altLang="en-US" sz="1800" b="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a:lnSpc>
                          <a:spcPts val="1800"/>
                        </a:lnSpc>
                        <a:buNone/>
                      </a:pPr>
                      <a:r>
                        <a:rPr lang="zh-CN" altLang="en-US" sz="1400" b="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是免费且生态丰富的后端编程语言，用于搭建系统核心服务、</a:t>
                      </a:r>
                      <a:r>
                        <a:rPr lang="en-US" altLang="zh-CN" sz="1400" b="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AI </a:t>
                      </a:r>
                      <a:r>
                        <a:rPr lang="zh-CN" altLang="en-US" sz="1400" b="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能力模型与数据处理逻辑，为系统提供岗位画像、能力测评等核心功能接口。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lnSpc>
                          <a:spcPts val="1800"/>
                        </a:lnSpc>
                        <a:buNone/>
                      </a:pPr>
                      <a:r>
                        <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PyCharm</a:t>
                      </a:r>
                      <a:endPar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algn="l" defTabSz="914400" rtl="0" eaLnBrk="1" latinLnBrk="0" hangingPunct="1">
                        <a:lnSpc>
                          <a:spcPts val="1800"/>
                        </a:lnSpc>
                        <a:buNone/>
                      </a:pP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JetBrains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公司开发的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Python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集成开发工具，用于高效编写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Python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代码，通过丰富插件实现快速项目部署与调试。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lnSpc>
                          <a:spcPts val="1800"/>
                        </a:lnSpc>
                        <a:buNone/>
                      </a:pPr>
                      <a:r>
                        <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Postman</a:t>
                      </a:r>
                      <a:endPar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algn="l" defTabSz="914400" rtl="0" eaLnBrk="1" latinLnBrk="0" hangingPunct="1">
                        <a:lnSpc>
                          <a:spcPts val="1800"/>
                        </a:lnSpc>
                        <a:buNone/>
                      </a:pP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API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接口调试工具，用于测试系统前后端接口、岗位数据接口的连通性与稳定性，保障数据交互正常。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lnSpc>
                          <a:spcPts val="1800"/>
                        </a:lnSpc>
                        <a:buNone/>
                      </a:pPr>
                      <a:r>
                        <a:rPr lang="en-US" altLang="zh-CN" sz="1800" b="1" kern="1200" dirty="0" err="1">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Vercel</a:t>
                      </a:r>
                      <a:endPar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algn="l" defTabSz="914400" rtl="0" eaLnBrk="1" latinLnBrk="0" hangingPunct="1">
                        <a:lnSpc>
                          <a:spcPts val="1800"/>
                        </a:lnSpc>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前端静态资源托管</a:t>
                      </a:r>
                      <a:endPar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463040">
                <a:tc>
                  <a:txBody>
                    <a:bodyPr/>
                    <a:lstStyle/>
                    <a:p>
                      <a:pPr algn="l">
                        <a:lnSpc>
                          <a:spcPts val="1800"/>
                        </a:lnSpc>
                        <a:buNone/>
                      </a:pPr>
                      <a:r>
                        <a:rPr lang="en-US" altLang="zh-CN" sz="1800" b="1"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HTML</a:t>
                      </a:r>
                      <a:r>
                        <a:rPr lang="zh-CN" altLang="en-US" sz="1800" b="1"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1"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CSS</a:t>
                      </a:r>
                      <a:r>
                        <a:rPr lang="zh-CN" altLang="en-US" sz="1800" b="1"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1"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JavaScript</a:t>
                      </a:r>
                      <a:endParaRPr lang="zh-CN" altLang="en-US" sz="1800" b="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a:lnSpc>
                          <a:spcPts val="1800"/>
                        </a:lnSpc>
                        <a:buNone/>
                      </a:pPr>
                      <a:r>
                        <a:rPr lang="zh-CN" altLang="en-US" sz="1400" b="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是搭建网页前端的必备技术栈，用于构建系统的用户界面，为大学生提供岗位查询、测评报告等可视化交互页面</a:t>
                      </a:r>
                      <a:r>
                        <a:rPr lang="zh-CN" altLang="en-US" sz="1200" b="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lnSpc>
                          <a:spcPts val="1800"/>
                        </a:lnSpc>
                        <a:buNone/>
                      </a:pPr>
                      <a:r>
                        <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VS Code</a:t>
                      </a:r>
                      <a:endPar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algn="l" defTabSz="914400" rtl="0" eaLnBrk="1" latinLnBrk="0" hangingPunct="1">
                        <a:lnSpc>
                          <a:spcPts val="1800"/>
                        </a:lnSpc>
                        <a:buNone/>
                      </a:pP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是轻量型代码编辑器，用于编写前端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HTML/CSS/JS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代码，插件生态丰富，支持实时预览与高效开发。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lnSpc>
                          <a:spcPts val="1800"/>
                        </a:lnSpc>
                        <a:buNone/>
                      </a:pPr>
                      <a:r>
                        <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MySQL 8.x</a:t>
                      </a:r>
                      <a:endPar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algn="l" defTabSz="914400" rtl="0" eaLnBrk="1" latinLnBrk="0" hangingPunct="1">
                        <a:lnSpc>
                          <a:spcPts val="1800"/>
                        </a:lnSpc>
                        <a:buNone/>
                      </a:pP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是主流关系型数据库管理系统，用于存储用户信息、岗位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JD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数据、测评结果等核心业务数据，保障数据持久化存储。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lnSpc>
                          <a:spcPts val="1800"/>
                        </a:lnSpc>
                        <a:buNone/>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Render</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endParaRPr>
                    </a:p>
                    <a:p>
                      <a:pPr marL="0" algn="l" defTabSz="914400" rtl="0" eaLnBrk="1" latinLnBrk="0" hangingPunct="1">
                        <a:lnSpc>
                          <a:spcPts val="1800"/>
                        </a:lnSpc>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后端 Python Web 服务托管</a:t>
                      </a:r>
                      <a:endPar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619885">
                <a:tc>
                  <a:txBody>
                    <a:bodyPr/>
                    <a:lstStyle/>
                    <a:p>
                      <a:pPr marL="0" algn="l" defTabSz="914400" rtl="0" eaLnBrk="1" latinLnBrk="0" hangingPunct="1">
                        <a:lnSpc>
                          <a:spcPts val="1800"/>
                        </a:lnSpc>
                        <a:buNone/>
                      </a:pPr>
                      <a:r>
                        <a:rPr lang="en-US" altLang="zh-CN" sz="1800" b="1" kern="1200" dirty="0" err="1">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FastAPI</a:t>
                      </a:r>
                      <a:endPar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gn="l">
                        <a:lnSpc>
                          <a:spcPts val="1800"/>
                        </a:lnSpc>
                        <a:buNone/>
                      </a:pP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是高性能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Python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后端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框架，用于快速搭建系统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API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服务，支持异步处理，适配高并发的岗位查询、测评请求场景。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ts val="1800"/>
                        </a:lnSpc>
                        <a:buNone/>
                      </a:pPr>
                      <a:r>
                        <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Chrome </a:t>
                      </a:r>
                      <a:r>
                        <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浏览器</a:t>
                      </a:r>
                    </a:p>
                    <a:p>
                      <a:pPr marL="0" algn="l" defTabSz="914400" rtl="0" eaLnBrk="1" latinLnBrk="0" hangingPunct="1">
                        <a:lnSpc>
                          <a:spcPts val="1800"/>
                        </a:lnSpc>
                        <a:buNone/>
                      </a:pP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是网页调试工具，拥有强大的开发者工具，用于模拟移动端访问、调试前端页面与网络请求</a:t>
                      </a:r>
                      <a:r>
                        <a:rPr lang="zh-CN" altLang="en-US" sz="12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a:lnSpc>
                          <a:spcPts val="1800"/>
                        </a:lnSpc>
                        <a:buNone/>
                      </a:pPr>
                      <a:r>
                        <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大模型 </a:t>
                      </a:r>
                      <a:r>
                        <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API</a:t>
                      </a:r>
                    </a:p>
                    <a:p>
                      <a:pPr marL="0" algn="l" defTabSz="914400" rtl="0" eaLnBrk="1" latinLnBrk="0" hangingPunct="1">
                        <a:lnSpc>
                          <a:spcPts val="1800"/>
                        </a:lnSpc>
                        <a:buNone/>
                      </a:pP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是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AI </a:t>
                      </a:r>
                      <a:r>
                        <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能力支撑平台，用于解析用户自然语言、生成个性化职业规划报告，解决职业信息不对称核心痛点。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a:lnSpc>
                          <a:spcPts val="1800"/>
                        </a:lnSpc>
                        <a:buNone/>
                      </a:pPr>
                      <a:r>
                        <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应用</a:t>
                      </a:r>
                      <a:endParaRPr lang="en-US" altLang="zh-CN" sz="1800" b="1"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0" algn="l" defTabSz="914400" rtl="0" eaLnBrk="1" latinLnBrk="0" hangingPunct="1">
                        <a:lnSpc>
                          <a:spcPts val="1800"/>
                        </a:lnSpc>
                        <a:buNone/>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实现前后端分离部署，通过 API 代理配置实现跨域通信，最终提供互联网访问地址 ：</a:t>
                      </a:r>
                      <a:r>
                        <a:rPr lang="en-US" altLang="zh-CN"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rPr>
                        <a:t>https://career-planner-eta.vercel.app/</a:t>
                      </a:r>
                      <a:endParaRPr lang="zh-CN" altLang="en-US" sz="1400" b="0" kern="1200" dirty="0">
                        <a:solidFill>
                          <a:srgbClr val="000000"/>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3" name="组合 2"/>
          <p:cNvGrpSpPr/>
          <p:nvPr/>
        </p:nvGrpSpPr>
        <p:grpSpPr>
          <a:xfrm>
            <a:off x="419100" y="259080"/>
            <a:ext cx="923925" cy="923290"/>
            <a:chOff x="660" y="408"/>
            <a:chExt cx="1455" cy="1454"/>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03</a:t>
              </a:r>
              <a:endParaRPr lang="zh-CN" altLang="en-US" sz="4000" dirty="0">
                <a:solidFill>
                  <a:schemeClr val="accent1"/>
                </a:solidFill>
                <a:latin typeface="Century Gothic" panose="020B0502020202020204" pitchFamily="34" charset="0"/>
              </a:endParaRPr>
            </a:p>
          </p:txBody>
        </p:sp>
      </p:grpSp>
      <p:pic>
        <p:nvPicPr>
          <p:cNvPr id="8" name="图片 7"/>
          <p:cNvPicPr>
            <a:picLocks noChangeAspect="1"/>
          </p:cNvPicPr>
          <p:nvPr/>
        </p:nvPicPr>
        <p:blipFill>
          <a:blip r:embed="rId3"/>
          <a:stretch>
            <a:fillRect/>
          </a:stretch>
        </p:blipFill>
        <p:spPr>
          <a:xfrm>
            <a:off x="4486275" y="422910"/>
            <a:ext cx="7705725" cy="297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ppt_x</p:attrName>
                                        </p:attrNameLst>
                                      </p:cBhvr>
                                      <p:tavLst>
                                        <p:tav tm="0">
                                          <p:val>
                                            <p:strVal val="#ppt_x-#ppt_w*1.125000"/>
                                          </p:val>
                                        </p:tav>
                                        <p:tav tm="100000">
                                          <p:val>
                                            <p:strVal val="#ppt_x"/>
                                          </p:val>
                                        </p:tav>
                                      </p:tavLst>
                                    </p:anim>
                                    <p:animEffect transition="in" filter="wipe(right)">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90BEF-35E2-F65B-590A-3A0139417430}"/>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BB941BC-AEB8-41A7-9164-A7FB053C72D7}"/>
              </a:ext>
            </a:extLst>
          </p:cNvPr>
          <p:cNvSpPr/>
          <p:nvPr>
            <p:custDataLst>
              <p:tags r:id="rId1"/>
            </p:custDataLst>
          </p:nvPr>
        </p:nvSpPr>
        <p:spPr>
          <a:xfrm>
            <a:off x="6499225" y="1595755"/>
            <a:ext cx="5573713" cy="4519030"/>
          </a:xfrm>
          <a:prstGeom prst="rect">
            <a:avLst/>
          </a:prstGeom>
          <a:gradFill>
            <a:gsLst>
              <a:gs pos="0">
                <a:schemeClr val="bg2"/>
              </a:gs>
              <a:gs pos="100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A8E5B2E6-AA2F-4392-178B-BB2771ED184E}"/>
              </a:ext>
            </a:extLst>
          </p:cNvPr>
          <p:cNvSpPr/>
          <p:nvPr/>
        </p:nvSpPr>
        <p:spPr>
          <a:xfrm>
            <a:off x="419100" y="1595755"/>
            <a:ext cx="5448300" cy="4519295"/>
          </a:xfrm>
          <a:prstGeom prst="rect">
            <a:avLst/>
          </a:prstGeom>
          <a:gradFill>
            <a:gsLst>
              <a:gs pos="0">
                <a:schemeClr val="bg2"/>
              </a:gs>
              <a:gs pos="100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C9775424-E052-F729-7119-B76BB62EFCED}"/>
              </a:ext>
            </a:extLst>
          </p:cNvPr>
          <p:cNvGrpSpPr/>
          <p:nvPr/>
        </p:nvGrpSpPr>
        <p:grpSpPr>
          <a:xfrm>
            <a:off x="1473289" y="371367"/>
            <a:ext cx="4260761" cy="787074"/>
            <a:chOff x="7318011" y="1456480"/>
            <a:chExt cx="4260761" cy="787074"/>
          </a:xfrm>
        </p:grpSpPr>
        <p:sp>
          <p:nvSpPr>
            <p:cNvPr id="38" name="文本框 37">
              <a:extLst>
                <a:ext uri="{FF2B5EF4-FFF2-40B4-BE49-F238E27FC236}">
                  <a16:creationId xmlns:a16="http://schemas.microsoft.com/office/drawing/2014/main" id="{1FE0FD7B-ACD3-0614-8AF3-5D53B71F6ED5}"/>
                </a:ext>
              </a:extLst>
            </p:cNvPr>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界面展示</a:t>
              </a:r>
            </a:p>
          </p:txBody>
        </p:sp>
        <p:sp>
          <p:nvSpPr>
            <p:cNvPr id="43" name="文本框 42">
              <a:extLst>
                <a:ext uri="{FF2B5EF4-FFF2-40B4-BE49-F238E27FC236}">
                  <a16:creationId xmlns:a16="http://schemas.microsoft.com/office/drawing/2014/main" id="{30640AE9-6DE0-9793-53B7-03A4F7F0F737}"/>
                </a:ext>
              </a:extLst>
            </p:cNvPr>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DISPLAY INTERFACE</a:t>
              </a:r>
            </a:p>
          </p:txBody>
        </p:sp>
      </p:grpSp>
      <p:pic>
        <p:nvPicPr>
          <p:cNvPr id="4" name="图片 3">
            <a:extLst>
              <a:ext uri="{FF2B5EF4-FFF2-40B4-BE49-F238E27FC236}">
                <a16:creationId xmlns:a16="http://schemas.microsoft.com/office/drawing/2014/main" id="{F33D3B4D-DCC9-A2C5-03AF-749E1BD58A2A}"/>
              </a:ext>
            </a:extLst>
          </p:cNvPr>
          <p:cNvPicPr>
            <a:picLocks noChangeAspect="1"/>
          </p:cNvPicPr>
          <p:nvPr/>
        </p:nvPicPr>
        <p:blipFill>
          <a:blip r:embed="rId4"/>
          <a:stretch>
            <a:fillRect/>
          </a:stretch>
        </p:blipFill>
        <p:spPr>
          <a:xfrm>
            <a:off x="535305" y="1720215"/>
            <a:ext cx="5198110" cy="3005455"/>
          </a:xfrm>
          <a:prstGeom prst="rect">
            <a:avLst/>
          </a:prstGeom>
        </p:spPr>
      </p:pic>
      <p:pic>
        <p:nvPicPr>
          <p:cNvPr id="12" name="图片 11">
            <a:extLst>
              <a:ext uri="{FF2B5EF4-FFF2-40B4-BE49-F238E27FC236}">
                <a16:creationId xmlns:a16="http://schemas.microsoft.com/office/drawing/2014/main" id="{5AB3C107-AF8B-633E-0806-739FF9AC5FE3}"/>
              </a:ext>
            </a:extLst>
          </p:cNvPr>
          <p:cNvPicPr>
            <a:picLocks noChangeAspect="1"/>
          </p:cNvPicPr>
          <p:nvPr/>
        </p:nvPicPr>
        <p:blipFill>
          <a:blip r:embed="rId5"/>
          <a:stretch>
            <a:fillRect/>
          </a:stretch>
        </p:blipFill>
        <p:spPr>
          <a:xfrm>
            <a:off x="535305" y="4848860"/>
            <a:ext cx="5198745" cy="1143000"/>
          </a:xfrm>
          <a:prstGeom prst="rect">
            <a:avLst/>
          </a:prstGeom>
        </p:spPr>
      </p:pic>
      <p:sp>
        <p:nvSpPr>
          <p:cNvPr id="14" name="矩形 13">
            <a:extLst>
              <a:ext uri="{FF2B5EF4-FFF2-40B4-BE49-F238E27FC236}">
                <a16:creationId xmlns:a16="http://schemas.microsoft.com/office/drawing/2014/main" id="{318AED83-5E0B-299B-4263-FF40E4346F4D}"/>
              </a:ext>
            </a:extLst>
          </p:cNvPr>
          <p:cNvSpPr/>
          <p:nvPr/>
        </p:nvSpPr>
        <p:spPr>
          <a:xfrm>
            <a:off x="708856" y="6175394"/>
            <a:ext cx="4851008" cy="461665"/>
          </a:xfrm>
          <a:prstGeom prst="rect">
            <a:avLst/>
          </a:prstGeom>
          <a:noFill/>
        </p:spPr>
        <p:txBody>
          <a:bodyPr wrap="none" lIns="91440" tIns="45720" rIns="91440" bIns="45720">
            <a:spAutoFit/>
          </a:bodyPr>
          <a:lstStyle/>
          <a:p>
            <a:pPr algn="ctr"/>
            <a:r>
              <a:rPr lang="zh-CN" altLang="en-US" sz="2400" dirty="0">
                <a:ln w="0"/>
                <a:solidFill>
                  <a:schemeClr val="accent1"/>
                </a:solidFill>
                <a:effectLst>
                  <a:outerShdw blurRad="38100" dist="25400" dir="5400000" algn="ctr" rotWithShape="0">
                    <a:srgbClr val="6E747A">
                      <a:alpha val="43000"/>
                    </a:srgbClr>
                  </a:outerShdw>
                </a:effectLst>
              </a:rPr>
              <a:t>可</a:t>
            </a:r>
            <a:r>
              <a:rPr lang="zh-CN" altLang="en-US" sz="2400" b="0" cap="none" spc="0" dirty="0">
                <a:ln w="0"/>
                <a:solidFill>
                  <a:schemeClr val="accent1"/>
                </a:solidFill>
                <a:effectLst>
                  <a:outerShdw blurRad="38100" dist="25400" dir="5400000" algn="ctr" rotWithShape="0">
                    <a:srgbClr val="6E747A">
                      <a:alpha val="43000"/>
                    </a:srgbClr>
                  </a:outerShdw>
                </a:effectLst>
              </a:rPr>
              <a:t>手工编辑补充    可保留历史记录</a:t>
            </a:r>
          </a:p>
        </p:txBody>
      </p:sp>
      <p:grpSp>
        <p:nvGrpSpPr>
          <p:cNvPr id="9" name="组合 8">
            <a:extLst>
              <a:ext uri="{FF2B5EF4-FFF2-40B4-BE49-F238E27FC236}">
                <a16:creationId xmlns:a16="http://schemas.microsoft.com/office/drawing/2014/main" id="{4502B563-B4E1-E216-AC42-0452700949A5}"/>
              </a:ext>
            </a:extLst>
          </p:cNvPr>
          <p:cNvGrpSpPr/>
          <p:nvPr/>
        </p:nvGrpSpPr>
        <p:grpSpPr>
          <a:xfrm>
            <a:off x="419100" y="259080"/>
            <a:ext cx="923925" cy="923290"/>
            <a:chOff x="660" y="408"/>
            <a:chExt cx="1455" cy="1454"/>
          </a:xfrm>
        </p:grpSpPr>
        <p:sp>
          <p:nvSpPr>
            <p:cNvPr id="23" name="任意多边形: 形状 22">
              <a:extLst>
                <a:ext uri="{FF2B5EF4-FFF2-40B4-BE49-F238E27FC236}">
                  <a16:creationId xmlns:a16="http://schemas.microsoft.com/office/drawing/2014/main" id="{39B84EEF-65F9-31EA-A8FF-A993222323B1}"/>
                </a:ext>
              </a:extLst>
            </p:cNvPr>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a:extLst>
                <a:ext uri="{FF2B5EF4-FFF2-40B4-BE49-F238E27FC236}">
                  <a16:creationId xmlns:a16="http://schemas.microsoft.com/office/drawing/2014/main" id="{C787DEFE-DB49-5204-9118-D6EC11834B01}"/>
                </a:ext>
              </a:extLst>
            </p:cNvPr>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a:extLst>
                <a:ext uri="{FF2B5EF4-FFF2-40B4-BE49-F238E27FC236}">
                  <a16:creationId xmlns:a16="http://schemas.microsoft.com/office/drawing/2014/main" id="{0F8F2955-4944-9047-2436-96EADAB72227}"/>
                </a:ext>
              </a:extLst>
            </p:cNvPr>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03</a:t>
              </a:r>
              <a:endParaRPr lang="zh-CN" altLang="en-US" sz="4000" dirty="0">
                <a:solidFill>
                  <a:schemeClr val="accent1"/>
                </a:solidFill>
                <a:latin typeface="Century Gothic" panose="020B0502020202020204" pitchFamily="34" charset="0"/>
              </a:endParaRPr>
            </a:p>
          </p:txBody>
        </p:sp>
      </p:grpSp>
      <p:sp>
        <p:nvSpPr>
          <p:cNvPr id="13" name="文本框 12">
            <a:extLst>
              <a:ext uri="{FF2B5EF4-FFF2-40B4-BE49-F238E27FC236}">
                <a16:creationId xmlns:a16="http://schemas.microsoft.com/office/drawing/2014/main" id="{FF3419C9-2817-CAAD-CE24-30EDC7A428F9}"/>
              </a:ext>
            </a:extLst>
          </p:cNvPr>
          <p:cNvSpPr txBox="1"/>
          <p:nvPr/>
        </p:nvSpPr>
        <p:spPr>
          <a:xfrm>
            <a:off x="1663780" y="1256784"/>
            <a:ext cx="6097190" cy="369332"/>
          </a:xfrm>
          <a:prstGeom prst="rect">
            <a:avLst/>
          </a:prstGeom>
          <a:noFill/>
        </p:spPr>
        <p:txBody>
          <a:bodyPr wrap="square">
            <a:spAutoFit/>
          </a:bodyPr>
          <a:lstStyle/>
          <a:p>
            <a:r>
              <a:rPr lang="en-US" altLang="zh-CN" sz="1800" b="1" dirty="0">
                <a:solidFill>
                  <a:schemeClr val="tx1">
                    <a:lumMod val="85000"/>
                    <a:lumOff val="15000"/>
                  </a:schemeClr>
                </a:solidFill>
              </a:rPr>
              <a:t>Part1 </a:t>
            </a:r>
            <a:r>
              <a:rPr lang="zh-CN" altLang="en-US" sz="1800" b="1" dirty="0">
                <a:solidFill>
                  <a:schemeClr val="tx1">
                    <a:lumMod val="85000"/>
                    <a:lumOff val="15000"/>
                  </a:schemeClr>
                </a:solidFill>
              </a:rPr>
              <a:t>个人信息导入</a:t>
            </a:r>
            <a:endParaRPr lang="zh-CN" altLang="en-US" dirty="0"/>
          </a:p>
        </p:txBody>
      </p:sp>
      <p:pic>
        <p:nvPicPr>
          <p:cNvPr id="18" name="图片 17">
            <a:extLst>
              <a:ext uri="{FF2B5EF4-FFF2-40B4-BE49-F238E27FC236}">
                <a16:creationId xmlns:a16="http://schemas.microsoft.com/office/drawing/2014/main" id="{807B6402-7916-9B77-7536-A804E3FD4CA3}"/>
              </a:ext>
            </a:extLst>
          </p:cNvPr>
          <p:cNvPicPr>
            <a:picLocks noChangeAspect="1"/>
          </p:cNvPicPr>
          <p:nvPr/>
        </p:nvPicPr>
        <p:blipFill>
          <a:blip r:embed="rId6"/>
          <a:srcRect l="21251" r="21843"/>
          <a:stretch>
            <a:fillRect/>
          </a:stretch>
        </p:blipFill>
        <p:spPr>
          <a:xfrm>
            <a:off x="6676072" y="1720215"/>
            <a:ext cx="5261134" cy="2294724"/>
          </a:xfrm>
          <a:prstGeom prst="rect">
            <a:avLst/>
          </a:prstGeom>
        </p:spPr>
      </p:pic>
      <p:pic>
        <p:nvPicPr>
          <p:cNvPr id="19" name="图片 18">
            <a:extLst>
              <a:ext uri="{FF2B5EF4-FFF2-40B4-BE49-F238E27FC236}">
                <a16:creationId xmlns:a16="http://schemas.microsoft.com/office/drawing/2014/main" id="{AE81089B-DC27-2EEC-6D91-52896C17C7F0}"/>
              </a:ext>
            </a:extLst>
          </p:cNvPr>
          <p:cNvPicPr>
            <a:picLocks noChangeAspect="1"/>
          </p:cNvPicPr>
          <p:nvPr/>
        </p:nvPicPr>
        <p:blipFill>
          <a:blip r:embed="rId7"/>
          <a:stretch>
            <a:fillRect/>
          </a:stretch>
        </p:blipFill>
        <p:spPr>
          <a:xfrm>
            <a:off x="6676071" y="4171633"/>
            <a:ext cx="2696648" cy="1820228"/>
          </a:xfrm>
          <a:prstGeom prst="rect">
            <a:avLst/>
          </a:prstGeom>
        </p:spPr>
      </p:pic>
      <p:pic>
        <p:nvPicPr>
          <p:cNvPr id="20" name="图片 19">
            <a:extLst>
              <a:ext uri="{FF2B5EF4-FFF2-40B4-BE49-F238E27FC236}">
                <a16:creationId xmlns:a16="http://schemas.microsoft.com/office/drawing/2014/main" id="{264CB13F-53B6-6BD8-1154-16FE2FBCB4FC}"/>
              </a:ext>
            </a:extLst>
          </p:cNvPr>
          <p:cNvPicPr>
            <a:picLocks noChangeAspect="1"/>
          </p:cNvPicPr>
          <p:nvPr/>
        </p:nvPicPr>
        <p:blipFill>
          <a:blip r:embed="rId8"/>
          <a:stretch>
            <a:fillRect/>
          </a:stretch>
        </p:blipFill>
        <p:spPr>
          <a:xfrm>
            <a:off x="9551194" y="4179567"/>
            <a:ext cx="2343269" cy="1804360"/>
          </a:xfrm>
          <a:prstGeom prst="rect">
            <a:avLst/>
          </a:prstGeom>
        </p:spPr>
      </p:pic>
      <p:sp>
        <p:nvSpPr>
          <p:cNvPr id="22" name="文本框 21">
            <a:extLst>
              <a:ext uri="{FF2B5EF4-FFF2-40B4-BE49-F238E27FC236}">
                <a16:creationId xmlns:a16="http://schemas.microsoft.com/office/drawing/2014/main" id="{080ED9CB-167B-6D3D-1052-A8311A675529}"/>
              </a:ext>
            </a:extLst>
          </p:cNvPr>
          <p:cNvSpPr txBox="1"/>
          <p:nvPr/>
        </p:nvSpPr>
        <p:spPr>
          <a:xfrm>
            <a:off x="7760970" y="1194189"/>
            <a:ext cx="6097190" cy="369332"/>
          </a:xfrm>
          <a:prstGeom prst="rect">
            <a:avLst/>
          </a:prstGeom>
          <a:noFill/>
        </p:spPr>
        <p:txBody>
          <a:bodyPr wrap="square">
            <a:spAutoFit/>
          </a:bodyPr>
          <a:lstStyle/>
          <a:p>
            <a:r>
              <a:rPr lang="en-US" altLang="zh-CN" sz="1800" b="1" dirty="0">
                <a:solidFill>
                  <a:schemeClr val="tx1">
                    <a:lumMod val="85000"/>
                    <a:lumOff val="15000"/>
                  </a:schemeClr>
                </a:solidFill>
              </a:rPr>
              <a:t>Part2 </a:t>
            </a:r>
            <a:r>
              <a:rPr lang="zh-CN" altLang="en-US" sz="1800" b="1" dirty="0">
                <a:solidFill>
                  <a:schemeClr val="tx1">
                    <a:lumMod val="85000"/>
                    <a:lumOff val="15000"/>
                  </a:schemeClr>
                </a:solidFill>
              </a:rPr>
              <a:t>就业能力画像</a:t>
            </a:r>
            <a:endParaRPr lang="zh-CN" altLang="en-US" dirty="0"/>
          </a:p>
        </p:txBody>
      </p:sp>
      <p:sp>
        <p:nvSpPr>
          <p:cNvPr id="26" name="矩形 25">
            <a:extLst>
              <a:ext uri="{FF2B5EF4-FFF2-40B4-BE49-F238E27FC236}">
                <a16:creationId xmlns:a16="http://schemas.microsoft.com/office/drawing/2014/main" id="{A8449274-BD76-205B-5F7D-2D40CE6A2F1C}"/>
              </a:ext>
            </a:extLst>
          </p:cNvPr>
          <p:cNvSpPr/>
          <p:nvPr/>
        </p:nvSpPr>
        <p:spPr>
          <a:xfrm>
            <a:off x="7957161" y="6164421"/>
            <a:ext cx="2646878" cy="461665"/>
          </a:xfrm>
          <a:prstGeom prst="rect">
            <a:avLst/>
          </a:prstGeom>
          <a:noFill/>
        </p:spPr>
        <p:txBody>
          <a:bodyPr wrap="none" lIns="91440" tIns="45720" rIns="91440" bIns="45720">
            <a:spAutoFit/>
          </a:bodyPr>
          <a:lstStyle/>
          <a:p>
            <a:pPr algn="ctr"/>
            <a:r>
              <a:rPr lang="zh-CN" altLang="en-US" sz="2400" dirty="0">
                <a:ln w="0"/>
                <a:solidFill>
                  <a:schemeClr val="accent1"/>
                </a:solidFill>
                <a:effectLst>
                  <a:outerShdw blurRad="38100" dist="25400" dir="5400000" algn="ctr" rotWithShape="0">
                    <a:srgbClr val="6E747A">
                      <a:alpha val="43000"/>
                    </a:srgbClr>
                  </a:outerShdw>
                </a:effectLst>
              </a:rPr>
              <a:t>多维度个性化总结</a:t>
            </a:r>
            <a:endParaRPr lang="zh-CN" altLang="en-US" sz="24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4823826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flipH="1" flipV="1">
            <a:off x="6327608" y="662105"/>
            <a:ext cx="4979035" cy="2605405"/>
          </a:xfrm>
          <a:prstGeom prst="rect">
            <a:avLst/>
          </a:prstGeom>
          <a:gradFill>
            <a:gsLst>
              <a:gs pos="0">
                <a:schemeClr val="bg2"/>
              </a:gs>
              <a:gs pos="100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p>
        </p:txBody>
      </p:sp>
      <p:sp>
        <p:nvSpPr>
          <p:cNvPr id="2" name="矩形 1"/>
          <p:cNvSpPr/>
          <p:nvPr/>
        </p:nvSpPr>
        <p:spPr>
          <a:xfrm flipH="1" flipV="1">
            <a:off x="602614" y="1403349"/>
            <a:ext cx="5022215" cy="5454650"/>
          </a:xfrm>
          <a:prstGeom prst="rect">
            <a:avLst/>
          </a:prstGeom>
          <a:gradFill>
            <a:gsLst>
              <a:gs pos="0">
                <a:schemeClr val="bg2"/>
              </a:gs>
              <a:gs pos="100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c</a:t>
            </a:r>
          </a:p>
        </p:txBody>
      </p:sp>
      <p:grpSp>
        <p:nvGrpSpPr>
          <p:cNvPr id="37" name="组合 36"/>
          <p:cNvGrpSpPr/>
          <p:nvPr/>
        </p:nvGrpSpPr>
        <p:grpSpPr>
          <a:xfrm>
            <a:off x="1423283" y="210979"/>
            <a:ext cx="4260761" cy="787074"/>
            <a:chOff x="7318011" y="1456480"/>
            <a:chExt cx="4260761" cy="787074"/>
          </a:xfrm>
        </p:grpSpPr>
        <p:sp>
          <p:nvSpPr>
            <p:cNvPr id="38" name="文本框 37"/>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界面展示</a:t>
              </a:r>
            </a:p>
          </p:txBody>
        </p:sp>
        <p:sp>
          <p:nvSpPr>
            <p:cNvPr id="43" name="文本框 42"/>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DISPLAY INTERFACE</a:t>
              </a:r>
            </a:p>
          </p:txBody>
        </p:sp>
      </p:grpSp>
      <p:pic>
        <p:nvPicPr>
          <p:cNvPr id="6" name="图片 5"/>
          <p:cNvPicPr>
            <a:picLocks noChangeAspect="1"/>
          </p:cNvPicPr>
          <p:nvPr/>
        </p:nvPicPr>
        <p:blipFill>
          <a:blip r:embed="rId3"/>
          <a:stretch>
            <a:fillRect/>
          </a:stretch>
        </p:blipFill>
        <p:spPr>
          <a:xfrm>
            <a:off x="740408" y="1511935"/>
            <a:ext cx="4746625" cy="2447888"/>
          </a:xfrm>
          <a:prstGeom prst="rect">
            <a:avLst/>
          </a:prstGeom>
        </p:spPr>
      </p:pic>
      <p:pic>
        <p:nvPicPr>
          <p:cNvPr id="8" name="图片 7"/>
          <p:cNvPicPr>
            <a:picLocks noChangeAspect="1"/>
          </p:cNvPicPr>
          <p:nvPr/>
        </p:nvPicPr>
        <p:blipFill>
          <a:blip r:embed="rId4"/>
          <a:stretch>
            <a:fillRect/>
          </a:stretch>
        </p:blipFill>
        <p:spPr>
          <a:xfrm>
            <a:off x="796289" y="4170044"/>
            <a:ext cx="4634865" cy="2428876"/>
          </a:xfrm>
          <a:prstGeom prst="rect">
            <a:avLst/>
          </a:prstGeom>
        </p:spPr>
      </p:pic>
      <p:sp>
        <p:nvSpPr>
          <p:cNvPr id="9" name="矩形 8"/>
          <p:cNvSpPr/>
          <p:nvPr/>
        </p:nvSpPr>
        <p:spPr>
          <a:xfrm>
            <a:off x="5605780" y="1826302"/>
            <a:ext cx="490220" cy="1347470"/>
          </a:xfrm>
          <a:prstGeom prst="rect">
            <a:avLst/>
          </a:prstGeom>
          <a:noFill/>
        </p:spPr>
        <p:txBody>
          <a:bodyPr vert="eaVert" wrap="none" lIns="91440" tIns="45720" rIns="91440" bIns="45720">
            <a:spAutoFit/>
          </a:bodyPr>
          <a:lstStyle/>
          <a:p>
            <a:pPr algn="ctr"/>
            <a:r>
              <a:rPr lang="en-US" altLang="zh-CN" sz="2000" b="0" cap="none" spc="0" dirty="0">
                <a:ln w="0"/>
                <a:solidFill>
                  <a:schemeClr val="accent1"/>
                </a:solidFill>
                <a:effectLst>
                  <a:outerShdw blurRad="38100" dist="25400" dir="5400000" algn="ctr" rotWithShape="0">
                    <a:srgbClr val="6E747A">
                      <a:alpha val="43000"/>
                    </a:srgbClr>
                  </a:outerShdw>
                </a:effectLst>
              </a:rPr>
              <a:t>AI</a:t>
            </a:r>
            <a:r>
              <a:rPr lang="zh-CN" altLang="en-US" sz="2000" dirty="0">
                <a:ln w="0"/>
                <a:solidFill>
                  <a:schemeClr val="accent1"/>
                </a:solidFill>
                <a:effectLst>
                  <a:outerShdw blurRad="38100" dist="25400" dir="5400000" algn="ctr" rotWithShape="0">
                    <a:srgbClr val="6E747A">
                      <a:alpha val="43000"/>
                    </a:srgbClr>
                  </a:outerShdw>
                </a:effectLst>
              </a:rPr>
              <a:t>智能推荐</a:t>
            </a:r>
            <a:endParaRPr lang="zh-CN" altLang="en-US" sz="2000" b="0" cap="none" spc="0" dirty="0">
              <a:ln w="0"/>
              <a:solidFill>
                <a:schemeClr val="accent1"/>
              </a:solidFill>
              <a:effectLst>
                <a:outerShdw blurRad="38100" dist="25400" dir="5400000" algn="ctr" rotWithShape="0">
                  <a:srgbClr val="6E747A">
                    <a:alpha val="43000"/>
                  </a:srgbClr>
                </a:outerShdw>
              </a:effectLst>
            </a:endParaRPr>
          </a:p>
        </p:txBody>
      </p:sp>
      <p:sp>
        <p:nvSpPr>
          <p:cNvPr id="10" name="矩形 9"/>
          <p:cNvSpPr/>
          <p:nvPr/>
        </p:nvSpPr>
        <p:spPr>
          <a:xfrm>
            <a:off x="11318380" y="1027687"/>
            <a:ext cx="492443" cy="1631216"/>
          </a:xfrm>
          <a:prstGeom prst="rect">
            <a:avLst/>
          </a:prstGeom>
          <a:noFill/>
        </p:spPr>
        <p:txBody>
          <a:bodyPr vert="eaVert" wrap="none" lIns="91440" tIns="45720" rIns="91440" bIns="45720">
            <a:spAutoFit/>
          </a:bodyPr>
          <a:lstStyle/>
          <a:p>
            <a:pPr algn="ctr"/>
            <a:r>
              <a:rPr lang="zh-CN" altLang="en-US" sz="2000" dirty="0">
                <a:ln w="0"/>
                <a:solidFill>
                  <a:schemeClr val="accent1"/>
                </a:solidFill>
                <a:effectLst>
                  <a:outerShdw blurRad="38100" dist="25400" dir="5400000" algn="ctr" rotWithShape="0">
                    <a:srgbClr val="6E747A">
                      <a:alpha val="43000"/>
                    </a:srgbClr>
                  </a:outerShdw>
                </a:effectLst>
              </a:rPr>
              <a:t>四维线性加权</a:t>
            </a:r>
            <a:endParaRPr lang="zh-CN" altLang="en-US" sz="2000" b="0" cap="none" spc="0" dirty="0">
              <a:ln w="0"/>
              <a:solidFill>
                <a:schemeClr val="accent1"/>
              </a:solidFill>
              <a:effectLst>
                <a:outerShdw blurRad="38100" dist="25400" dir="5400000" algn="ctr" rotWithShape="0">
                  <a:srgbClr val="6E747A">
                    <a:alpha val="43000"/>
                  </a:srgbClr>
                </a:outerShdw>
              </a:effectLst>
            </a:endParaRPr>
          </a:p>
        </p:txBody>
      </p:sp>
      <p:sp>
        <p:nvSpPr>
          <p:cNvPr id="11" name="矩形 10"/>
          <p:cNvSpPr/>
          <p:nvPr/>
        </p:nvSpPr>
        <p:spPr>
          <a:xfrm>
            <a:off x="5624828" y="4338320"/>
            <a:ext cx="490220" cy="2292985"/>
          </a:xfrm>
          <a:prstGeom prst="rect">
            <a:avLst/>
          </a:prstGeom>
          <a:noFill/>
        </p:spPr>
        <p:txBody>
          <a:bodyPr vert="mongolianVert" wrap="none" lIns="91440" tIns="45720" rIns="91440" bIns="45720">
            <a:spAutoFit/>
          </a:bodyPr>
          <a:lstStyle/>
          <a:p>
            <a:pPr algn="ctr"/>
            <a:r>
              <a:rPr lang="zh-CN" altLang="en-US" sz="2000" b="0" cap="none" spc="0" dirty="0">
                <a:ln w="0"/>
                <a:solidFill>
                  <a:schemeClr val="accent1"/>
                </a:solidFill>
                <a:effectLst>
                  <a:outerShdw blurRad="38100" dist="25400" dir="5400000" algn="ctr" rotWithShape="0">
                    <a:srgbClr val="6E747A">
                      <a:alpha val="43000"/>
                    </a:srgbClr>
                  </a:outerShdw>
                </a:effectLst>
              </a:rPr>
              <a:t>垂直</a:t>
            </a:r>
            <a:r>
              <a:rPr lang="en-US" altLang="zh-CN" sz="2000" b="0" cap="none" spc="0" dirty="0">
                <a:ln w="0"/>
                <a:solidFill>
                  <a:schemeClr val="accent1"/>
                </a:solidFill>
                <a:effectLst>
                  <a:outerShdw blurRad="38100" dist="25400" dir="5400000" algn="ctr" rotWithShape="0">
                    <a:srgbClr val="6E747A">
                      <a:alpha val="43000"/>
                    </a:srgbClr>
                  </a:outerShdw>
                </a:effectLst>
              </a:rPr>
              <a:t>&amp;</a:t>
            </a:r>
            <a:r>
              <a:rPr lang="zh-CN" altLang="en-US" sz="2000" b="0" cap="none" spc="0" dirty="0">
                <a:ln w="0"/>
                <a:solidFill>
                  <a:schemeClr val="accent1"/>
                </a:solidFill>
                <a:effectLst>
                  <a:outerShdw blurRad="38100" dist="25400" dir="5400000" algn="ctr" rotWithShape="0">
                    <a:srgbClr val="6E747A">
                      <a:alpha val="43000"/>
                    </a:srgbClr>
                  </a:outerShdw>
                </a:effectLst>
              </a:rPr>
              <a:t>横向晋升图谱</a:t>
            </a:r>
          </a:p>
        </p:txBody>
      </p:sp>
      <p:grpSp>
        <p:nvGrpSpPr>
          <p:cNvPr id="14" name="组合 13"/>
          <p:cNvGrpSpPr/>
          <p:nvPr/>
        </p:nvGrpSpPr>
        <p:grpSpPr>
          <a:xfrm>
            <a:off x="419100" y="259080"/>
            <a:ext cx="923925" cy="923290"/>
            <a:chOff x="660" y="408"/>
            <a:chExt cx="1455" cy="1454"/>
          </a:xfrm>
        </p:grpSpPr>
        <p:sp>
          <p:nvSpPr>
            <p:cNvPr id="23"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03</a:t>
              </a:r>
              <a:endParaRPr lang="zh-CN" altLang="en-US" sz="4000" dirty="0">
                <a:solidFill>
                  <a:schemeClr val="accent1"/>
                </a:solidFill>
                <a:latin typeface="Century Gothic" panose="020B0502020202020204" pitchFamily="34" charset="0"/>
              </a:endParaRPr>
            </a:p>
          </p:txBody>
        </p:sp>
      </p:grpSp>
      <p:sp>
        <p:nvSpPr>
          <p:cNvPr id="7" name="文本框 6">
            <a:extLst>
              <a:ext uri="{FF2B5EF4-FFF2-40B4-BE49-F238E27FC236}">
                <a16:creationId xmlns:a16="http://schemas.microsoft.com/office/drawing/2014/main" id="{DDA52985-4A50-7EDF-5B21-63ABEB38F4B3}"/>
              </a:ext>
            </a:extLst>
          </p:cNvPr>
          <p:cNvSpPr txBox="1"/>
          <p:nvPr/>
        </p:nvSpPr>
        <p:spPr>
          <a:xfrm>
            <a:off x="2118058" y="959577"/>
            <a:ext cx="6097190" cy="369332"/>
          </a:xfrm>
          <a:prstGeom prst="rect">
            <a:avLst/>
          </a:prstGeom>
          <a:noFill/>
        </p:spPr>
        <p:txBody>
          <a:bodyPr wrap="square">
            <a:spAutoFit/>
          </a:bodyPr>
          <a:lstStyle/>
          <a:p>
            <a:r>
              <a:rPr lang="en-US" altLang="zh-CN" sz="1800" b="1" dirty="0">
                <a:solidFill>
                  <a:schemeClr val="tx1">
                    <a:lumMod val="85000"/>
                    <a:lumOff val="15000"/>
                  </a:schemeClr>
                </a:solidFill>
              </a:rPr>
              <a:t>Part3 </a:t>
            </a:r>
            <a:r>
              <a:rPr lang="zh-CN" altLang="en-US" sz="1800" b="1" dirty="0">
                <a:solidFill>
                  <a:schemeClr val="tx1">
                    <a:lumMod val="85000"/>
                    <a:lumOff val="15000"/>
                  </a:schemeClr>
                </a:solidFill>
              </a:rPr>
              <a:t>岗位探索</a:t>
            </a:r>
            <a:endParaRPr lang="zh-CN" altLang="en-US" dirty="0"/>
          </a:p>
        </p:txBody>
      </p:sp>
      <p:sp>
        <p:nvSpPr>
          <p:cNvPr id="16" name="文本框 15">
            <a:extLst>
              <a:ext uri="{FF2B5EF4-FFF2-40B4-BE49-F238E27FC236}">
                <a16:creationId xmlns:a16="http://schemas.microsoft.com/office/drawing/2014/main" id="{C1237A8F-5570-E308-7C45-4995A56E55FD}"/>
              </a:ext>
            </a:extLst>
          </p:cNvPr>
          <p:cNvSpPr txBox="1"/>
          <p:nvPr/>
        </p:nvSpPr>
        <p:spPr>
          <a:xfrm>
            <a:off x="7720122" y="259079"/>
            <a:ext cx="6097190" cy="369332"/>
          </a:xfrm>
          <a:prstGeom prst="rect">
            <a:avLst/>
          </a:prstGeom>
          <a:noFill/>
        </p:spPr>
        <p:txBody>
          <a:bodyPr wrap="square">
            <a:spAutoFit/>
          </a:bodyPr>
          <a:lstStyle/>
          <a:p>
            <a:r>
              <a:rPr lang="en-US" altLang="zh-CN" sz="1800" b="1" dirty="0">
                <a:solidFill>
                  <a:schemeClr val="tx1">
                    <a:lumMod val="85000"/>
                    <a:lumOff val="15000"/>
                  </a:schemeClr>
                </a:solidFill>
              </a:rPr>
              <a:t>Part4 </a:t>
            </a:r>
            <a:r>
              <a:rPr lang="zh-CN" altLang="en-US" sz="1800" b="1" dirty="0">
                <a:solidFill>
                  <a:schemeClr val="tx1">
                    <a:lumMod val="85000"/>
                    <a:lumOff val="15000"/>
                  </a:schemeClr>
                </a:solidFill>
              </a:rPr>
              <a:t>人岗匹配分析</a:t>
            </a:r>
            <a:endParaRPr lang="zh-CN" altLang="en-US" dirty="0"/>
          </a:p>
        </p:txBody>
      </p:sp>
      <p:pic>
        <p:nvPicPr>
          <p:cNvPr id="17" name="图片 16">
            <a:extLst>
              <a:ext uri="{FF2B5EF4-FFF2-40B4-BE49-F238E27FC236}">
                <a16:creationId xmlns:a16="http://schemas.microsoft.com/office/drawing/2014/main" id="{D5AA17D0-D3C6-54BF-0989-FA0051B76D02}"/>
              </a:ext>
            </a:extLst>
          </p:cNvPr>
          <p:cNvPicPr>
            <a:picLocks noChangeAspect="1"/>
          </p:cNvPicPr>
          <p:nvPr/>
        </p:nvPicPr>
        <p:blipFill>
          <a:blip r:embed="rId5"/>
          <a:stretch>
            <a:fillRect/>
          </a:stretch>
        </p:blipFill>
        <p:spPr>
          <a:xfrm>
            <a:off x="6452494" y="795754"/>
            <a:ext cx="4768548" cy="2123758"/>
          </a:xfrm>
          <a:prstGeom prst="rect">
            <a:avLst/>
          </a:prstGeom>
          <a:effectLst/>
        </p:spPr>
      </p:pic>
      <p:sp>
        <p:nvSpPr>
          <p:cNvPr id="18" name="矩形 17">
            <a:extLst>
              <a:ext uri="{FF2B5EF4-FFF2-40B4-BE49-F238E27FC236}">
                <a16:creationId xmlns:a16="http://schemas.microsoft.com/office/drawing/2014/main" id="{F586323F-604C-1F31-8EBB-594B654D9BB3}"/>
              </a:ext>
            </a:extLst>
          </p:cNvPr>
          <p:cNvSpPr/>
          <p:nvPr/>
        </p:nvSpPr>
        <p:spPr>
          <a:xfrm flipH="1" flipV="1">
            <a:off x="6452492" y="4008755"/>
            <a:ext cx="4963239" cy="2707284"/>
          </a:xfrm>
          <a:prstGeom prst="rect">
            <a:avLst/>
          </a:prstGeom>
          <a:gradFill>
            <a:gsLst>
              <a:gs pos="0">
                <a:schemeClr val="bg2"/>
              </a:gs>
              <a:gs pos="100000">
                <a:schemeClr val="accent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p>
        </p:txBody>
      </p:sp>
      <p:sp>
        <p:nvSpPr>
          <p:cNvPr id="20" name="文本框 19">
            <a:extLst>
              <a:ext uri="{FF2B5EF4-FFF2-40B4-BE49-F238E27FC236}">
                <a16:creationId xmlns:a16="http://schemas.microsoft.com/office/drawing/2014/main" id="{B6496886-3B01-86BC-62A6-5C0A7F1FE6C6}"/>
              </a:ext>
            </a:extLst>
          </p:cNvPr>
          <p:cNvSpPr txBox="1"/>
          <p:nvPr/>
        </p:nvSpPr>
        <p:spPr>
          <a:xfrm>
            <a:off x="7720122" y="3590491"/>
            <a:ext cx="6990158" cy="369332"/>
          </a:xfrm>
          <a:prstGeom prst="rect">
            <a:avLst/>
          </a:prstGeom>
          <a:noFill/>
        </p:spPr>
        <p:txBody>
          <a:bodyPr wrap="square">
            <a:spAutoFit/>
          </a:bodyPr>
          <a:lstStyle/>
          <a:p>
            <a:r>
              <a:rPr lang="en-US" altLang="zh-CN" sz="1800" b="1" dirty="0">
                <a:solidFill>
                  <a:schemeClr val="tx1">
                    <a:lumMod val="85000"/>
                    <a:lumOff val="15000"/>
                  </a:schemeClr>
                </a:solidFill>
              </a:rPr>
              <a:t>Part5 </a:t>
            </a:r>
            <a:r>
              <a:rPr lang="zh-CN" altLang="en-US" sz="1800" b="1" dirty="0">
                <a:solidFill>
                  <a:schemeClr val="tx1">
                    <a:lumMod val="85000"/>
                    <a:lumOff val="15000"/>
                  </a:schemeClr>
                </a:solidFill>
              </a:rPr>
              <a:t>职业生涯报告</a:t>
            </a:r>
            <a:endParaRPr lang="zh-CN" altLang="en-US" dirty="0"/>
          </a:p>
        </p:txBody>
      </p:sp>
      <p:pic>
        <p:nvPicPr>
          <p:cNvPr id="21" name="图片 20">
            <a:extLst>
              <a:ext uri="{FF2B5EF4-FFF2-40B4-BE49-F238E27FC236}">
                <a16:creationId xmlns:a16="http://schemas.microsoft.com/office/drawing/2014/main" id="{50B67227-F688-92D8-FE5C-75ACA220C8A8}"/>
              </a:ext>
            </a:extLst>
          </p:cNvPr>
          <p:cNvPicPr>
            <a:picLocks noChangeAspect="1"/>
          </p:cNvPicPr>
          <p:nvPr/>
        </p:nvPicPr>
        <p:blipFill>
          <a:blip r:embed="rId6"/>
          <a:stretch>
            <a:fillRect/>
          </a:stretch>
        </p:blipFill>
        <p:spPr>
          <a:xfrm>
            <a:off x="6636664" y="4122837"/>
            <a:ext cx="4594894" cy="2476084"/>
          </a:xfrm>
          <a:prstGeom prst="rect">
            <a:avLst/>
          </a:prstGeom>
        </p:spPr>
      </p:pic>
      <p:sp>
        <p:nvSpPr>
          <p:cNvPr id="22" name="矩形 21">
            <a:extLst>
              <a:ext uri="{FF2B5EF4-FFF2-40B4-BE49-F238E27FC236}">
                <a16:creationId xmlns:a16="http://schemas.microsoft.com/office/drawing/2014/main" id="{C0111950-6410-B3F8-E2F9-04A34C3A7C56}"/>
              </a:ext>
            </a:extLst>
          </p:cNvPr>
          <p:cNvSpPr/>
          <p:nvPr/>
        </p:nvSpPr>
        <p:spPr>
          <a:xfrm>
            <a:off x="11506993" y="4608737"/>
            <a:ext cx="492443" cy="1374735"/>
          </a:xfrm>
          <a:prstGeom prst="rect">
            <a:avLst/>
          </a:prstGeom>
          <a:noFill/>
        </p:spPr>
        <p:txBody>
          <a:bodyPr vert="eaVert" wrap="none" lIns="91440" tIns="45720" rIns="91440" bIns="45720">
            <a:spAutoFit/>
          </a:bodyPr>
          <a:lstStyle/>
          <a:p>
            <a:pPr algn="ctr"/>
            <a:r>
              <a:rPr lang="zh-CN" altLang="en-US" sz="2000" dirty="0">
                <a:ln w="0"/>
                <a:solidFill>
                  <a:schemeClr val="accent1"/>
                </a:solidFill>
                <a:effectLst>
                  <a:outerShdw blurRad="38100" dist="25400" dir="5400000" algn="ctr" rotWithShape="0">
                    <a:srgbClr val="6E747A">
                      <a:alpha val="43000"/>
                    </a:srgbClr>
                  </a:outerShdw>
                </a:effectLst>
              </a:rPr>
              <a:t>全方位总结</a:t>
            </a:r>
            <a:endParaRPr lang="zh-CN" altLang="en-US" sz="20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descr="../../Library/Containers/com.tencent.qq/Data/Library/Caches/Images/45A14011E5637799F378AED88FC846AC.png"/>
          <p:cNvPicPr/>
          <p:nvPr/>
        </p:nvPicPr>
        <p:blipFill>
          <a:blip r:embed="rId22">
            <a:extLst>
              <a:ext uri="{28A0092B-C50C-407E-A947-70E740481C1C}">
                <a14:useLocalDpi xmlns:a14="http://schemas.microsoft.com/office/drawing/2010/main" val="0"/>
              </a:ext>
            </a:extLst>
          </a:blip>
          <a:srcRect/>
          <a:stretch>
            <a:fillRect/>
          </a:stretch>
        </p:blipFill>
        <p:spPr bwMode="auto">
          <a:xfrm>
            <a:off x="7908290" y="4097020"/>
            <a:ext cx="4099560" cy="2444750"/>
          </a:xfrm>
          <a:prstGeom prst="rect">
            <a:avLst/>
          </a:prstGeom>
          <a:noFill/>
          <a:ln>
            <a:noFill/>
          </a:ln>
        </p:spPr>
      </p:pic>
      <p:grpSp>
        <p:nvGrpSpPr>
          <p:cNvPr id="16" name="组合 15"/>
          <p:cNvGrpSpPr/>
          <p:nvPr>
            <p:custDataLst>
              <p:tags r:id="rId1"/>
            </p:custDataLst>
          </p:nvPr>
        </p:nvGrpSpPr>
        <p:grpSpPr>
          <a:xfrm>
            <a:off x="728666" y="1460770"/>
            <a:ext cx="2501951" cy="1521102"/>
            <a:chOff x="8357282" y="2192795"/>
            <a:chExt cx="2501951" cy="1521102"/>
          </a:xfrm>
        </p:grpSpPr>
        <p:sp>
          <p:nvSpPr>
            <p:cNvPr id="17" name="矩形 16"/>
            <p:cNvSpPr/>
            <p:nvPr>
              <p:custDataLst>
                <p:tags r:id="rId18"/>
              </p:custDataLst>
            </p:nvPr>
          </p:nvSpPr>
          <p:spPr>
            <a:xfrm>
              <a:off x="8357282" y="2192795"/>
              <a:ext cx="2501951" cy="42354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rPr>
                <a:t>项目过程管理</a:t>
              </a:r>
            </a:p>
          </p:txBody>
        </p:sp>
        <p:sp>
          <p:nvSpPr>
            <p:cNvPr id="18" name="文本框 17"/>
            <p:cNvSpPr txBox="1"/>
            <p:nvPr>
              <p:custDataLst>
                <p:tags r:id="rId19"/>
              </p:custDataLst>
            </p:nvPr>
          </p:nvSpPr>
          <p:spPr>
            <a:xfrm>
              <a:off x="8606849" y="2570897"/>
              <a:ext cx="2002816" cy="1143000"/>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200" dirty="0">
                  <a:solidFill>
                    <a:schemeClr val="bg1">
                      <a:lumMod val="50000"/>
                    </a:schemeClr>
                  </a:solidFill>
                  <a:latin typeface="Century Gothic" panose="020B0502020202020204" pitchFamily="34" charset="0"/>
                  <a:ea typeface="+mj-ea"/>
                </a:rPr>
                <a:t>1.</a:t>
              </a:r>
              <a:r>
                <a:rPr lang="zh-CN" altLang="en-US" sz="1200" dirty="0">
                  <a:solidFill>
                    <a:schemeClr val="bg1">
                      <a:lumMod val="50000"/>
                    </a:schemeClr>
                  </a:solidFill>
                  <a:latin typeface="Century Gothic" panose="020B0502020202020204" pitchFamily="34" charset="0"/>
                  <a:ea typeface="+mj-ea"/>
                </a:rPr>
                <a:t>确定项目</a:t>
              </a:r>
              <a:r>
                <a:rPr lang="zh-CN" altLang="en-US" sz="1200" b="1" dirty="0">
                  <a:solidFill>
                    <a:srgbClr val="FF9409"/>
                  </a:solidFill>
                  <a:latin typeface="Century Gothic" panose="020B0502020202020204" pitchFamily="34" charset="0"/>
                  <a:ea typeface="+mj-ea"/>
                </a:rPr>
                <a:t>需求和目标</a:t>
              </a:r>
            </a:p>
            <a:p>
              <a:pPr algn="ctr">
                <a:lnSpc>
                  <a:spcPct val="114000"/>
                </a:lnSpc>
              </a:pPr>
              <a:r>
                <a:rPr lang="en-US" altLang="zh-CN" sz="1200" dirty="0">
                  <a:solidFill>
                    <a:schemeClr val="bg1">
                      <a:lumMod val="50000"/>
                    </a:schemeClr>
                  </a:solidFill>
                  <a:latin typeface="Century Gothic" panose="020B0502020202020204" pitchFamily="34" charset="0"/>
                  <a:ea typeface="+mj-ea"/>
                </a:rPr>
                <a:t>2.</a:t>
              </a:r>
              <a:r>
                <a:rPr lang="zh-CN" altLang="en-US" sz="1200" dirty="0">
                  <a:solidFill>
                    <a:schemeClr val="bg1">
                      <a:lumMod val="50000"/>
                    </a:schemeClr>
                  </a:solidFill>
                  <a:latin typeface="Century Gothic" panose="020B0502020202020204" pitchFamily="34" charset="0"/>
                  <a:ea typeface="+mj-ea"/>
                </a:rPr>
                <a:t>开会讨论、明确团队执行及相关要求。</a:t>
              </a:r>
            </a:p>
            <a:p>
              <a:pPr algn="ctr">
                <a:lnSpc>
                  <a:spcPct val="114000"/>
                </a:lnSpc>
              </a:pPr>
              <a:r>
                <a:rPr lang="en-US" altLang="zh-CN" sz="1200" dirty="0">
                  <a:solidFill>
                    <a:schemeClr val="bg1">
                      <a:lumMod val="50000"/>
                    </a:schemeClr>
                  </a:solidFill>
                  <a:latin typeface="Century Gothic" panose="020B0502020202020204" pitchFamily="34" charset="0"/>
                  <a:ea typeface="+mj-ea"/>
                </a:rPr>
                <a:t>3. </a:t>
              </a:r>
              <a:r>
                <a:rPr lang="zh-CN" altLang="en-US" sz="1200" dirty="0">
                  <a:solidFill>
                    <a:schemeClr val="bg1">
                      <a:lumMod val="50000"/>
                    </a:schemeClr>
                  </a:solidFill>
                  <a:latin typeface="Century Gothic" panose="020B0502020202020204" pitchFamily="34" charset="0"/>
                  <a:ea typeface="+mj-ea"/>
                </a:rPr>
                <a:t>制定任务</a:t>
              </a:r>
              <a:r>
                <a:rPr lang="zh-CN" altLang="en-US" sz="1200" b="1" dirty="0">
                  <a:solidFill>
                    <a:srgbClr val="FF9409"/>
                  </a:solidFill>
                  <a:latin typeface="Century Gothic" panose="020B0502020202020204" pitchFamily="34" charset="0"/>
                  <a:ea typeface="+mj-ea"/>
                </a:rPr>
                <a:t>分配计划</a:t>
              </a:r>
              <a:r>
                <a:rPr lang="zh-CN" altLang="en-US" sz="1200" dirty="0">
                  <a:solidFill>
                    <a:schemeClr val="bg1">
                      <a:lumMod val="50000"/>
                    </a:schemeClr>
                  </a:solidFill>
                  <a:latin typeface="Century Gothic" panose="020B0502020202020204" pitchFamily="34" charset="0"/>
                  <a:ea typeface="+mj-ea"/>
                </a:rPr>
                <a:t>，开发生命周期项目。</a:t>
              </a:r>
            </a:p>
          </p:txBody>
        </p:sp>
      </p:grpSp>
      <p:grpSp>
        <p:nvGrpSpPr>
          <p:cNvPr id="22" name="组合 21"/>
          <p:cNvGrpSpPr/>
          <p:nvPr>
            <p:custDataLst>
              <p:tags r:id="rId2"/>
            </p:custDataLst>
          </p:nvPr>
        </p:nvGrpSpPr>
        <p:grpSpPr>
          <a:xfrm>
            <a:off x="2810550" y="4911655"/>
            <a:ext cx="2501951" cy="1492556"/>
            <a:chOff x="8386922" y="2192795"/>
            <a:chExt cx="2501951" cy="1492556"/>
          </a:xfrm>
        </p:grpSpPr>
        <p:sp>
          <p:nvSpPr>
            <p:cNvPr id="23" name="矩形 22"/>
            <p:cNvSpPr/>
            <p:nvPr>
              <p:custDataLst>
                <p:tags r:id="rId16"/>
              </p:custDataLst>
            </p:nvPr>
          </p:nvSpPr>
          <p:spPr>
            <a:xfrm>
              <a:off x="8386922" y="2192795"/>
              <a:ext cx="2501951" cy="42354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rPr>
                <a:t>项目沟通管理</a:t>
              </a:r>
            </a:p>
          </p:txBody>
        </p:sp>
        <p:sp>
          <p:nvSpPr>
            <p:cNvPr id="30" name="文本框 29"/>
            <p:cNvSpPr txBox="1"/>
            <p:nvPr>
              <p:custDataLst>
                <p:tags r:id="rId17"/>
              </p:custDataLst>
            </p:nvPr>
          </p:nvSpPr>
          <p:spPr>
            <a:xfrm>
              <a:off x="8504910" y="2542351"/>
              <a:ext cx="2265974" cy="1143000"/>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200" dirty="0">
                  <a:solidFill>
                    <a:schemeClr val="bg1">
                      <a:lumMod val="50000"/>
                    </a:schemeClr>
                  </a:solidFill>
                  <a:latin typeface="Century Gothic" panose="020B0502020202020204" pitchFamily="34" charset="0"/>
                  <a:ea typeface="+mj-ea"/>
                </a:rPr>
                <a:t>1.</a:t>
              </a:r>
              <a:r>
                <a:rPr lang="zh-CN" altLang="en-US" sz="1200" dirty="0">
                  <a:solidFill>
                    <a:schemeClr val="bg1">
                      <a:lumMod val="50000"/>
                    </a:schemeClr>
                  </a:solidFill>
                  <a:latin typeface="Century Gothic" panose="020B0502020202020204" pitchFamily="34" charset="0"/>
                  <a:ea typeface="+mj-ea"/>
                </a:rPr>
                <a:t>团队成员</a:t>
              </a:r>
              <a:r>
                <a:rPr lang="zh-CN" altLang="en-US" sz="1200" b="1" dirty="0">
                  <a:solidFill>
                    <a:srgbClr val="FF9409"/>
                  </a:solidFill>
                  <a:latin typeface="Century Gothic" panose="020B0502020202020204" pitchFamily="34" charset="0"/>
                  <a:ea typeface="+mj-ea"/>
                </a:rPr>
                <a:t>召开项目会议</a:t>
              </a:r>
              <a:r>
                <a:rPr lang="zh-CN" altLang="en-US" sz="1200" dirty="0">
                  <a:solidFill>
                    <a:schemeClr val="bg1">
                      <a:lumMod val="50000"/>
                    </a:schemeClr>
                  </a:solidFill>
                  <a:latin typeface="Century Gothic" panose="020B0502020202020204" pitchFamily="34" charset="0"/>
                  <a:ea typeface="+mj-ea"/>
                </a:rPr>
                <a:t>，一周一次大会，每天</a:t>
              </a:r>
              <a:r>
                <a:rPr lang="zh-CN" altLang="en-US" sz="1200" b="1" dirty="0">
                  <a:solidFill>
                    <a:srgbClr val="FF9409"/>
                  </a:solidFill>
                  <a:latin typeface="Century Gothic" panose="020B0502020202020204" pitchFamily="34" charset="0"/>
                  <a:ea typeface="+mj-ea"/>
                </a:rPr>
                <a:t>线上交流</a:t>
              </a:r>
            </a:p>
            <a:p>
              <a:pPr algn="ctr">
                <a:lnSpc>
                  <a:spcPct val="114000"/>
                </a:lnSpc>
              </a:pPr>
              <a:r>
                <a:rPr lang="en-US" altLang="zh-CN" sz="1200" dirty="0">
                  <a:solidFill>
                    <a:schemeClr val="bg1">
                      <a:lumMod val="50000"/>
                    </a:schemeClr>
                  </a:solidFill>
                  <a:latin typeface="Century Gothic" panose="020B0502020202020204" pitchFamily="34" charset="0"/>
                  <a:ea typeface="+mj-ea"/>
                </a:rPr>
                <a:t>2.</a:t>
              </a:r>
              <a:r>
                <a:rPr lang="zh-CN" altLang="en-US" sz="1200" dirty="0">
                  <a:solidFill>
                    <a:schemeClr val="bg1">
                      <a:lumMod val="50000"/>
                    </a:schemeClr>
                  </a:solidFill>
                  <a:latin typeface="Century Gothic" panose="020B0502020202020204" pitchFamily="34" charset="0"/>
                  <a:ea typeface="+mj-ea"/>
                </a:rPr>
                <a:t>识别并解决问题，建立会议文档，保证项目过程中出现问题的解决。</a:t>
              </a:r>
            </a:p>
          </p:txBody>
        </p:sp>
      </p:grpSp>
      <p:grpSp>
        <p:nvGrpSpPr>
          <p:cNvPr id="12" name="组合 11"/>
          <p:cNvGrpSpPr/>
          <p:nvPr>
            <p:custDataLst>
              <p:tags r:id="rId3"/>
            </p:custDataLst>
          </p:nvPr>
        </p:nvGrpSpPr>
        <p:grpSpPr>
          <a:xfrm>
            <a:off x="3230845" y="2362716"/>
            <a:ext cx="1860636" cy="1860636"/>
            <a:chOff x="5244994" y="2096852"/>
            <a:chExt cx="1860636" cy="1860636"/>
          </a:xfrm>
        </p:grpSpPr>
        <p:sp>
          <p:nvSpPr>
            <p:cNvPr id="6" name="Oval 3"/>
            <p:cNvSpPr/>
            <p:nvPr>
              <p:custDataLst>
                <p:tags r:id="rId13"/>
              </p:custDataLst>
            </p:nvPr>
          </p:nvSpPr>
          <p:spPr>
            <a:xfrm>
              <a:off x="5244994" y="2096852"/>
              <a:ext cx="1860636" cy="1860636"/>
            </a:xfrm>
            <a:prstGeom prst="ellipse">
              <a:avLst/>
            </a:prstGeom>
            <a:noFill/>
            <a:ln w="1270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b" anchorCtr="1">
              <a:normAutofit/>
            </a:bodyPr>
            <a:lstStyle/>
            <a:p>
              <a:pPr algn="ctr">
                <a:lnSpc>
                  <a:spcPct val="120000"/>
                </a:lnSpc>
                <a:defRPr/>
              </a:pPr>
              <a:endParaRPr lang="zh-CN" altLang="en-US" sz="1000" dirty="0">
                <a:solidFill>
                  <a:schemeClr val="tx1">
                    <a:lumMod val="65000"/>
                    <a:lumOff val="35000"/>
                  </a:schemeClr>
                </a:solidFill>
              </a:endParaRPr>
            </a:p>
          </p:txBody>
        </p:sp>
        <p:sp>
          <p:nvSpPr>
            <p:cNvPr id="7" name="Arc 4"/>
            <p:cNvSpPr/>
            <p:nvPr>
              <p:custDataLst>
                <p:tags r:id="rId14"/>
              </p:custDataLst>
            </p:nvPr>
          </p:nvSpPr>
          <p:spPr>
            <a:xfrm>
              <a:off x="5244994" y="2096852"/>
              <a:ext cx="1860636" cy="1860636"/>
            </a:xfrm>
            <a:prstGeom prst="arc">
              <a:avLst>
                <a:gd name="adj1" fmla="val 19348155"/>
                <a:gd name="adj2" fmla="val 8179524"/>
              </a:avLst>
            </a:prstGeom>
            <a:ln w="12700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sp>
          <p:nvSpPr>
            <p:cNvPr id="31" name="椭圆 30"/>
            <p:cNvSpPr/>
            <p:nvPr>
              <p:custDataLst>
                <p:tags r:id="rId15"/>
              </p:custDataLst>
            </p:nvPr>
          </p:nvSpPr>
          <p:spPr>
            <a:xfrm>
              <a:off x="5513325" y="2365183"/>
              <a:ext cx="1323974" cy="1323974"/>
            </a:xfrm>
            <a:prstGeom prst="ellipse">
              <a:avLst/>
            </a:prstGeom>
            <a:blipFill>
              <a:blip r:embed="rId23"/>
              <a:srcRect/>
              <a:stretch>
                <a:fillRect l="-25537" r="-250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1473289" y="371367"/>
            <a:ext cx="4260761" cy="787074"/>
            <a:chOff x="7318011" y="1456480"/>
            <a:chExt cx="4260761" cy="787074"/>
          </a:xfrm>
        </p:grpSpPr>
        <p:sp>
          <p:nvSpPr>
            <p:cNvPr id="37" name="文本框 36"/>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项目管理</a:t>
              </a:r>
            </a:p>
          </p:txBody>
        </p:sp>
        <p:sp>
          <p:nvSpPr>
            <p:cNvPr id="38" name="文本框 37"/>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PRODUCT  MANAGEMENT</a:t>
              </a:r>
            </a:p>
          </p:txBody>
        </p:sp>
      </p:grpSp>
      <p:grpSp>
        <p:nvGrpSpPr>
          <p:cNvPr id="39" name="组合 21"/>
          <p:cNvGrpSpPr/>
          <p:nvPr>
            <p:custDataLst>
              <p:tags r:id="rId4"/>
            </p:custDataLst>
          </p:nvPr>
        </p:nvGrpSpPr>
        <p:grpSpPr>
          <a:xfrm>
            <a:off x="5407210" y="3471803"/>
            <a:ext cx="2501951" cy="1492556"/>
            <a:chOff x="8386922" y="2192795"/>
            <a:chExt cx="2501951" cy="1492556"/>
          </a:xfrm>
        </p:grpSpPr>
        <p:sp>
          <p:nvSpPr>
            <p:cNvPr id="40" name="矩形 39"/>
            <p:cNvSpPr/>
            <p:nvPr>
              <p:custDataLst>
                <p:tags r:id="rId11"/>
              </p:custDataLst>
            </p:nvPr>
          </p:nvSpPr>
          <p:spPr>
            <a:xfrm>
              <a:off x="8386922" y="2192795"/>
              <a:ext cx="2501951" cy="42354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rPr>
                <a:t>项目质量管理 </a:t>
              </a:r>
            </a:p>
          </p:txBody>
        </p:sp>
        <p:sp>
          <p:nvSpPr>
            <p:cNvPr id="41" name="文本框 40"/>
            <p:cNvSpPr txBox="1"/>
            <p:nvPr>
              <p:custDataLst>
                <p:tags r:id="rId12"/>
              </p:custDataLst>
            </p:nvPr>
          </p:nvSpPr>
          <p:spPr>
            <a:xfrm>
              <a:off x="8504910" y="2542351"/>
              <a:ext cx="2265974" cy="1143000"/>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200" dirty="0">
                  <a:solidFill>
                    <a:schemeClr val="bg1">
                      <a:lumMod val="50000"/>
                    </a:schemeClr>
                  </a:solidFill>
                  <a:latin typeface="Century Gothic" panose="020B0502020202020204" pitchFamily="34" charset="0"/>
                  <a:ea typeface="+mj-ea"/>
                </a:rPr>
                <a:t>1.</a:t>
              </a:r>
              <a:r>
                <a:rPr lang="zh-CN" altLang="en-US" sz="1200" dirty="0">
                  <a:solidFill>
                    <a:schemeClr val="bg1">
                      <a:lumMod val="50000"/>
                    </a:schemeClr>
                  </a:solidFill>
                  <a:latin typeface="Century Gothic" panose="020B0502020202020204" pitchFamily="34" charset="0"/>
                  <a:ea typeface="+mj-ea"/>
                </a:rPr>
                <a:t>严格监控进度，及时</a:t>
              </a:r>
              <a:r>
                <a:rPr lang="zh-CN" altLang="en-US" sz="1200" b="1" dirty="0">
                  <a:solidFill>
                    <a:srgbClr val="FF9409"/>
                  </a:solidFill>
                  <a:latin typeface="Century Gothic" panose="020B0502020202020204" pitchFamily="34" charset="0"/>
                  <a:ea typeface="+mj-ea"/>
                </a:rPr>
                <a:t>协调解决问题</a:t>
              </a:r>
              <a:r>
                <a:rPr lang="zh-CN" altLang="en-US" sz="1200" dirty="0">
                  <a:solidFill>
                    <a:schemeClr val="bg1">
                      <a:lumMod val="50000"/>
                    </a:schemeClr>
                  </a:solidFill>
                  <a:latin typeface="Century Gothic" panose="020B0502020202020204" pitchFamily="34" charset="0"/>
                  <a:ea typeface="+mj-ea"/>
                </a:rPr>
                <a:t>，把项目限定在准确的范围内进行开发。</a:t>
              </a:r>
            </a:p>
            <a:p>
              <a:pPr algn="ctr">
                <a:lnSpc>
                  <a:spcPct val="114000"/>
                </a:lnSpc>
              </a:pPr>
              <a:r>
                <a:rPr lang="en-US" altLang="zh-CN" sz="1200" dirty="0">
                  <a:solidFill>
                    <a:schemeClr val="bg1">
                      <a:lumMod val="50000"/>
                    </a:schemeClr>
                  </a:solidFill>
                  <a:latin typeface="Century Gothic" panose="020B0502020202020204" pitchFamily="34" charset="0"/>
                  <a:ea typeface="+mj-ea"/>
                </a:rPr>
                <a:t>2.</a:t>
              </a:r>
              <a:r>
                <a:rPr lang="zh-CN" altLang="en-US" sz="1200" dirty="0">
                  <a:solidFill>
                    <a:schemeClr val="bg1">
                      <a:lumMod val="50000"/>
                    </a:schemeClr>
                  </a:solidFill>
                  <a:latin typeface="Century Gothic" panose="020B0502020202020204" pitchFamily="34" charset="0"/>
                  <a:ea typeface="+mj-ea"/>
                </a:rPr>
                <a:t>确保项目按计划进行。</a:t>
              </a:r>
            </a:p>
            <a:p>
              <a:pPr algn="ctr">
                <a:lnSpc>
                  <a:spcPct val="114000"/>
                </a:lnSpc>
              </a:pPr>
              <a:r>
                <a:rPr lang="en-US" altLang="zh-CN" sz="1200" dirty="0">
                  <a:solidFill>
                    <a:schemeClr val="bg1">
                      <a:lumMod val="50000"/>
                    </a:schemeClr>
                  </a:solidFill>
                  <a:latin typeface="Century Gothic" panose="020B0502020202020204" pitchFamily="34" charset="0"/>
                  <a:ea typeface="+mj-ea"/>
                </a:rPr>
                <a:t>3.</a:t>
              </a:r>
              <a:r>
                <a:rPr lang="zh-CN" altLang="en-US" sz="1200" b="1" dirty="0">
                  <a:solidFill>
                    <a:srgbClr val="FF9409"/>
                  </a:solidFill>
                  <a:latin typeface="Century Gothic" panose="020B0502020202020204" pitchFamily="34" charset="0"/>
                  <a:ea typeface="+mj-ea"/>
                </a:rPr>
                <a:t>重点跟踪</a:t>
              </a:r>
              <a:r>
                <a:rPr lang="zh-CN" altLang="en-US" sz="1200" dirty="0">
                  <a:solidFill>
                    <a:schemeClr val="bg1">
                      <a:lumMod val="50000"/>
                    </a:schemeClr>
                  </a:solidFill>
                  <a:latin typeface="Century Gothic" panose="020B0502020202020204" pitchFamily="34" charset="0"/>
                  <a:ea typeface="+mj-ea"/>
                </a:rPr>
                <a:t>监控高风险任务。</a:t>
              </a:r>
            </a:p>
          </p:txBody>
        </p:sp>
      </p:grpSp>
      <p:grpSp>
        <p:nvGrpSpPr>
          <p:cNvPr id="42" name="组合 21"/>
          <p:cNvGrpSpPr/>
          <p:nvPr>
            <p:custDataLst>
              <p:tags r:id="rId5"/>
            </p:custDataLst>
          </p:nvPr>
        </p:nvGrpSpPr>
        <p:grpSpPr>
          <a:xfrm>
            <a:off x="5032747" y="1490156"/>
            <a:ext cx="2501951" cy="1491626"/>
            <a:chOff x="8386922" y="2192795"/>
            <a:chExt cx="2501951" cy="1491626"/>
          </a:xfrm>
        </p:grpSpPr>
        <p:sp>
          <p:nvSpPr>
            <p:cNvPr id="43" name="矩形 42"/>
            <p:cNvSpPr/>
            <p:nvPr>
              <p:custDataLst>
                <p:tags r:id="rId9"/>
              </p:custDataLst>
            </p:nvPr>
          </p:nvSpPr>
          <p:spPr>
            <a:xfrm>
              <a:off x="8386922" y="2192795"/>
              <a:ext cx="2501951" cy="42354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rPr>
                <a:t>项目收尾管理 </a:t>
              </a:r>
            </a:p>
          </p:txBody>
        </p:sp>
        <p:sp>
          <p:nvSpPr>
            <p:cNvPr id="44" name="文本框 43"/>
            <p:cNvSpPr txBox="1"/>
            <p:nvPr>
              <p:custDataLst>
                <p:tags r:id="rId10"/>
              </p:custDataLst>
            </p:nvPr>
          </p:nvSpPr>
          <p:spPr>
            <a:xfrm>
              <a:off x="8548784" y="2541421"/>
              <a:ext cx="2178226" cy="1143000"/>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200" dirty="0">
                  <a:solidFill>
                    <a:schemeClr val="bg1">
                      <a:lumMod val="50000"/>
                    </a:schemeClr>
                  </a:solidFill>
                  <a:latin typeface="Century Gothic" panose="020B0502020202020204" pitchFamily="34" charset="0"/>
                  <a:ea typeface="+mj-ea"/>
                </a:rPr>
                <a:t>1.</a:t>
              </a:r>
              <a:r>
                <a:rPr lang="zh-CN" altLang="en-US" sz="1200" dirty="0">
                  <a:solidFill>
                    <a:schemeClr val="bg1">
                      <a:lumMod val="50000"/>
                    </a:schemeClr>
                  </a:solidFill>
                  <a:latin typeface="Century Gothic" panose="020B0502020202020204" pitchFamily="34" charset="0"/>
                  <a:ea typeface="+mj-ea"/>
                </a:rPr>
                <a:t>评估与验收，负责人根据时间计划最终</a:t>
              </a:r>
              <a:r>
                <a:rPr lang="zh-CN" altLang="en-US" sz="1200" b="1" dirty="0">
                  <a:solidFill>
                    <a:srgbClr val="FF9409"/>
                  </a:solidFill>
                  <a:latin typeface="Century Gothic" panose="020B0502020202020204" pitchFamily="34" charset="0"/>
                  <a:ea typeface="+mj-ea"/>
                </a:rPr>
                <a:t>验收成果。</a:t>
              </a:r>
            </a:p>
            <a:p>
              <a:pPr algn="ctr">
                <a:lnSpc>
                  <a:spcPct val="114000"/>
                </a:lnSpc>
              </a:pPr>
              <a:r>
                <a:rPr lang="en-US" altLang="zh-CN" sz="1200" dirty="0">
                  <a:solidFill>
                    <a:schemeClr val="bg1">
                      <a:lumMod val="50000"/>
                    </a:schemeClr>
                  </a:solidFill>
                  <a:latin typeface="Century Gothic" panose="020B0502020202020204" pitchFamily="34" charset="0"/>
                  <a:ea typeface="+mj-ea"/>
                </a:rPr>
                <a:t>2.</a:t>
              </a:r>
              <a:r>
                <a:rPr lang="zh-CN" altLang="en-US" sz="1200" dirty="0">
                  <a:solidFill>
                    <a:schemeClr val="bg1">
                      <a:lumMod val="50000"/>
                    </a:schemeClr>
                  </a:solidFill>
                  <a:latin typeface="Century Gothic" panose="020B0502020202020204" pitchFamily="34" charset="0"/>
                  <a:ea typeface="+mj-ea"/>
                </a:rPr>
                <a:t>文档归档，每个阶段结束后责任人会生成相应的文档。</a:t>
              </a:r>
            </a:p>
            <a:p>
              <a:pPr algn="ctr">
                <a:lnSpc>
                  <a:spcPct val="114000"/>
                </a:lnSpc>
              </a:pPr>
              <a:r>
                <a:rPr lang="en-US" altLang="zh-CN" sz="1200" dirty="0">
                  <a:solidFill>
                    <a:schemeClr val="bg1">
                      <a:lumMod val="50000"/>
                    </a:schemeClr>
                  </a:solidFill>
                  <a:latin typeface="Century Gothic" panose="020B0502020202020204" pitchFamily="34" charset="0"/>
                  <a:ea typeface="+mj-ea"/>
                </a:rPr>
                <a:t>3.</a:t>
              </a:r>
              <a:r>
                <a:rPr lang="zh-CN" altLang="en-US" sz="1200" dirty="0">
                  <a:solidFill>
                    <a:schemeClr val="bg1">
                      <a:lumMod val="50000"/>
                    </a:schemeClr>
                  </a:solidFill>
                  <a:latin typeface="Century Gothic" panose="020B0502020202020204" pitchFamily="34" charset="0"/>
                  <a:ea typeface="+mj-ea"/>
                </a:rPr>
                <a:t>项目总结。</a:t>
              </a:r>
            </a:p>
          </p:txBody>
        </p:sp>
      </p:grpSp>
      <p:grpSp>
        <p:nvGrpSpPr>
          <p:cNvPr id="19" name="组合 18"/>
          <p:cNvGrpSpPr/>
          <p:nvPr>
            <p:custDataLst>
              <p:tags r:id="rId6"/>
            </p:custDataLst>
          </p:nvPr>
        </p:nvGrpSpPr>
        <p:grpSpPr>
          <a:xfrm>
            <a:off x="371028" y="3471490"/>
            <a:ext cx="2501951" cy="1281736"/>
            <a:chOff x="8386922" y="2192795"/>
            <a:chExt cx="2501951" cy="1281736"/>
          </a:xfrm>
        </p:grpSpPr>
        <p:sp>
          <p:nvSpPr>
            <p:cNvPr id="20" name="矩形 19"/>
            <p:cNvSpPr/>
            <p:nvPr>
              <p:custDataLst>
                <p:tags r:id="rId7"/>
              </p:custDataLst>
            </p:nvPr>
          </p:nvSpPr>
          <p:spPr>
            <a:xfrm>
              <a:off x="8386922" y="2192795"/>
              <a:ext cx="2501951" cy="42354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75000"/>
                      <a:lumOff val="25000"/>
                    </a:schemeClr>
                  </a:solidFill>
                </a:rPr>
                <a:t>项目计划管理</a:t>
              </a:r>
            </a:p>
          </p:txBody>
        </p:sp>
        <p:sp>
          <p:nvSpPr>
            <p:cNvPr id="21" name="文本框 20"/>
            <p:cNvSpPr txBox="1"/>
            <p:nvPr>
              <p:custDataLst>
                <p:tags r:id="rId8"/>
              </p:custDataLst>
            </p:nvPr>
          </p:nvSpPr>
          <p:spPr>
            <a:xfrm>
              <a:off x="8504910" y="2542351"/>
              <a:ext cx="2265974" cy="932180"/>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200" dirty="0">
                  <a:solidFill>
                    <a:schemeClr val="bg1">
                      <a:lumMod val="50000"/>
                    </a:schemeClr>
                  </a:solidFill>
                  <a:latin typeface="Century Gothic" panose="020B0502020202020204" pitchFamily="34" charset="0"/>
                  <a:ea typeface="+mj-ea"/>
                </a:rPr>
                <a:t>1.</a:t>
              </a:r>
              <a:r>
                <a:rPr lang="zh-CN" altLang="en-US" sz="1200" b="1" dirty="0">
                  <a:solidFill>
                    <a:srgbClr val="FF9409"/>
                  </a:solidFill>
                  <a:latin typeface="Century Gothic" panose="020B0502020202020204" pitchFamily="34" charset="0"/>
                  <a:ea typeface="+mj-ea"/>
                </a:rPr>
                <a:t>时间进度计划</a:t>
              </a:r>
            </a:p>
            <a:p>
              <a:pPr algn="ctr">
                <a:lnSpc>
                  <a:spcPct val="114000"/>
                </a:lnSpc>
              </a:pPr>
              <a:r>
                <a:rPr lang="en-US" altLang="zh-CN" sz="1200" dirty="0">
                  <a:solidFill>
                    <a:schemeClr val="bg1">
                      <a:lumMod val="50000"/>
                    </a:schemeClr>
                  </a:solidFill>
                  <a:latin typeface="Century Gothic" panose="020B0502020202020204" pitchFamily="34" charset="0"/>
                  <a:ea typeface="+mj-ea"/>
                </a:rPr>
                <a:t>2.</a:t>
              </a:r>
              <a:r>
                <a:rPr lang="zh-CN" altLang="en-US" sz="1200" dirty="0">
                  <a:solidFill>
                    <a:schemeClr val="bg1">
                      <a:lumMod val="50000"/>
                    </a:schemeClr>
                  </a:solidFill>
                  <a:latin typeface="Century Gothic" panose="020B0502020202020204" pitchFamily="34" charset="0"/>
                  <a:ea typeface="+mj-ea"/>
                </a:rPr>
                <a:t>风险与沟通计划，将风险建立在项目成员认可的基础上并限定在可控范围内。</a:t>
              </a:r>
            </a:p>
          </p:txBody>
        </p:sp>
      </p:grpSp>
      <p:pic>
        <p:nvPicPr>
          <p:cNvPr id="4" name="图片 3"/>
          <p:cNvPicPr>
            <a:picLocks noChangeAspect="1"/>
          </p:cNvPicPr>
          <p:nvPr/>
        </p:nvPicPr>
        <p:blipFill>
          <a:blip r:embed="rId24"/>
          <a:stretch>
            <a:fillRect/>
          </a:stretch>
        </p:blipFill>
        <p:spPr>
          <a:xfrm>
            <a:off x="7947025" y="854075"/>
            <a:ext cx="3994150" cy="3121660"/>
          </a:xfrm>
          <a:prstGeom prst="rect">
            <a:avLst/>
          </a:prstGeom>
        </p:spPr>
      </p:pic>
      <p:grpSp>
        <p:nvGrpSpPr>
          <p:cNvPr id="3" name="组合 2"/>
          <p:cNvGrpSpPr/>
          <p:nvPr/>
        </p:nvGrpSpPr>
        <p:grpSpPr>
          <a:xfrm>
            <a:off x="419100" y="259080"/>
            <a:ext cx="923925" cy="923290"/>
            <a:chOff x="660" y="408"/>
            <a:chExt cx="1455" cy="1454"/>
          </a:xfrm>
        </p:grpSpPr>
        <p:sp>
          <p:nvSpPr>
            <p:cNvPr id="2"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04</a:t>
              </a:r>
              <a:endParaRPr lang="zh-CN" altLang="en-US" sz="4000" dirty="0">
                <a:solidFill>
                  <a:schemeClr val="accent1"/>
                </a:solidFill>
                <a:latin typeface="Century Gothic" panose="020B0502020202020204" pitchFamily="34" charset="0"/>
              </a:endParaRPr>
            </a:p>
          </p:txBody>
        </p:sp>
      </p:grpSp>
      <p:pic>
        <p:nvPicPr>
          <p:cNvPr id="9" name="图片 8"/>
          <p:cNvPicPr>
            <a:picLocks noChangeAspect="1"/>
          </p:cNvPicPr>
          <p:nvPr/>
        </p:nvPicPr>
        <p:blipFill>
          <a:blip r:embed="rId25"/>
          <a:stretch>
            <a:fillRect/>
          </a:stretch>
        </p:blipFill>
        <p:spPr>
          <a:xfrm>
            <a:off x="4486275" y="422910"/>
            <a:ext cx="7705725" cy="297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childTnLst>
                          </p:cTn>
                        </p:par>
                        <p:par>
                          <p:cTn id="11" fill="hold">
                            <p:stCondLst>
                              <p:cond delay="1000"/>
                            </p:stCondLst>
                            <p:childTnLst>
                              <p:par>
                                <p:cTn id="12" presetID="42" presetClass="entr" presetSubtype="0" fill="hold"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anim calcmode="lin" valueType="num">
                                      <p:cBhvr>
                                        <p:cTn id="15" dur="500" fill="hold"/>
                                        <p:tgtEl>
                                          <p:spTgt spid="16"/>
                                        </p:tgtEl>
                                        <p:attrNameLst>
                                          <p:attrName>ppt_x</p:attrName>
                                        </p:attrNameLst>
                                      </p:cBhvr>
                                      <p:tavLst>
                                        <p:tav tm="0">
                                          <p:val>
                                            <p:strVal val="#ppt_x"/>
                                          </p:val>
                                        </p:tav>
                                        <p:tav tm="100000">
                                          <p:val>
                                            <p:strVal val="#ppt_x"/>
                                          </p:val>
                                        </p:tav>
                                      </p:tavLst>
                                    </p:anim>
                                    <p:anim calcmode="lin" valueType="num">
                                      <p:cBhvr>
                                        <p:cTn id="16" dur="500" fill="hold"/>
                                        <p:tgtEl>
                                          <p:spTgt spid="16"/>
                                        </p:tgtEl>
                                        <p:attrNameLst>
                                          <p:attrName>ppt_y</p:attrName>
                                        </p:attrNameLst>
                                      </p:cBhvr>
                                      <p:tavLst>
                                        <p:tav tm="0">
                                          <p:val>
                                            <p:strVal val="#ppt_y+.1"/>
                                          </p:val>
                                        </p:tav>
                                        <p:tav tm="100000">
                                          <p:val>
                                            <p:strVal val="#ppt_y"/>
                                          </p:val>
                                        </p:tav>
                                      </p:tavLst>
                                    </p:anim>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anim calcmode="lin" valueType="num">
                                      <p:cBhvr>
                                        <p:cTn id="21" dur="500" fill="hold"/>
                                        <p:tgtEl>
                                          <p:spTgt spid="19"/>
                                        </p:tgtEl>
                                        <p:attrNameLst>
                                          <p:attrName>ppt_x</p:attrName>
                                        </p:attrNameLst>
                                      </p:cBhvr>
                                      <p:tavLst>
                                        <p:tav tm="0">
                                          <p:val>
                                            <p:strVal val="#ppt_x"/>
                                          </p:val>
                                        </p:tav>
                                        <p:tav tm="100000">
                                          <p:val>
                                            <p:strVal val="#ppt_x"/>
                                          </p:val>
                                        </p:tav>
                                      </p:tavLst>
                                    </p:anim>
                                    <p:anim calcmode="lin" valueType="num">
                                      <p:cBhvr>
                                        <p:cTn id="22" dur="500" fill="hold"/>
                                        <p:tgtEl>
                                          <p:spTgt spid="19"/>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anim calcmode="lin" valueType="num">
                                      <p:cBhvr>
                                        <p:cTn id="27" dur="500" fill="hold"/>
                                        <p:tgtEl>
                                          <p:spTgt spid="22"/>
                                        </p:tgtEl>
                                        <p:attrNameLst>
                                          <p:attrName>ppt_x</p:attrName>
                                        </p:attrNameLst>
                                      </p:cBhvr>
                                      <p:tavLst>
                                        <p:tav tm="0">
                                          <p:val>
                                            <p:strVal val="#ppt_x"/>
                                          </p:val>
                                        </p:tav>
                                        <p:tav tm="100000">
                                          <p:val>
                                            <p:strVal val="#ppt_x"/>
                                          </p:val>
                                        </p:tav>
                                      </p:tavLst>
                                    </p:anim>
                                    <p:anim calcmode="lin" valueType="num">
                                      <p:cBhvr>
                                        <p:cTn id="28" dur="500" fill="hold"/>
                                        <p:tgtEl>
                                          <p:spTgt spid="22"/>
                                        </p:tgtEl>
                                        <p:attrNameLst>
                                          <p:attrName>ppt_y</p:attrName>
                                        </p:attrNameLst>
                                      </p:cBhvr>
                                      <p:tavLst>
                                        <p:tav tm="0">
                                          <p:val>
                                            <p:strVal val="#ppt_y+.1"/>
                                          </p:val>
                                        </p:tav>
                                        <p:tav tm="100000">
                                          <p:val>
                                            <p:strVal val="#ppt_y"/>
                                          </p:val>
                                        </p:tav>
                                      </p:tavLst>
                                    </p:anim>
                                  </p:childTnLst>
                                </p:cTn>
                              </p:par>
                            </p:childTnLst>
                          </p:cTn>
                        </p:par>
                        <p:par>
                          <p:cTn id="29" fill="hold">
                            <p:stCondLst>
                              <p:cond delay="2500"/>
                            </p:stCondLst>
                            <p:childTnLst>
                              <p:par>
                                <p:cTn id="30" presetID="42" presetClass="entr" presetSubtype="0" fill="hold" nodeType="after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anim calcmode="lin" valueType="num">
                                      <p:cBhvr>
                                        <p:cTn id="33" dur="500" fill="hold"/>
                                        <p:tgtEl>
                                          <p:spTgt spid="39"/>
                                        </p:tgtEl>
                                        <p:attrNameLst>
                                          <p:attrName>ppt_x</p:attrName>
                                        </p:attrNameLst>
                                      </p:cBhvr>
                                      <p:tavLst>
                                        <p:tav tm="0">
                                          <p:val>
                                            <p:strVal val="#ppt_x"/>
                                          </p:val>
                                        </p:tav>
                                        <p:tav tm="100000">
                                          <p:val>
                                            <p:strVal val="#ppt_x"/>
                                          </p:val>
                                        </p:tav>
                                      </p:tavLst>
                                    </p:anim>
                                    <p:anim calcmode="lin" valueType="num">
                                      <p:cBhvr>
                                        <p:cTn id="34" dur="500" fill="hold"/>
                                        <p:tgtEl>
                                          <p:spTgt spid="39"/>
                                        </p:tgtEl>
                                        <p:attrNameLst>
                                          <p:attrName>ppt_y</p:attrName>
                                        </p:attrNameLst>
                                      </p:cBhvr>
                                      <p:tavLst>
                                        <p:tav tm="0">
                                          <p:val>
                                            <p:strVal val="#ppt_y+.1"/>
                                          </p:val>
                                        </p:tav>
                                        <p:tav tm="100000">
                                          <p:val>
                                            <p:strVal val="#ppt_y"/>
                                          </p:val>
                                        </p:tav>
                                      </p:tavLst>
                                    </p:anim>
                                  </p:childTnLst>
                                </p:cTn>
                              </p:par>
                            </p:childTnLst>
                          </p:cTn>
                        </p:par>
                        <p:par>
                          <p:cTn id="35" fill="hold">
                            <p:stCondLst>
                              <p:cond delay="3000"/>
                            </p:stCondLst>
                            <p:childTnLst>
                              <p:par>
                                <p:cTn id="36" presetID="42" presetClass="entr" presetSubtype="0" fill="hold" nodeType="after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500"/>
                                        <p:tgtEl>
                                          <p:spTgt spid="42"/>
                                        </p:tgtEl>
                                      </p:cBhvr>
                                    </p:animEffect>
                                    <p:anim calcmode="lin" valueType="num">
                                      <p:cBhvr>
                                        <p:cTn id="39" dur="500" fill="hold"/>
                                        <p:tgtEl>
                                          <p:spTgt spid="42"/>
                                        </p:tgtEl>
                                        <p:attrNameLst>
                                          <p:attrName>ppt_x</p:attrName>
                                        </p:attrNameLst>
                                      </p:cBhvr>
                                      <p:tavLst>
                                        <p:tav tm="0">
                                          <p:val>
                                            <p:strVal val="#ppt_x"/>
                                          </p:val>
                                        </p:tav>
                                        <p:tav tm="100000">
                                          <p:val>
                                            <p:strVal val="#ppt_x"/>
                                          </p:val>
                                        </p:tav>
                                      </p:tavLst>
                                    </p:anim>
                                    <p:anim calcmode="lin" valueType="num">
                                      <p:cBhvr>
                                        <p:cTn id="40" dur="500" fill="hold"/>
                                        <p:tgtEl>
                                          <p:spTgt spid="42"/>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1000"/>
                                        <p:tgtEl>
                                          <p:spTgt spid="32"/>
                                        </p:tgtEl>
                                      </p:cBhvr>
                                    </p:animEffect>
                                    <p:anim calcmode="lin" valueType="num">
                                      <p:cBhvr>
                                        <p:cTn id="44" dur="1000" fill="hold"/>
                                        <p:tgtEl>
                                          <p:spTgt spid="32"/>
                                        </p:tgtEl>
                                        <p:attrNameLst>
                                          <p:attrName>ppt_x</p:attrName>
                                        </p:attrNameLst>
                                      </p:cBhvr>
                                      <p:tavLst>
                                        <p:tav tm="0">
                                          <p:val>
                                            <p:strVal val="#ppt_x"/>
                                          </p:val>
                                        </p:tav>
                                        <p:tav tm="100000">
                                          <p:val>
                                            <p:strVal val="#ppt_x"/>
                                          </p:val>
                                        </p:tav>
                                      </p:tavLst>
                                    </p:anim>
                                    <p:anim calcmode="lin" valueType="num">
                                      <p:cBhvr>
                                        <p:cTn id="45" dur="1000" fill="hold"/>
                                        <p:tgtEl>
                                          <p:spTgt spid="3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fade">
                                      <p:cBhvr>
                                        <p:cTn id="48" dur="1000"/>
                                        <p:tgtEl>
                                          <p:spTgt spid="4"/>
                                        </p:tgtEl>
                                      </p:cBhvr>
                                    </p:animEffect>
                                    <p:anim calcmode="lin" valueType="num">
                                      <p:cBhvr>
                                        <p:cTn id="49" dur="1000" fill="hold"/>
                                        <p:tgtEl>
                                          <p:spTgt spid="4"/>
                                        </p:tgtEl>
                                        <p:attrNameLst>
                                          <p:attrName>ppt_x</p:attrName>
                                        </p:attrNameLst>
                                      </p:cBhvr>
                                      <p:tavLst>
                                        <p:tav tm="0">
                                          <p:val>
                                            <p:strVal val="#ppt_x"/>
                                          </p:val>
                                        </p:tav>
                                        <p:tav tm="100000">
                                          <p:val>
                                            <p:strVal val="#ppt_x"/>
                                          </p:val>
                                        </p:tav>
                                      </p:tavLst>
                                    </p:anim>
                                    <p:anim calcmode="lin" valueType="num">
                                      <p:cBhvr>
                                        <p:cTn id="5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322575" y="5150873"/>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670291" y="1072628"/>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561300" y="4141550"/>
            <a:ext cx="11069399" cy="2722880"/>
          </a:xfrm>
          <a:prstGeom prst="rect">
            <a:avLst/>
          </a:prstGeom>
          <a:noFill/>
        </p:spPr>
        <p:txBody>
          <a:bodyPr wrap="square" rtlCol="0">
            <a:spAutoFit/>
          </a:bodyPr>
          <a:lstStyle/>
          <a:p>
            <a:pPr>
              <a:lnSpc>
                <a:spcPct val="150000"/>
              </a:lnSpc>
              <a:spcBef>
                <a:spcPts val="600"/>
              </a:spcBef>
            </a:pPr>
            <a:r>
              <a:rPr lang="zh-CN" altLang="en-US" sz="2400" b="1" dirty="0">
                <a:solidFill>
                  <a:schemeClr val="accent1"/>
                </a:solidFill>
                <a:latin typeface="微软雅黑" panose="020B0503020204020204" pitchFamily="34" charset="-122"/>
                <a:ea typeface="微软雅黑" panose="020B0503020204020204" pitchFamily="34" charset="-122"/>
              </a:rPr>
              <a:t>产品经理：虞秋添</a:t>
            </a:r>
          </a:p>
          <a:p>
            <a:pPr lvl="0">
              <a:lnSpc>
                <a:spcPct val="15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过往经历</a:t>
            </a:r>
            <a:r>
              <a:rPr lang="zh-CN" altLang="en-US" dirty="0">
                <a:solidFill>
                  <a:prstClr val="black"/>
                </a:solidFill>
                <a:latin typeface="微软雅黑" panose="020B0503020204020204" pitchFamily="34" charset="-122"/>
                <a:ea typeface="微软雅黑" panose="020B0503020204020204" pitchFamily="34" charset="-122"/>
                <a:sym typeface="+mn-ea"/>
              </a:rPr>
              <a:t>：</a:t>
            </a:r>
            <a:r>
              <a:rPr lang="zh-CN" altLang="en-US" dirty="0"/>
              <a:t>在校期间曾获校优秀学生一等奖学金；参与慧眼行动并荣获全国优胜奖；同时参与当虹杯学科竞赛、省级新苗计划立项项目，在数据建模、程序实现与项目实践等计算机相关领域积累了扎实的实操经验，具备良好的科研创新与工程实践能力。</a:t>
            </a:r>
            <a:endParaRPr lang="en-US" altLang="zh-CN" dirty="0">
              <a:solidFill>
                <a:prstClr val="black"/>
              </a:solidFill>
              <a:latin typeface="微软雅黑" panose="020B0503020204020204" pitchFamily="34" charset="-122"/>
              <a:ea typeface="微软雅黑" panose="020B0503020204020204" pitchFamily="34" charset="-122"/>
              <a:sym typeface="+mn-ea"/>
            </a:endParaRPr>
          </a:p>
          <a:p>
            <a:pPr lvl="0" algn="l">
              <a:lnSpc>
                <a:spcPct val="150000"/>
              </a:lnSpc>
              <a:defRPr/>
            </a:pPr>
            <a:r>
              <a:rPr lang="zh-CN" altLang="zh-CN" b="1" dirty="0">
                <a:solidFill>
                  <a:prstClr val="black"/>
                </a:solidFill>
                <a:latin typeface="微软雅黑" panose="020B0503020204020204" pitchFamily="34" charset="-122"/>
                <a:ea typeface="微软雅黑" panose="020B0503020204020204" pitchFamily="34" charset="-122"/>
                <a:sym typeface="+mn-ea"/>
              </a:rPr>
              <a:t>专业技能</a:t>
            </a:r>
            <a:r>
              <a:rPr lang="zh-CN" altLang="zh-CN" dirty="0">
                <a:solidFill>
                  <a:prstClr val="black"/>
                </a:solidFill>
                <a:latin typeface="微软雅黑" panose="020B0503020204020204" pitchFamily="34" charset="-122"/>
                <a:ea typeface="微软雅黑" panose="020B0503020204020204" pitchFamily="34" charset="-122"/>
                <a:sym typeface="+mn-ea"/>
              </a:rPr>
              <a:t>：产品原型设计，用户市场心理学分析</a:t>
            </a:r>
            <a:endParaRPr lang="en-US" altLang="zh-CN" dirty="0">
              <a:solidFill>
                <a:prstClr val="black"/>
              </a:solidFill>
              <a:latin typeface="微软雅黑" panose="020B0503020204020204" pitchFamily="34" charset="-122"/>
              <a:ea typeface="微软雅黑" panose="020B0503020204020204" pitchFamily="34" charset="-122"/>
              <a:sym typeface="+mn-ea"/>
            </a:endParaRPr>
          </a:p>
          <a:p>
            <a:pPr lvl="0" algn="l">
              <a:lnSpc>
                <a:spcPct val="150000"/>
              </a:lnSpc>
              <a:defRPr/>
            </a:pPr>
            <a:r>
              <a:rPr lang="zh-CN" altLang="en-US" b="1" dirty="0">
                <a:latin typeface="微软雅黑" panose="020B0503020204020204" pitchFamily="34" charset="-122"/>
                <a:ea typeface="微软雅黑" panose="020B0503020204020204" pitchFamily="34" charset="-122"/>
              </a:rPr>
              <a:t>承担责任</a:t>
            </a:r>
            <a:r>
              <a:rPr lang="zh-CN" altLang="en-US" dirty="0">
                <a:latin typeface="微软雅黑" panose="020B0503020204020204" pitchFamily="34" charset="-122"/>
                <a:ea typeface="微软雅黑" panose="020B0503020204020204" pitchFamily="34" charset="-122"/>
              </a:rPr>
              <a:t>：前端产品搭建；项目架构设计</a:t>
            </a:r>
          </a:p>
        </p:txBody>
      </p:sp>
      <p:sp>
        <p:nvSpPr>
          <p:cNvPr id="20" name="文本框 19"/>
          <p:cNvSpPr txBox="1"/>
          <p:nvPr/>
        </p:nvSpPr>
        <p:spPr>
          <a:xfrm>
            <a:off x="625776" y="1176723"/>
            <a:ext cx="11160840" cy="2953385"/>
          </a:xfrm>
          <a:prstGeom prst="rect">
            <a:avLst/>
          </a:prstGeom>
          <a:noFill/>
        </p:spPr>
        <p:txBody>
          <a:bodyPr wrap="square" rtlCol="0">
            <a:spAutoFit/>
          </a:bodyPr>
          <a:lstStyle/>
          <a:p>
            <a:pPr>
              <a:lnSpc>
                <a:spcPct val="150000"/>
              </a:lnSpc>
              <a:spcBef>
                <a:spcPts val="600"/>
              </a:spcBef>
            </a:pPr>
            <a:r>
              <a:rPr lang="zh-CN" altLang="en-US" sz="2400" b="1" dirty="0">
                <a:solidFill>
                  <a:schemeClr val="accent1"/>
                </a:solidFill>
                <a:latin typeface="微软雅黑" panose="020B0503020204020204" pitchFamily="34" charset="-122"/>
                <a:ea typeface="微软雅黑" panose="020B0503020204020204" pitchFamily="34" charset="-122"/>
              </a:rPr>
              <a:t>项目经理：王杰永</a:t>
            </a:r>
            <a:endParaRPr lang="zh-CN" altLang="zh-CN" sz="2400" b="1" dirty="0">
              <a:solidFill>
                <a:schemeClr val="accent1"/>
              </a:solidFill>
              <a:latin typeface="微软雅黑" panose="020B0503020204020204" pitchFamily="34" charset="-122"/>
              <a:ea typeface="微软雅黑" panose="020B0503020204020204" pitchFamily="34" charset="-122"/>
            </a:endParaRPr>
          </a:p>
          <a:p>
            <a:pPr>
              <a:lnSpc>
                <a:spcPct val="150000"/>
              </a:lnSpc>
              <a:spcBef>
                <a:spcPts val="600"/>
              </a:spcBef>
            </a:pPr>
            <a:r>
              <a:rPr lang="zh-CN" altLang="en-US" b="1" dirty="0">
                <a:latin typeface="微软雅黑" panose="020B0503020204020204" pitchFamily="34" charset="-122"/>
                <a:ea typeface="微软雅黑" panose="020B0503020204020204" pitchFamily="34" charset="-122"/>
              </a:rPr>
              <a:t>过往经历</a:t>
            </a:r>
            <a:r>
              <a:rPr lang="zh-CN" altLang="en-US" dirty="0">
                <a:latin typeface="微软雅黑" panose="020B0503020204020204" pitchFamily="34" charset="-122"/>
                <a:ea typeface="微软雅黑" panose="020B0503020204020204" pitchFamily="34" charset="-122"/>
              </a:rPr>
              <a:t>：</a:t>
            </a:r>
            <a:r>
              <a:rPr lang="zh-CN" altLang="en-US" dirty="0"/>
              <a:t>荣获全国大学生数学建模竞赛浙江赛区二等奖、挑战杯 “揭榜挂帅” 擂台赛国家级三等奖、华为 </a:t>
            </a:r>
            <a:r>
              <a:rPr lang="en-US" altLang="zh-CN" dirty="0"/>
              <a:t>ICT </a:t>
            </a:r>
            <a:r>
              <a:rPr lang="zh-CN" altLang="en-US" dirty="0"/>
              <a:t>产教融合大赛国家三等奖、大学生物理创新竞赛浙江省三等奖，同时获一等奖学金一次、二等奖学金两次，具备扎实的专业能力与丰富的竞赛经验</a:t>
            </a:r>
            <a:endParaRPr lang="en-US" altLang="zh-CN" dirty="0">
              <a:latin typeface="微软雅黑" panose="020B0503020204020204" pitchFamily="34" charset="-122"/>
              <a:ea typeface="微软雅黑" panose="020B0503020204020204" pitchFamily="34" charset="-122"/>
            </a:endParaRPr>
          </a:p>
          <a:p>
            <a:pPr>
              <a:lnSpc>
                <a:spcPct val="150000"/>
              </a:lnSpc>
              <a:spcBef>
                <a:spcPts val="600"/>
              </a:spcBef>
            </a:pPr>
            <a:r>
              <a:rPr lang="zh-CN" altLang="zh-CN" b="1" dirty="0">
                <a:solidFill>
                  <a:prstClr val="black"/>
                </a:solidFill>
                <a:latin typeface="微软雅黑" panose="020B0503020204020204" pitchFamily="34" charset="-122"/>
                <a:ea typeface="微软雅黑" panose="020B0503020204020204" pitchFamily="34" charset="-122"/>
                <a:sym typeface="+mn-ea"/>
              </a:rPr>
              <a:t>专业技能</a:t>
            </a:r>
            <a:r>
              <a:rPr lang="zh-CN" altLang="zh-CN" dirty="0">
                <a:solidFill>
                  <a:prstClr val="black"/>
                </a:solidFill>
                <a:latin typeface="微软雅黑" panose="020B0503020204020204" pitchFamily="34" charset="-122"/>
                <a:ea typeface="微软雅黑" panose="020B0503020204020204" pitchFamily="34" charset="-122"/>
                <a:sym typeface="+mn-ea"/>
              </a:rPr>
              <a:t>：项目管理，前后端技术实现</a:t>
            </a:r>
            <a:r>
              <a:rPr lang="zh-CN" altLang="en-US" dirty="0">
                <a:solidFill>
                  <a:prstClr val="black"/>
                </a:solidFill>
                <a:latin typeface="微软雅黑" panose="020B0503020204020204" pitchFamily="34" charset="-122"/>
                <a:ea typeface="微软雅黑" panose="020B0503020204020204" pitchFamily="34" charset="-122"/>
                <a:sym typeface="+mn-ea"/>
              </a:rPr>
              <a:t>，</a:t>
            </a:r>
            <a:r>
              <a:rPr lang="en-US" altLang="zh-CN" dirty="0">
                <a:solidFill>
                  <a:prstClr val="black"/>
                </a:solidFill>
                <a:latin typeface="微软雅黑" panose="020B0503020204020204" pitchFamily="34" charset="-122"/>
                <a:ea typeface="微软雅黑" panose="020B0503020204020204" pitchFamily="34" charset="-122"/>
                <a:sym typeface="+mn-ea"/>
              </a:rPr>
              <a:t>Agent</a:t>
            </a:r>
            <a:r>
              <a:rPr lang="zh-CN" altLang="en-US" dirty="0">
                <a:solidFill>
                  <a:prstClr val="black"/>
                </a:solidFill>
                <a:latin typeface="微软雅黑" panose="020B0503020204020204" pitchFamily="34" charset="-122"/>
                <a:ea typeface="微软雅黑" panose="020B0503020204020204" pitchFamily="34" charset="-122"/>
                <a:sym typeface="+mn-ea"/>
              </a:rPr>
              <a:t>开发与应用</a:t>
            </a:r>
            <a:endParaRPr lang="zh-CN" altLang="en-US" dirty="0">
              <a:latin typeface="微软雅黑" panose="020B0503020204020204" pitchFamily="34" charset="-122"/>
              <a:ea typeface="微软雅黑" panose="020B0503020204020204" pitchFamily="34" charset="-122"/>
            </a:endParaRPr>
          </a:p>
          <a:p>
            <a:pPr>
              <a:lnSpc>
                <a:spcPct val="150000"/>
              </a:lnSpc>
              <a:spcBef>
                <a:spcPts val="600"/>
              </a:spcBef>
            </a:pPr>
            <a:r>
              <a:rPr lang="zh-CN" altLang="en-US" b="1" dirty="0">
                <a:latin typeface="微软雅黑" panose="020B0503020204020204" pitchFamily="34" charset="-122"/>
                <a:ea typeface="微软雅黑" panose="020B0503020204020204" pitchFamily="34" charset="-122"/>
                <a:sym typeface="+mn-ea"/>
              </a:rPr>
              <a:t>承担责任</a:t>
            </a:r>
            <a:r>
              <a:rPr lang="zh-CN" altLang="en-US"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rPr>
              <a:t>项目整体规划；项目进度安排；项目实践管理；项目沟通管理；项目风险管理</a:t>
            </a:r>
          </a:p>
        </p:txBody>
      </p:sp>
      <p:grpSp>
        <p:nvGrpSpPr>
          <p:cNvPr id="3" name="组合 2"/>
          <p:cNvGrpSpPr/>
          <p:nvPr/>
        </p:nvGrpSpPr>
        <p:grpSpPr>
          <a:xfrm>
            <a:off x="419100" y="259080"/>
            <a:ext cx="923925" cy="923290"/>
            <a:chOff x="660" y="408"/>
            <a:chExt cx="1455" cy="1454"/>
          </a:xfrm>
        </p:grpSpPr>
        <p:sp>
          <p:nvSpPr>
            <p:cNvPr id="2"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24"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25" name="文本框 24"/>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04</a:t>
              </a:r>
              <a:endParaRPr lang="zh-CN" altLang="en-US" sz="4000" dirty="0">
                <a:solidFill>
                  <a:schemeClr val="accent1"/>
                </a:solidFill>
                <a:latin typeface="Century Gothic" panose="020B0502020202020204" pitchFamily="34" charset="0"/>
              </a:endParaRPr>
            </a:p>
          </p:txBody>
        </p:sp>
      </p:grpSp>
      <p:grpSp>
        <p:nvGrpSpPr>
          <p:cNvPr id="36" name="组合 35"/>
          <p:cNvGrpSpPr/>
          <p:nvPr/>
        </p:nvGrpSpPr>
        <p:grpSpPr>
          <a:xfrm>
            <a:off x="1473289" y="371367"/>
            <a:ext cx="4260761" cy="802534"/>
            <a:chOff x="7318011" y="1456480"/>
            <a:chExt cx="4260761" cy="802534"/>
          </a:xfrm>
        </p:grpSpPr>
        <p:sp>
          <p:nvSpPr>
            <p:cNvPr id="37" name="文本框 36"/>
            <p:cNvSpPr txBox="1"/>
            <p:nvPr/>
          </p:nvSpPr>
          <p:spPr>
            <a:xfrm>
              <a:off x="7318011" y="1456480"/>
              <a:ext cx="2621280" cy="58356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人员组织架构</a:t>
              </a:r>
            </a:p>
          </p:txBody>
        </p:sp>
        <p:sp>
          <p:nvSpPr>
            <p:cNvPr id="38" name="文本框 37"/>
            <p:cNvSpPr txBox="1"/>
            <p:nvPr/>
          </p:nvSpPr>
          <p:spPr>
            <a:xfrm>
              <a:off x="7318011" y="1984059"/>
              <a:ext cx="4260761" cy="27495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PERSONNEL ORGANIZATIONAL STRUCTURE</a:t>
              </a:r>
            </a:p>
          </p:txBody>
        </p:sp>
      </p:grpSp>
      <p:pic>
        <p:nvPicPr>
          <p:cNvPr id="8" name="图片 7"/>
          <p:cNvPicPr>
            <a:picLocks noChangeAspect="1"/>
          </p:cNvPicPr>
          <p:nvPr/>
        </p:nvPicPr>
        <p:blipFill>
          <a:blip r:embed="rId3"/>
          <a:stretch>
            <a:fillRect/>
          </a:stretch>
        </p:blipFill>
        <p:spPr>
          <a:xfrm>
            <a:off x="4486275" y="422910"/>
            <a:ext cx="7705725" cy="29781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8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par>
                          <p:cTn id="11" fill="hold">
                            <p:stCondLst>
                              <p:cond delay="500"/>
                            </p:stCondLst>
                            <p:childTnLst>
                              <p:par>
                                <p:cTn id="12" presetID="10" presetClass="entr" presetSubtype="0" fill="hold" grpId="0" nodeType="afterEffect">
                                  <p:stCondLst>
                                    <p:cond delay="0"/>
                                  </p:stCondLst>
                                  <p:iterate type="lt">
                                    <p:tmPct val="3000"/>
                                  </p:iterate>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par>
                                <p:cTn id="15" presetID="10" presetClass="entr" presetSubtype="0" fill="hold" grpId="0" nodeType="withEffect">
                                  <p:stCondLst>
                                    <p:cond delay="0"/>
                                  </p:stCondLst>
                                  <p:iterate type="lt">
                                    <p:tmPct val="3000"/>
                                  </p:iterate>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8" grpId="0" bldLvl="0" animBg="1"/>
      <p:bldP spid="19" grpId="0"/>
      <p:bldP spid="19" grpId="1"/>
      <p:bldP spid="20" grpId="0"/>
      <p:bldP spid="2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5465445" y="573405"/>
            <a:ext cx="5972810" cy="2256790"/>
          </a:xfrm>
          <a:prstGeom prst="rect">
            <a:avLst/>
          </a:prstGeom>
          <a:noFill/>
        </p:spPr>
        <p:txBody>
          <a:bodyPr wrap="square" rtlCol="0">
            <a:noAutofit/>
          </a:bodyPr>
          <a:lstStyle/>
          <a:p>
            <a:pPr>
              <a:lnSpc>
                <a:spcPct val="150000"/>
              </a:lnSpc>
              <a:spcBef>
                <a:spcPts val="600"/>
              </a:spcBef>
            </a:pPr>
            <a:r>
              <a:rPr lang="zh-CN" altLang="en-US" sz="2400" b="1" dirty="0">
                <a:solidFill>
                  <a:schemeClr val="accent1"/>
                </a:solidFill>
                <a:latin typeface="微软雅黑" panose="020B0503020204020204" pitchFamily="34" charset="-122"/>
                <a:ea typeface="微软雅黑" panose="020B0503020204020204" pitchFamily="34" charset="-122"/>
              </a:rPr>
              <a:t>数据挖掘师：李仁远</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lvl="0">
              <a:lnSpc>
                <a:spcPct val="15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过往经历</a:t>
            </a:r>
            <a:r>
              <a:rPr lang="zh-CN" altLang="en-US" dirty="0">
                <a:solidFill>
                  <a:prstClr val="black"/>
                </a:solidFill>
                <a:latin typeface="微软雅黑" panose="020B0503020204020204" pitchFamily="34" charset="-122"/>
                <a:ea typeface="微软雅黑" panose="020B0503020204020204" pitchFamily="34" charset="-122"/>
                <a:sym typeface="+mn-ea"/>
              </a:rPr>
              <a:t>：荣获</a:t>
            </a:r>
            <a:r>
              <a:rPr lang="zh-CN" altLang="en-US" dirty="0"/>
              <a:t>挑战杯揭榜挂帅国家三等奖 、二等奖学金一次、三等奖学金两次、单项奖学金一次</a:t>
            </a:r>
            <a:endParaRPr lang="en-US" altLang="zh-CN" dirty="0">
              <a:solidFill>
                <a:prstClr val="black"/>
              </a:solidFill>
              <a:latin typeface="微软雅黑" panose="020B0503020204020204" pitchFamily="34" charset="-122"/>
              <a:ea typeface="微软雅黑" panose="020B0503020204020204" pitchFamily="34" charset="-122"/>
              <a:sym typeface="+mn-ea"/>
            </a:endParaRPr>
          </a:p>
          <a:p>
            <a:pPr lvl="0" algn="l">
              <a:lnSpc>
                <a:spcPct val="15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专业技能</a:t>
            </a:r>
            <a:r>
              <a:rPr lang="zh-CN" altLang="en-US" dirty="0">
                <a:solidFill>
                  <a:prstClr val="black"/>
                </a:solidFill>
                <a:latin typeface="微软雅黑" panose="020B0503020204020204" pitchFamily="34" charset="-122"/>
                <a:ea typeface="微软雅黑" panose="020B0503020204020204" pitchFamily="34" charset="-122"/>
                <a:sym typeface="+mn-ea"/>
              </a:rPr>
              <a:t>：</a:t>
            </a:r>
            <a:r>
              <a:rPr lang="en-US" altLang="zh-CN" dirty="0">
                <a:solidFill>
                  <a:prstClr val="black"/>
                </a:solidFill>
                <a:latin typeface="微软雅黑" panose="020B0503020204020204" pitchFamily="34" charset="-122"/>
                <a:ea typeface="微软雅黑" panose="020B0503020204020204" pitchFamily="34" charset="-122"/>
                <a:sym typeface="+mn-ea"/>
              </a:rPr>
              <a:t>python</a:t>
            </a:r>
            <a:r>
              <a:rPr lang="zh-CN" altLang="en-US" dirty="0">
                <a:solidFill>
                  <a:prstClr val="black"/>
                </a:solidFill>
                <a:latin typeface="微软雅黑" panose="020B0503020204020204" pitchFamily="34" charset="-122"/>
                <a:ea typeface="微软雅黑" panose="020B0503020204020204" pitchFamily="34" charset="-122"/>
                <a:sym typeface="+mn-ea"/>
              </a:rPr>
              <a:t> ，</a:t>
            </a:r>
            <a:r>
              <a:rPr lang="en-US" altLang="zh-CN" dirty="0">
                <a:solidFill>
                  <a:prstClr val="black"/>
                </a:solidFill>
                <a:latin typeface="微软雅黑" panose="020B0503020204020204" pitchFamily="34" charset="-122"/>
                <a:ea typeface="微软雅黑" panose="020B0503020204020204" pitchFamily="34" charset="-122"/>
                <a:sym typeface="+mn-ea"/>
              </a:rPr>
              <a:t>MySQL</a:t>
            </a:r>
            <a:endParaRPr lang="zh-CN" altLang="en-US" dirty="0">
              <a:solidFill>
                <a:prstClr val="black"/>
              </a:solidFill>
              <a:latin typeface="微软雅黑" panose="020B0503020204020204" pitchFamily="34" charset="-122"/>
              <a:ea typeface="微软雅黑" panose="020B0503020204020204" pitchFamily="34" charset="-122"/>
              <a:sym typeface="+mn-ea"/>
            </a:endParaRPr>
          </a:p>
          <a:p>
            <a:pPr>
              <a:lnSpc>
                <a:spcPct val="125000"/>
              </a:lnSpc>
              <a:spcBef>
                <a:spcPts val="600"/>
              </a:spcBef>
              <a:spcAft>
                <a:spcPts val="0"/>
              </a:spcAft>
            </a:pPr>
            <a:r>
              <a:rPr lang="zh-CN" altLang="en-US" b="1" dirty="0">
                <a:latin typeface="微软雅黑" panose="020B0503020204020204" pitchFamily="34" charset="-122"/>
                <a:ea typeface="微软雅黑" panose="020B0503020204020204" pitchFamily="34" charset="-122"/>
              </a:rPr>
              <a:t>承担责任</a:t>
            </a:r>
            <a:r>
              <a:rPr lang="zh-CN" altLang="en-US" dirty="0">
                <a:latin typeface="微软雅黑" panose="020B0503020204020204" pitchFamily="34" charset="-122"/>
                <a:ea typeface="微软雅黑" panose="020B0503020204020204" pitchFamily="34" charset="-122"/>
              </a:rPr>
              <a:t>：就业信息数据处理，数据库的设计及搭建</a:t>
            </a:r>
          </a:p>
        </p:txBody>
      </p:sp>
      <p:sp>
        <p:nvSpPr>
          <p:cNvPr id="23" name="文本框 22"/>
          <p:cNvSpPr txBox="1"/>
          <p:nvPr/>
        </p:nvSpPr>
        <p:spPr>
          <a:xfrm>
            <a:off x="5420066" y="2702905"/>
            <a:ext cx="5972718" cy="2306955"/>
          </a:xfrm>
          <a:prstGeom prst="rect">
            <a:avLst/>
          </a:prstGeom>
          <a:noFill/>
        </p:spPr>
        <p:txBody>
          <a:bodyPr wrap="square" rtlCol="0">
            <a:spAutoFit/>
          </a:bodyPr>
          <a:lstStyle/>
          <a:p>
            <a:pPr>
              <a:lnSpc>
                <a:spcPct val="150000"/>
              </a:lnSpc>
              <a:spcBef>
                <a:spcPts val="600"/>
              </a:spcBef>
            </a:pPr>
            <a:r>
              <a:rPr lang="zh-CN" altLang="en-US" sz="2400" b="1" dirty="0">
                <a:solidFill>
                  <a:schemeClr val="accent1"/>
                </a:solidFill>
                <a:latin typeface="微软雅黑" panose="020B0503020204020204" pitchFamily="34" charset="-122"/>
                <a:ea typeface="微软雅黑" panose="020B0503020204020204" pitchFamily="34" charset="-122"/>
              </a:rPr>
              <a:t>美术设计师：张以昕</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lvl="0">
              <a:lnSpc>
                <a:spcPct val="15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过往经历</a:t>
            </a:r>
            <a:r>
              <a:rPr lang="zh-CN" altLang="en-US" dirty="0">
                <a:solidFill>
                  <a:prstClr val="black"/>
                </a:solidFill>
                <a:latin typeface="微软雅黑" panose="020B0503020204020204" pitchFamily="34" charset="-122"/>
                <a:ea typeface="微软雅黑" panose="020B0503020204020204" pitchFamily="34" charset="-122"/>
                <a:sym typeface="+mn-ea"/>
              </a:rPr>
              <a:t>：荣获</a:t>
            </a:r>
            <a:r>
              <a:rPr lang="zh-CN" altLang="en-US" dirty="0">
                <a:sym typeface="+mn-ea"/>
              </a:rPr>
              <a:t>二</a:t>
            </a:r>
            <a:r>
              <a:rPr lang="zh-CN" altLang="en-US" dirty="0"/>
              <a:t>等奖学金一次、三等奖学金一次</a:t>
            </a:r>
            <a:endParaRPr lang="zh-CN" altLang="en-US" dirty="0">
              <a:solidFill>
                <a:prstClr val="black"/>
              </a:solidFill>
              <a:latin typeface="微软雅黑" panose="020B0503020204020204" pitchFamily="34" charset="-122"/>
              <a:ea typeface="微软雅黑" panose="020B0503020204020204" pitchFamily="34" charset="-122"/>
              <a:sym typeface="+mn-ea"/>
            </a:endParaRPr>
          </a:p>
          <a:p>
            <a:pPr lvl="0" algn="l">
              <a:lnSpc>
                <a:spcPct val="150000"/>
              </a:lnSpc>
              <a:defRPr/>
            </a:pPr>
            <a:r>
              <a:rPr lang="zh-CN" altLang="en-US" b="1" dirty="0">
                <a:solidFill>
                  <a:prstClr val="black"/>
                </a:solidFill>
                <a:latin typeface="微软雅黑" panose="020B0503020204020204" pitchFamily="34" charset="-122"/>
                <a:ea typeface="微软雅黑" panose="020B0503020204020204" pitchFamily="34" charset="-122"/>
                <a:sym typeface="+mn-ea"/>
              </a:rPr>
              <a:t>专业技能</a:t>
            </a:r>
            <a:r>
              <a:rPr lang="zh-CN" altLang="en-US" dirty="0">
                <a:solidFill>
                  <a:prstClr val="black"/>
                </a:solidFill>
                <a:latin typeface="微软雅黑" panose="020B0503020204020204" pitchFamily="34" charset="-122"/>
                <a:ea typeface="微软雅黑" panose="020B0503020204020204" pitchFamily="34" charset="-122"/>
                <a:sym typeface="+mn-ea"/>
              </a:rPr>
              <a:t>：</a:t>
            </a:r>
            <a:r>
              <a:rPr lang="en-US" altLang="zh-CN" dirty="0">
                <a:solidFill>
                  <a:prstClr val="black"/>
                </a:solidFill>
                <a:latin typeface="微软雅黑" panose="020B0503020204020204" pitchFamily="34" charset="-122"/>
                <a:ea typeface="微软雅黑" panose="020B0503020204020204" pitchFamily="34" charset="-122"/>
                <a:sym typeface="+mn-ea"/>
              </a:rPr>
              <a:t>PPT </a:t>
            </a:r>
            <a:r>
              <a:rPr lang="zh-CN" altLang="en-US" dirty="0">
                <a:solidFill>
                  <a:prstClr val="black"/>
                </a:solidFill>
                <a:latin typeface="微软雅黑" panose="020B0503020204020204" pitchFamily="34" charset="-122"/>
                <a:ea typeface="微软雅黑" panose="020B0503020204020204" pitchFamily="34" charset="-122"/>
                <a:sym typeface="+mn-ea"/>
              </a:rPr>
              <a:t>版式设计、信息可视化、动效设计</a:t>
            </a:r>
          </a:p>
          <a:p>
            <a:pPr lvl="0" algn="l">
              <a:lnSpc>
                <a:spcPct val="150000"/>
              </a:lnSpc>
              <a:defRPr/>
            </a:pPr>
            <a:r>
              <a:rPr lang="zh-CN" altLang="en-US" b="1" dirty="0">
                <a:latin typeface="微软雅黑" panose="020B0503020204020204" pitchFamily="34" charset="-122"/>
                <a:ea typeface="微软雅黑" panose="020B0503020204020204" pitchFamily="34" charset="-122"/>
              </a:rPr>
              <a:t>承担责任</a:t>
            </a:r>
            <a:r>
              <a:rPr lang="zh-CN" altLang="en-US" dirty="0">
                <a:latin typeface="微软雅黑" panose="020B0503020204020204" pitchFamily="34" charset="-122"/>
                <a:ea typeface="微软雅黑" panose="020B0503020204020204" pitchFamily="34" charset="-122"/>
              </a:rPr>
              <a:t>：负责项目整体视觉风格设计，包括</a:t>
            </a:r>
            <a:r>
              <a:rPr lang="en-US" altLang="zh-CN" dirty="0">
                <a:latin typeface="微软雅黑" panose="020B0503020204020204" pitchFamily="34" charset="-122"/>
                <a:ea typeface="微软雅黑" panose="020B0503020204020204" pitchFamily="34" charset="-122"/>
              </a:rPr>
              <a:t> PPT </a:t>
            </a:r>
            <a:r>
              <a:rPr lang="zh-CN" altLang="en-US" dirty="0">
                <a:latin typeface="微软雅黑" panose="020B0503020204020204" pitchFamily="34" charset="-122"/>
                <a:ea typeface="微软雅黑" panose="020B0503020204020204" pitchFamily="34" charset="-122"/>
              </a:rPr>
              <a:t>版式、品牌视觉、演示文稿美化</a:t>
            </a:r>
          </a:p>
        </p:txBody>
      </p:sp>
      <p:sp>
        <p:nvSpPr>
          <p:cNvPr id="24" name="文本框 23"/>
          <p:cNvSpPr txBox="1"/>
          <p:nvPr/>
        </p:nvSpPr>
        <p:spPr>
          <a:xfrm>
            <a:off x="5420066" y="4832450"/>
            <a:ext cx="6707766" cy="2029460"/>
          </a:xfrm>
          <a:prstGeom prst="rect">
            <a:avLst/>
          </a:prstGeom>
          <a:noFill/>
        </p:spPr>
        <p:txBody>
          <a:bodyPr wrap="square" rtlCol="0">
            <a:spAutoFit/>
          </a:bodyPr>
          <a:lstStyle/>
          <a:p>
            <a:pPr>
              <a:lnSpc>
                <a:spcPct val="140000"/>
              </a:lnSpc>
              <a:spcBef>
                <a:spcPts val="600"/>
              </a:spcBef>
              <a:spcAft>
                <a:spcPts val="0"/>
              </a:spcAft>
            </a:pPr>
            <a:r>
              <a:rPr lang="zh-CN" altLang="en-US" sz="2400" b="1" dirty="0">
                <a:solidFill>
                  <a:schemeClr val="accent1"/>
                </a:solidFill>
                <a:latin typeface="微软雅黑" panose="020B0503020204020204" pitchFamily="34" charset="-122"/>
                <a:ea typeface="微软雅黑" panose="020B0503020204020204" pitchFamily="34" charset="-122"/>
              </a:rPr>
              <a:t>文案编辑师：梁伊一</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a:lnSpc>
                <a:spcPct val="150000"/>
              </a:lnSpc>
              <a:spcBef>
                <a:spcPts val="600"/>
              </a:spcBef>
            </a:pPr>
            <a:r>
              <a:rPr lang="zh-CN" altLang="en-US" b="1" dirty="0">
                <a:solidFill>
                  <a:prstClr val="black"/>
                </a:solidFill>
                <a:latin typeface="微软雅黑" panose="020B0503020204020204" pitchFamily="34" charset="-122"/>
                <a:ea typeface="微软雅黑" panose="020B0503020204020204" pitchFamily="34" charset="-122"/>
                <a:sym typeface="+mn-ea"/>
              </a:rPr>
              <a:t>过往经历</a:t>
            </a:r>
            <a:r>
              <a:rPr lang="zh-CN" altLang="en-US" dirty="0">
                <a:solidFill>
                  <a:prstClr val="black"/>
                </a:solidFill>
                <a:latin typeface="微软雅黑" panose="020B0503020204020204" pitchFamily="34" charset="-122"/>
                <a:ea typeface="微软雅黑" panose="020B0503020204020204" pitchFamily="34" charset="-122"/>
                <a:sym typeface="+mn-ea"/>
              </a:rPr>
              <a:t>：荣获</a:t>
            </a:r>
            <a:r>
              <a:rPr lang="zh-CN" altLang="en-US" dirty="0"/>
              <a:t>挑战杯揭榜挂帅国家级三等奖</a:t>
            </a:r>
            <a:endParaRPr lang="en-US" altLang="zh-CN" dirty="0"/>
          </a:p>
          <a:p>
            <a:pPr>
              <a:lnSpc>
                <a:spcPct val="150000"/>
              </a:lnSpc>
              <a:spcBef>
                <a:spcPts val="600"/>
              </a:spcBef>
            </a:pPr>
            <a:r>
              <a:rPr lang="zh-CN" altLang="en-US" b="1" dirty="0">
                <a:solidFill>
                  <a:prstClr val="black"/>
                </a:solidFill>
                <a:latin typeface="微软雅黑" panose="020B0503020204020204" pitchFamily="34" charset="-122"/>
                <a:ea typeface="微软雅黑" panose="020B0503020204020204" pitchFamily="34" charset="-122"/>
                <a:sym typeface="+mn-ea"/>
              </a:rPr>
              <a:t>专业技能</a:t>
            </a:r>
            <a:r>
              <a:rPr lang="zh-CN" altLang="en-US" dirty="0">
                <a:solidFill>
                  <a:prstClr val="black"/>
                </a:solidFill>
                <a:latin typeface="微软雅黑" panose="020B0503020204020204" pitchFamily="34" charset="-122"/>
                <a:ea typeface="微软雅黑" panose="020B0503020204020204" pitchFamily="34" charset="-122"/>
                <a:sym typeface="+mn-ea"/>
              </a:rPr>
              <a:t>：文案策划、逻辑梳理、</a:t>
            </a:r>
            <a:r>
              <a:rPr lang="en-US" altLang="zh-CN" dirty="0">
                <a:solidFill>
                  <a:prstClr val="black"/>
                </a:solidFill>
                <a:latin typeface="微软雅黑" panose="020B0503020204020204" pitchFamily="34" charset="-122"/>
                <a:ea typeface="微软雅黑" panose="020B0503020204020204" pitchFamily="34" charset="-122"/>
                <a:sym typeface="+mn-ea"/>
              </a:rPr>
              <a:t>PPT </a:t>
            </a:r>
            <a:r>
              <a:rPr lang="zh-CN" altLang="en-US" dirty="0">
                <a:solidFill>
                  <a:prstClr val="black"/>
                </a:solidFill>
                <a:latin typeface="微软雅黑" panose="020B0503020204020204" pitchFamily="34" charset="-122"/>
                <a:ea typeface="微软雅黑" panose="020B0503020204020204" pitchFamily="34" charset="-122"/>
                <a:sym typeface="+mn-ea"/>
              </a:rPr>
              <a:t>内容架构设计</a:t>
            </a:r>
          </a:p>
          <a:p>
            <a:pPr>
              <a:lnSpc>
                <a:spcPct val="130000"/>
              </a:lnSpc>
              <a:spcBef>
                <a:spcPts val="600"/>
              </a:spcBef>
              <a:spcAft>
                <a:spcPts val="0"/>
              </a:spcAft>
            </a:pPr>
            <a:r>
              <a:rPr lang="zh-CN" altLang="en-US" b="1" dirty="0">
                <a:latin typeface="微软雅黑" panose="020B0503020204020204" pitchFamily="34" charset="-122"/>
                <a:ea typeface="微软雅黑" panose="020B0503020204020204" pitchFamily="34" charset="-122"/>
              </a:rPr>
              <a:t>承担责任</a:t>
            </a:r>
            <a:r>
              <a:rPr lang="zh-CN" altLang="en-US" dirty="0">
                <a:latin typeface="微软雅黑" panose="020B0503020204020204" pitchFamily="34" charset="-122"/>
                <a:ea typeface="微软雅黑" panose="020B0503020204020204" pitchFamily="34" charset="-122"/>
              </a:rPr>
              <a:t>：负责项目</a:t>
            </a:r>
            <a:r>
              <a:rPr lang="en-US" altLang="zh-CN" dirty="0">
                <a:latin typeface="微软雅黑" panose="020B0503020204020204" pitchFamily="34" charset="-122"/>
                <a:ea typeface="微软雅黑" panose="020B0503020204020204" pitchFamily="34" charset="-122"/>
              </a:rPr>
              <a:t> PPT </a:t>
            </a:r>
            <a:r>
              <a:rPr lang="zh-CN" altLang="en-US" dirty="0">
                <a:latin typeface="微软雅黑" panose="020B0503020204020204" pitchFamily="34" charset="-122"/>
                <a:ea typeface="微软雅黑" panose="020B0503020204020204" pitchFamily="34" charset="-122"/>
              </a:rPr>
              <a:t>全案内容策划，项目宣讲稿</a:t>
            </a:r>
          </a:p>
        </p:txBody>
      </p:sp>
      <p:grpSp>
        <p:nvGrpSpPr>
          <p:cNvPr id="6" name="组合 5"/>
          <p:cNvGrpSpPr/>
          <p:nvPr/>
        </p:nvGrpSpPr>
        <p:grpSpPr>
          <a:xfrm>
            <a:off x="419100" y="259080"/>
            <a:ext cx="923925" cy="923290"/>
            <a:chOff x="660" y="408"/>
            <a:chExt cx="1455" cy="1454"/>
          </a:xfrm>
        </p:grpSpPr>
        <p:sp>
          <p:nvSpPr>
            <p:cNvPr id="7"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8"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9" name="文本框 8"/>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04</a:t>
              </a:r>
              <a:endParaRPr lang="zh-CN" altLang="en-US" sz="4000" dirty="0">
                <a:solidFill>
                  <a:schemeClr val="accent1"/>
                </a:solidFill>
                <a:latin typeface="Century Gothic" panose="020B0502020202020204" pitchFamily="34" charset="0"/>
              </a:endParaRPr>
            </a:p>
          </p:txBody>
        </p:sp>
      </p:grpSp>
      <p:grpSp>
        <p:nvGrpSpPr>
          <p:cNvPr id="36" name="组合 35"/>
          <p:cNvGrpSpPr/>
          <p:nvPr/>
        </p:nvGrpSpPr>
        <p:grpSpPr>
          <a:xfrm>
            <a:off x="1473289" y="371367"/>
            <a:ext cx="4260761" cy="802534"/>
            <a:chOff x="7318011" y="1456480"/>
            <a:chExt cx="4260761" cy="802534"/>
          </a:xfrm>
        </p:grpSpPr>
        <p:sp>
          <p:nvSpPr>
            <p:cNvPr id="37" name="文本框 36"/>
            <p:cNvSpPr txBox="1"/>
            <p:nvPr/>
          </p:nvSpPr>
          <p:spPr>
            <a:xfrm>
              <a:off x="7318011" y="1456480"/>
              <a:ext cx="2621280" cy="58356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人员组织架构</a:t>
              </a:r>
            </a:p>
          </p:txBody>
        </p:sp>
        <p:sp>
          <p:nvSpPr>
            <p:cNvPr id="38" name="文本框 37"/>
            <p:cNvSpPr txBox="1"/>
            <p:nvPr/>
          </p:nvSpPr>
          <p:spPr>
            <a:xfrm>
              <a:off x="7318011" y="1984059"/>
              <a:ext cx="4260761" cy="27495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ea typeface="+mj-ea"/>
                </a:rPr>
                <a:t>PERSONNEL ORGANIZATIONAL STRUCTURE</a:t>
              </a:r>
            </a:p>
          </p:txBody>
        </p:sp>
      </p:grpSp>
      <p:pic>
        <p:nvPicPr>
          <p:cNvPr id="10" name="图片 9"/>
          <p:cNvPicPr>
            <a:picLocks noChangeAspect="1"/>
          </p:cNvPicPr>
          <p:nvPr/>
        </p:nvPicPr>
        <p:blipFill>
          <a:blip r:embed="rId3"/>
          <a:stretch>
            <a:fillRect/>
          </a:stretch>
        </p:blipFill>
        <p:spPr>
          <a:xfrm>
            <a:off x="4486275" y="422910"/>
            <a:ext cx="7705725" cy="297815"/>
          </a:xfrm>
          <a:prstGeom prst="rect">
            <a:avLst/>
          </a:prstGeom>
        </p:spPr>
      </p:pic>
      <p:pic>
        <p:nvPicPr>
          <p:cNvPr id="3" name="图片 2">
            <a:extLst>
              <a:ext uri="{FF2B5EF4-FFF2-40B4-BE49-F238E27FC236}">
                <a16:creationId xmlns:a16="http://schemas.microsoft.com/office/drawing/2014/main" id="{CE4D70CC-272D-5590-3E56-82BC4BE15F9E}"/>
              </a:ext>
            </a:extLst>
          </p:cNvPr>
          <p:cNvPicPr>
            <a:picLocks noChangeAspect="1"/>
          </p:cNvPicPr>
          <p:nvPr/>
        </p:nvPicPr>
        <p:blipFill>
          <a:blip r:embed="rId4" cstate="print"/>
          <a:srcRect l="19503" r="19503"/>
          <a:stretch>
            <a:fillRect/>
          </a:stretch>
        </p:blipFill>
        <p:spPr>
          <a:xfrm>
            <a:off x="753745" y="3158490"/>
            <a:ext cx="1271270" cy="1271270"/>
          </a:xfrm>
          <a:prstGeom prst="rect">
            <a:avLst/>
          </a:prstGeom>
        </p:spPr>
      </p:pic>
      <p:pic>
        <p:nvPicPr>
          <p:cNvPr id="11" name="图片 10">
            <a:extLst>
              <a:ext uri="{FF2B5EF4-FFF2-40B4-BE49-F238E27FC236}">
                <a16:creationId xmlns:a16="http://schemas.microsoft.com/office/drawing/2014/main" id="{2D0C8FEB-6F80-5212-E71A-7611538C853B}"/>
              </a:ext>
            </a:extLst>
          </p:cNvPr>
          <p:cNvPicPr>
            <a:picLocks noChangeAspect="1"/>
          </p:cNvPicPr>
          <p:nvPr/>
        </p:nvPicPr>
        <p:blipFill>
          <a:blip r:embed="rId5" cstate="print"/>
          <a:srcRect l="4994" r="28610"/>
          <a:stretch>
            <a:fillRect/>
          </a:stretch>
        </p:blipFill>
        <p:spPr>
          <a:xfrm>
            <a:off x="3443605" y="4497705"/>
            <a:ext cx="1270635" cy="1270635"/>
          </a:xfrm>
          <a:prstGeom prst="rect">
            <a:avLst/>
          </a:prstGeom>
        </p:spPr>
      </p:pic>
      <p:pic>
        <p:nvPicPr>
          <p:cNvPr id="12" name="图片 11">
            <a:extLst>
              <a:ext uri="{FF2B5EF4-FFF2-40B4-BE49-F238E27FC236}">
                <a16:creationId xmlns:a16="http://schemas.microsoft.com/office/drawing/2014/main" id="{30984D7B-CF63-DD55-9DC7-50C99250E0DF}"/>
              </a:ext>
            </a:extLst>
          </p:cNvPr>
          <p:cNvPicPr>
            <a:picLocks noChangeAspect="1"/>
          </p:cNvPicPr>
          <p:nvPr/>
        </p:nvPicPr>
        <p:blipFill>
          <a:blip r:embed="rId6" cstate="print"/>
          <a:srcRect l="18169" r="16049"/>
          <a:stretch>
            <a:fillRect/>
          </a:stretch>
        </p:blipFill>
        <p:spPr>
          <a:xfrm>
            <a:off x="2096135" y="1817370"/>
            <a:ext cx="1270635" cy="1270635"/>
          </a:xfrm>
          <a:prstGeom prst="rect">
            <a:avLst/>
          </a:prstGeom>
        </p:spPr>
      </p:pic>
      <p:pic>
        <p:nvPicPr>
          <p:cNvPr id="13" name="图片 12">
            <a:extLst>
              <a:ext uri="{FF2B5EF4-FFF2-40B4-BE49-F238E27FC236}">
                <a16:creationId xmlns:a16="http://schemas.microsoft.com/office/drawing/2014/main" id="{B6A2D803-55D6-806A-8B3B-0F1160990A29}"/>
              </a:ext>
            </a:extLst>
          </p:cNvPr>
          <p:cNvPicPr>
            <a:picLocks noChangeAspect="1"/>
          </p:cNvPicPr>
          <p:nvPr/>
        </p:nvPicPr>
        <p:blipFill>
          <a:blip r:embed="rId7" cstate="print"/>
          <a:srcRect l="51394" t="16480" r="10428" b="27072"/>
          <a:stretch>
            <a:fillRect/>
          </a:stretch>
        </p:blipFill>
        <p:spPr>
          <a:xfrm>
            <a:off x="3443605" y="1817370"/>
            <a:ext cx="1269365" cy="1270635"/>
          </a:xfrm>
          <a:prstGeom prst="rect">
            <a:avLst/>
          </a:prstGeom>
        </p:spPr>
      </p:pic>
      <p:sp>
        <p:nvSpPr>
          <p:cNvPr id="14" name="矩形 13">
            <a:extLst>
              <a:ext uri="{FF2B5EF4-FFF2-40B4-BE49-F238E27FC236}">
                <a16:creationId xmlns:a16="http://schemas.microsoft.com/office/drawing/2014/main" id="{C3E2D8F4-8E94-20F5-717E-33C9D4E20218}"/>
              </a:ext>
            </a:extLst>
          </p:cNvPr>
          <p:cNvSpPr/>
          <p:nvPr/>
        </p:nvSpPr>
        <p:spPr>
          <a:xfrm>
            <a:off x="3443890" y="3158626"/>
            <a:ext cx="1269242" cy="12692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创意</a:t>
            </a:r>
          </a:p>
        </p:txBody>
      </p:sp>
      <p:sp>
        <p:nvSpPr>
          <p:cNvPr id="15" name="矩形 14">
            <a:extLst>
              <a:ext uri="{FF2B5EF4-FFF2-40B4-BE49-F238E27FC236}">
                <a16:creationId xmlns:a16="http://schemas.microsoft.com/office/drawing/2014/main" id="{894B8EFB-68E4-53A2-AA4E-F0786B846764}"/>
              </a:ext>
            </a:extLst>
          </p:cNvPr>
          <p:cNvSpPr/>
          <p:nvPr/>
        </p:nvSpPr>
        <p:spPr>
          <a:xfrm>
            <a:off x="3522364" y="3237100"/>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8B1067A9-F328-6EEB-A44F-C9D6C95805C7}"/>
              </a:ext>
            </a:extLst>
          </p:cNvPr>
          <p:cNvSpPr/>
          <p:nvPr/>
        </p:nvSpPr>
        <p:spPr>
          <a:xfrm>
            <a:off x="2174505" y="1899155"/>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A8C1387F-B411-9836-2F8D-1AA88516BC8F}"/>
              </a:ext>
            </a:extLst>
          </p:cNvPr>
          <p:cNvSpPr/>
          <p:nvPr/>
        </p:nvSpPr>
        <p:spPr>
          <a:xfrm>
            <a:off x="3522221" y="1899155"/>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C1C35E9E-ED84-2A13-B65D-59F97004EBDD}"/>
              </a:ext>
            </a:extLst>
          </p:cNvPr>
          <p:cNvSpPr/>
          <p:nvPr/>
        </p:nvSpPr>
        <p:spPr>
          <a:xfrm>
            <a:off x="3522364" y="4576561"/>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15C05FC-B167-632C-7D6F-56888FAFE3EF}"/>
              </a:ext>
            </a:extLst>
          </p:cNvPr>
          <p:cNvSpPr/>
          <p:nvPr/>
        </p:nvSpPr>
        <p:spPr>
          <a:xfrm>
            <a:off x="2174505" y="4576561"/>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9F510B41-ADBD-8943-1F4C-90D66F6C4F8E}"/>
              </a:ext>
            </a:extLst>
          </p:cNvPr>
          <p:cNvSpPr/>
          <p:nvPr/>
        </p:nvSpPr>
        <p:spPr>
          <a:xfrm>
            <a:off x="748807" y="4497452"/>
            <a:ext cx="1269242" cy="12692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组织</a:t>
            </a:r>
          </a:p>
        </p:txBody>
      </p:sp>
      <p:sp>
        <p:nvSpPr>
          <p:cNvPr id="27" name="矩形 26">
            <a:extLst>
              <a:ext uri="{FF2B5EF4-FFF2-40B4-BE49-F238E27FC236}">
                <a16:creationId xmlns:a16="http://schemas.microsoft.com/office/drawing/2014/main" id="{2772AFB8-E8AA-0BFC-0B9E-B73A6F223A77}"/>
              </a:ext>
            </a:extLst>
          </p:cNvPr>
          <p:cNvSpPr/>
          <p:nvPr/>
        </p:nvSpPr>
        <p:spPr>
          <a:xfrm>
            <a:off x="827281" y="4575926"/>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02A4000B-78D8-9DB5-2309-55A198BE18FE}"/>
              </a:ext>
            </a:extLst>
          </p:cNvPr>
          <p:cNvSpPr/>
          <p:nvPr/>
        </p:nvSpPr>
        <p:spPr>
          <a:xfrm>
            <a:off x="827035" y="3236348"/>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32120D45-8074-E9D5-2BC7-ECD03E2C69C0}"/>
              </a:ext>
            </a:extLst>
          </p:cNvPr>
          <p:cNvSpPr/>
          <p:nvPr/>
        </p:nvSpPr>
        <p:spPr>
          <a:xfrm>
            <a:off x="748807" y="1817114"/>
            <a:ext cx="1269242" cy="12692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技术</a:t>
            </a:r>
          </a:p>
        </p:txBody>
      </p:sp>
      <p:sp>
        <p:nvSpPr>
          <p:cNvPr id="32" name="矩形 31">
            <a:extLst>
              <a:ext uri="{FF2B5EF4-FFF2-40B4-BE49-F238E27FC236}">
                <a16:creationId xmlns:a16="http://schemas.microsoft.com/office/drawing/2014/main" id="{9BEB7887-CCD2-F5EB-FBBE-3090127B0BAF}"/>
              </a:ext>
            </a:extLst>
          </p:cNvPr>
          <p:cNvSpPr/>
          <p:nvPr/>
        </p:nvSpPr>
        <p:spPr>
          <a:xfrm>
            <a:off x="827281" y="1895588"/>
            <a:ext cx="1112293" cy="1112293"/>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C98ADDAA-B05E-A544-61DF-7436A7CB2BFE}"/>
              </a:ext>
            </a:extLst>
          </p:cNvPr>
          <p:cNvPicPr>
            <a:picLocks noChangeAspect="1"/>
          </p:cNvPicPr>
          <p:nvPr/>
        </p:nvPicPr>
        <p:blipFill>
          <a:blip r:embed="rId8" cstate="print"/>
          <a:srcRect l="-600" t="1111" r="600" b="10238"/>
          <a:stretch>
            <a:fillRect/>
          </a:stretch>
        </p:blipFill>
        <p:spPr>
          <a:xfrm>
            <a:off x="2094230" y="4519930"/>
            <a:ext cx="1248410" cy="124841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3000"/>
                                  </p:iterate>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iterate type="lt">
                                    <p:tmPct val="3000"/>
                                  </p:iterate>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iterate type="lt">
                                    <p:tmPct val="3000"/>
                                  </p:iterate>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par>
                          <p:cTn id="14" fill="hold">
                            <p:stCondLst>
                              <p:cond delay="1865"/>
                            </p:stCondLst>
                            <p:childTnLst>
                              <p:par>
                                <p:cTn id="15" presetID="10" presetClass="entr" presetSubtype="0"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par>
                          <p:cTn id="27" fill="hold">
                            <p:stCondLst>
                              <p:cond delay="2365"/>
                            </p:stCondLst>
                            <p:childTnLst>
                              <p:par>
                                <p:cTn id="28" presetID="10" presetClass="entr" presetSubtype="0"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par>
                          <p:cTn id="40" fill="hold">
                            <p:stCondLst>
                              <p:cond delay="2865"/>
                            </p:stCondLst>
                            <p:childTnLst>
                              <p:par>
                                <p:cTn id="41" presetID="10" presetClass="entr" presetSubtype="0"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par>
                          <p:cTn id="53" fill="hold">
                            <p:stCondLst>
                              <p:cond delay="3365"/>
                            </p:stCondLst>
                            <p:childTnLst>
                              <p:par>
                                <p:cTn id="54" presetID="10" presetClass="entr" presetSubtype="0" fill="hold" grpId="0"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par>
                                <p:cTn id="60" presetID="10" presetClass="entr" presetSubtype="0" fill="hold" nodeType="with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3" grpId="0"/>
      <p:bldP spid="23" grpId="1"/>
      <p:bldP spid="24" grpId="0"/>
      <p:bldP spid="24" grpId="1"/>
      <p:bldP spid="14" grpId="0" bldLvl="0" animBg="1"/>
      <p:bldP spid="15" grpId="0" bldLvl="0" animBg="1"/>
      <p:bldP spid="16" grpId="0" bldLvl="0" animBg="1"/>
      <p:bldP spid="17" grpId="0" bldLvl="0" animBg="1"/>
      <p:bldP spid="18" grpId="0" bldLvl="0" animBg="1"/>
      <p:bldP spid="22" grpId="0" bldLvl="0" animBg="1"/>
      <p:bldP spid="26" grpId="0" bldLvl="0" animBg="1"/>
      <p:bldP spid="27" grpId="0" bldLvl="0" animBg="1"/>
      <p:bldP spid="28" grpId="0" bldLvl="0" animBg="1"/>
      <p:bldP spid="29" grpId="0" bldLvl="0" animBg="1"/>
      <p:bldP spid="3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740" y="4189650"/>
            <a:ext cx="4246680" cy="2296983"/>
          </a:xfrm>
          <a:prstGeom prst="rect">
            <a:avLst/>
          </a:prstGeom>
        </p:spPr>
      </p:pic>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984" y="4514850"/>
            <a:ext cx="4359230" cy="2118915"/>
          </a:xfrm>
          <a:prstGeom prst="rect">
            <a:avLst/>
          </a:prstGeom>
        </p:spPr>
      </p:pic>
      <p:grpSp>
        <p:nvGrpSpPr>
          <p:cNvPr id="44" name="组合 43"/>
          <p:cNvGrpSpPr/>
          <p:nvPr/>
        </p:nvGrpSpPr>
        <p:grpSpPr>
          <a:xfrm>
            <a:off x="1473289" y="371367"/>
            <a:ext cx="4260761" cy="789702"/>
            <a:chOff x="7318011" y="1456480"/>
            <a:chExt cx="4260761" cy="789702"/>
          </a:xfrm>
        </p:grpSpPr>
        <p:sp>
          <p:nvSpPr>
            <p:cNvPr id="46" name="文本框 45"/>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团队基础</a:t>
              </a:r>
            </a:p>
          </p:txBody>
        </p:sp>
        <p:sp>
          <p:nvSpPr>
            <p:cNvPr id="47" name="文本框 46"/>
            <p:cNvSpPr txBox="1"/>
            <p:nvPr/>
          </p:nvSpPr>
          <p:spPr>
            <a:xfrm>
              <a:off x="7318011" y="1984059"/>
              <a:ext cx="4260761" cy="262123"/>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Team Base</a:t>
              </a:r>
            </a:p>
          </p:txBody>
        </p:sp>
      </p:grpSp>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5498" y="2710340"/>
            <a:ext cx="2604162" cy="4224794"/>
          </a:xfrm>
          <a:prstGeom prst="rect">
            <a:avLst/>
          </a:prstGeom>
        </p:spPr>
      </p:pic>
      <p:pic>
        <p:nvPicPr>
          <p:cNvPr id="5" name="图片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47157" y="0"/>
            <a:ext cx="2604162" cy="3538728"/>
          </a:xfrm>
          <a:prstGeom prst="rect">
            <a:avLst/>
          </a:prstGeom>
        </p:spPr>
      </p:pic>
      <p:pic>
        <p:nvPicPr>
          <p:cNvPr id="7" name="图片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71215" y="5647489"/>
            <a:ext cx="3734477" cy="1465180"/>
          </a:xfrm>
          <a:prstGeom prst="rect">
            <a:avLst/>
          </a:prstGeom>
        </p:spPr>
      </p:pic>
      <p:pic>
        <p:nvPicPr>
          <p:cNvPr id="11" name="图片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6200000">
            <a:off x="9144812" y="3180262"/>
            <a:ext cx="2238620" cy="3785814"/>
          </a:xfrm>
          <a:prstGeom prst="rect">
            <a:avLst/>
          </a:prstGeom>
        </p:spPr>
      </p:pic>
      <p:pic>
        <p:nvPicPr>
          <p:cNvPr id="13" name="图片 12"/>
          <p:cNvPicPr>
            <a:picLocks noChangeAspect="1"/>
          </p:cNvPicPr>
          <p:nvPr/>
        </p:nvPicPr>
        <p:blipFill>
          <a:blip r:embed="rId9" cstate="print">
            <a:extLst>
              <a:ext uri="{28A0092B-C50C-407E-A947-70E740481C1C}">
                <a14:useLocalDpi xmlns:a14="http://schemas.microsoft.com/office/drawing/2010/main" val="0"/>
              </a:ext>
            </a:extLst>
          </a:blip>
          <a:srcRect l="14791" r="13602"/>
          <a:stretch>
            <a:fillRect/>
          </a:stretch>
        </p:blipFill>
        <p:spPr>
          <a:xfrm>
            <a:off x="8355817" y="2597994"/>
            <a:ext cx="3801212" cy="2129306"/>
          </a:xfrm>
          <a:prstGeom prst="rect">
            <a:avLst/>
          </a:prstGeom>
        </p:spPr>
      </p:pic>
      <p:pic>
        <p:nvPicPr>
          <p:cNvPr id="29" name="图片 28"/>
          <p:cNvPicPr>
            <a:picLocks noChangeAspect="1"/>
          </p:cNvPicPr>
          <p:nvPr/>
        </p:nvPicPr>
        <p:blipFill>
          <a:blip r:embed="rId10"/>
          <a:stretch>
            <a:fillRect/>
          </a:stretch>
        </p:blipFill>
        <p:spPr>
          <a:xfrm>
            <a:off x="1603601" y="1182688"/>
            <a:ext cx="3677290" cy="2615184"/>
          </a:xfrm>
          <a:prstGeom prst="rect">
            <a:avLst/>
          </a:prstGeom>
        </p:spPr>
      </p:pic>
      <p:pic>
        <p:nvPicPr>
          <p:cNvPr id="15" name="图片 1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27476" y="1453474"/>
            <a:ext cx="3801211" cy="1975526"/>
          </a:xfrm>
          <a:prstGeom prst="rect">
            <a:avLst/>
          </a:prstGeom>
        </p:spPr>
      </p:pic>
      <p:pic>
        <p:nvPicPr>
          <p:cNvPr id="9" name="图片 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227476" y="0"/>
            <a:ext cx="3785814" cy="1975527"/>
          </a:xfrm>
          <a:prstGeom prst="rect">
            <a:avLst/>
          </a:prstGeom>
        </p:spPr>
      </p:pic>
      <p:pic>
        <p:nvPicPr>
          <p:cNvPr id="21" name="图片 2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77146" y="2839737"/>
            <a:ext cx="4054821" cy="2136979"/>
          </a:xfrm>
          <a:prstGeom prst="rect">
            <a:avLst/>
          </a:prstGeom>
        </p:spPr>
      </p:pic>
      <p:pic>
        <p:nvPicPr>
          <p:cNvPr id="27" name="图片 26"/>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213668" y="1293043"/>
            <a:ext cx="4189645" cy="2118915"/>
          </a:xfrm>
          <a:prstGeom prst="rect">
            <a:avLst/>
          </a:prstGeom>
        </p:spPr>
      </p:pic>
      <p:grpSp>
        <p:nvGrpSpPr>
          <p:cNvPr id="6" name="组合 5"/>
          <p:cNvGrpSpPr/>
          <p:nvPr/>
        </p:nvGrpSpPr>
        <p:grpSpPr>
          <a:xfrm>
            <a:off x="419100" y="259080"/>
            <a:ext cx="923925" cy="923290"/>
            <a:chOff x="660" y="408"/>
            <a:chExt cx="1455" cy="1454"/>
          </a:xfrm>
        </p:grpSpPr>
        <p:sp>
          <p:nvSpPr>
            <p:cNvPr id="2"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8"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4" name="文本框 3"/>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04</a:t>
              </a:r>
              <a:endParaRPr lang="zh-CN" altLang="en-US" sz="4000" dirty="0">
                <a:solidFill>
                  <a:schemeClr val="accent1"/>
                </a:solidFill>
                <a:latin typeface="Century Gothic" panose="020B0502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1473289" y="371367"/>
            <a:ext cx="4260761" cy="787074"/>
            <a:chOff x="7318011" y="1456480"/>
            <a:chExt cx="4260761" cy="787074"/>
          </a:xfrm>
        </p:grpSpPr>
        <p:sp>
          <p:nvSpPr>
            <p:cNvPr id="46" name="文本框 45"/>
            <p:cNvSpPr txBox="1"/>
            <p:nvPr/>
          </p:nvSpPr>
          <p:spPr>
            <a:xfrm>
              <a:off x="7318011" y="1456480"/>
              <a:ext cx="2236510"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可行性分析</a:t>
              </a:r>
            </a:p>
          </p:txBody>
        </p:sp>
        <p:sp>
          <p:nvSpPr>
            <p:cNvPr id="47" name="文本框 46"/>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FEASIBILITY ANALYSIS</a:t>
              </a:r>
            </a:p>
          </p:txBody>
        </p:sp>
      </p:grpSp>
      <p:graphicFrame>
        <p:nvGraphicFramePr>
          <p:cNvPr id="49" name="表格 48"/>
          <p:cNvGraphicFramePr>
            <a:graphicFrameLocks noGrp="1"/>
          </p:cNvGraphicFramePr>
          <p:nvPr/>
        </p:nvGraphicFramePr>
        <p:xfrm>
          <a:off x="419284" y="1405346"/>
          <a:ext cx="11207565" cy="5024804"/>
        </p:xfrm>
        <a:graphic>
          <a:graphicData uri="http://schemas.openxmlformats.org/drawingml/2006/table">
            <a:tbl>
              <a:tblPr firstRow="1" bandRow="1">
                <a:tableStyleId>{FABFCF23-3B69-468F-B69F-88F6DE6A72F2}</a:tableStyleId>
              </a:tblPr>
              <a:tblGrid>
                <a:gridCol w="3258510">
                  <a:extLst>
                    <a:ext uri="{9D8B030D-6E8A-4147-A177-3AD203B41FA5}">
                      <a16:colId xmlns:a16="http://schemas.microsoft.com/office/drawing/2014/main" val="20000"/>
                    </a:ext>
                  </a:extLst>
                </a:gridCol>
                <a:gridCol w="5443909">
                  <a:extLst>
                    <a:ext uri="{9D8B030D-6E8A-4147-A177-3AD203B41FA5}">
                      <a16:colId xmlns:a16="http://schemas.microsoft.com/office/drawing/2014/main" val="20001"/>
                    </a:ext>
                  </a:extLst>
                </a:gridCol>
                <a:gridCol w="2505146">
                  <a:extLst>
                    <a:ext uri="{9D8B030D-6E8A-4147-A177-3AD203B41FA5}">
                      <a16:colId xmlns:a16="http://schemas.microsoft.com/office/drawing/2014/main" val="20002"/>
                    </a:ext>
                  </a:extLst>
                </a:gridCol>
              </a:tblGrid>
              <a:tr h="555465">
                <a:tc>
                  <a:txBody>
                    <a:bodyPr/>
                    <a:lstStyle/>
                    <a:p>
                      <a:pPr algn="ctr"/>
                      <a:r>
                        <a:rPr lang="zh-CN" altLang="en-US" sz="2000" dirty="0"/>
                        <a:t>可行性类别</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altLang="en-US" sz="2000" dirty="0"/>
                        <a:t>可行性分析</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altLang="en-US" sz="2000" dirty="0"/>
                        <a:t>可行性高低</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886728">
                <a:tc rowSpan="3">
                  <a:txBody>
                    <a:bodyPr/>
                    <a:lstStyle/>
                    <a:p>
                      <a:pPr algn="ctr"/>
                      <a:r>
                        <a:rPr lang="zh-CN" altLang="en-US" sz="2000" dirty="0"/>
                        <a:t>技术实现可行性</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altLang="zh-CN" sz="1400" b="1" kern="1200" dirty="0">
                          <a:solidFill>
                            <a:schemeClr val="dk1"/>
                          </a:solidFill>
                          <a:effectLst/>
                          <a:latin typeface="+mn-lt"/>
                          <a:ea typeface="+mn-ea"/>
                          <a:cs typeface="+mn-cs"/>
                        </a:rPr>
                        <a:t>① </a:t>
                      </a:r>
                      <a:r>
                        <a:rPr lang="zh-CN" altLang="zh-CN" sz="1400" b="1" kern="1200" dirty="0">
                          <a:solidFill>
                            <a:schemeClr val="dk1"/>
                          </a:solidFill>
                          <a:effectLst/>
                          <a:latin typeface="+mn-lt"/>
                          <a:ea typeface="+mn-ea"/>
                          <a:cs typeface="+mn-cs"/>
                        </a:rPr>
                        <a:t>关键技术均已成熟可用</a:t>
                      </a:r>
                      <a:endParaRPr lang="zh-CN" altLang="zh-CN" sz="1400" kern="1200" dirty="0">
                        <a:solidFill>
                          <a:schemeClr val="dk1"/>
                        </a:solidFill>
                        <a:effectLst/>
                        <a:latin typeface="+mn-lt"/>
                        <a:ea typeface="+mn-ea"/>
                        <a:cs typeface="+mn-cs"/>
                      </a:endParaRPr>
                    </a:p>
                    <a:p>
                      <a:r>
                        <a:rPr lang="en-US" altLang="zh-CN" sz="1400" kern="1200" dirty="0" err="1">
                          <a:solidFill>
                            <a:schemeClr val="dk1"/>
                          </a:solidFill>
                          <a:effectLst/>
                          <a:latin typeface="+mn-lt"/>
                          <a:ea typeface="+mn-ea"/>
                          <a:cs typeface="+mn-cs"/>
                        </a:rPr>
                        <a:t>FastAPI+React</a:t>
                      </a:r>
                      <a:r>
                        <a:rPr lang="zh-CN" altLang="zh-CN" sz="1400" kern="1200" dirty="0">
                          <a:solidFill>
                            <a:schemeClr val="dk1"/>
                          </a:solidFill>
                          <a:effectLst/>
                          <a:latin typeface="+mn-lt"/>
                          <a:ea typeface="+mn-ea"/>
                          <a:cs typeface="+mn-cs"/>
                        </a:rPr>
                        <a:t>的前后端分离架构在工业界广泛验证；项目所有技术均无研发性风险，属于成熟技术的整合应用。</a:t>
                      </a: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2000" b="1" dirty="0"/>
                        <a:t>高</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886728">
                <a:tc vMerge="1">
                  <a:txBody>
                    <a:bodyPr/>
                    <a:lstStyle/>
                    <a:p>
                      <a:endParaRPr lang="zh-CN"/>
                    </a:p>
                  </a:txBody>
                  <a:tcPr/>
                </a:tc>
                <a:tc>
                  <a:txBody>
                    <a:bodyPr/>
                    <a:lstStyle/>
                    <a:p>
                      <a:r>
                        <a:rPr lang="en-US" altLang="zh-CN" sz="1400" b="1" kern="1200" dirty="0">
                          <a:solidFill>
                            <a:schemeClr val="dk1"/>
                          </a:solidFill>
                          <a:effectLst/>
                          <a:latin typeface="+mn-lt"/>
                          <a:ea typeface="+mn-ea"/>
                          <a:cs typeface="+mn-cs"/>
                        </a:rPr>
                        <a:t>② </a:t>
                      </a:r>
                      <a:r>
                        <a:rPr lang="zh-CN" altLang="zh-CN" sz="1400" b="1" kern="1200" dirty="0">
                          <a:solidFill>
                            <a:schemeClr val="dk1"/>
                          </a:solidFill>
                          <a:effectLst/>
                          <a:latin typeface="+mn-lt"/>
                          <a:ea typeface="+mn-ea"/>
                          <a:cs typeface="+mn-cs"/>
                        </a:rPr>
                        <a:t>核心功能已完成原型验证</a:t>
                      </a:r>
                      <a:endParaRPr lang="zh-CN" altLang="zh-CN" sz="1400" kern="1200" dirty="0">
                        <a:solidFill>
                          <a:schemeClr val="dk1"/>
                        </a:solidFill>
                        <a:effectLst/>
                        <a:latin typeface="+mn-lt"/>
                        <a:ea typeface="+mn-ea"/>
                        <a:cs typeface="+mn-cs"/>
                      </a:endParaRPr>
                    </a:p>
                    <a:p>
                      <a:r>
                        <a:rPr lang="zh-CN" altLang="zh-CN" sz="1400" kern="1200" dirty="0">
                          <a:solidFill>
                            <a:schemeClr val="dk1"/>
                          </a:solidFill>
                          <a:effectLst/>
                          <a:latin typeface="+mn-lt"/>
                          <a:ea typeface="+mn-ea"/>
                          <a:cs typeface="+mn-cs"/>
                        </a:rPr>
                        <a:t>项目核心功能已在开发过程中完成原型验证，主要技术难点均已找到可靠解决方案并实现。</a:t>
                      </a: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2000" b="1" dirty="0"/>
                        <a:t>高</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886728">
                <a:tc vMerge="1">
                  <a:txBody>
                    <a:bodyPr/>
                    <a:lstStyle/>
                    <a:p>
                      <a:endParaRPr lang="zh-CN"/>
                    </a:p>
                  </a:txBody>
                  <a:tcPr/>
                </a:tc>
                <a:tc>
                  <a:txBody>
                    <a:bodyPr/>
                    <a:lstStyle/>
                    <a:p>
                      <a:r>
                        <a:rPr lang="en-US" altLang="zh-CN" sz="1400" b="1" kern="1200" dirty="0">
                          <a:solidFill>
                            <a:schemeClr val="dk1"/>
                          </a:solidFill>
                          <a:effectLst/>
                          <a:latin typeface="+mn-lt"/>
                          <a:ea typeface="+mn-ea"/>
                          <a:cs typeface="+mn-cs"/>
                        </a:rPr>
                        <a:t>③ </a:t>
                      </a:r>
                      <a:r>
                        <a:rPr lang="zh-CN" altLang="zh-CN" sz="1400" b="1" kern="1200" dirty="0">
                          <a:solidFill>
                            <a:schemeClr val="dk1"/>
                          </a:solidFill>
                          <a:effectLst/>
                          <a:latin typeface="+mn-lt"/>
                          <a:ea typeface="+mn-ea"/>
                          <a:cs typeface="+mn-cs"/>
                        </a:rPr>
                        <a:t>工程质量保障机制完备</a:t>
                      </a:r>
                      <a:endParaRPr lang="zh-CN" altLang="zh-CN" sz="1400" kern="1200" dirty="0">
                        <a:solidFill>
                          <a:schemeClr val="dk1"/>
                        </a:solidFill>
                        <a:effectLst/>
                        <a:latin typeface="+mn-lt"/>
                        <a:ea typeface="+mn-ea"/>
                        <a:cs typeface="+mn-cs"/>
                      </a:endParaRPr>
                    </a:p>
                    <a:p>
                      <a:r>
                        <a:rPr lang="zh-CN" altLang="zh-CN" sz="1400" kern="1200" dirty="0">
                          <a:solidFill>
                            <a:schemeClr val="dk1"/>
                          </a:solidFill>
                          <a:effectLst/>
                          <a:latin typeface="+mn-lt"/>
                          <a:ea typeface="+mn-ea"/>
                          <a:cs typeface="+mn-cs"/>
                        </a:rPr>
                        <a:t>通过</a:t>
                      </a:r>
                      <a:r>
                        <a:rPr lang="en-US" altLang="zh-CN" sz="1400" kern="1200" dirty="0">
                          <a:solidFill>
                            <a:schemeClr val="dk1"/>
                          </a:solidFill>
                          <a:effectLst/>
                          <a:latin typeface="+mn-lt"/>
                          <a:ea typeface="+mn-ea"/>
                          <a:cs typeface="+mn-cs"/>
                        </a:rPr>
                        <a:t>6</a:t>
                      </a:r>
                      <a:r>
                        <a:rPr lang="zh-CN" altLang="zh-CN" sz="1400" kern="1200" dirty="0">
                          <a:solidFill>
                            <a:schemeClr val="dk1"/>
                          </a:solidFill>
                          <a:effectLst/>
                          <a:latin typeface="+mn-lt"/>
                          <a:ea typeface="+mn-ea"/>
                          <a:cs typeface="+mn-cs"/>
                        </a:rPr>
                        <a:t>层</a:t>
                      </a:r>
                      <a:r>
                        <a:rPr lang="en-US" altLang="zh-CN" sz="1400" kern="1200" dirty="0">
                          <a:solidFill>
                            <a:schemeClr val="dk1"/>
                          </a:solidFill>
                          <a:effectLst/>
                          <a:latin typeface="+mn-lt"/>
                          <a:ea typeface="+mn-ea"/>
                          <a:cs typeface="+mn-cs"/>
                        </a:rPr>
                        <a:t>JSON</a:t>
                      </a:r>
                      <a:r>
                        <a:rPr lang="zh-CN" altLang="zh-CN" sz="1400" kern="1200" dirty="0">
                          <a:solidFill>
                            <a:schemeClr val="dk1"/>
                          </a:solidFill>
                          <a:effectLst/>
                          <a:latin typeface="+mn-lt"/>
                          <a:ea typeface="+mn-ea"/>
                          <a:cs typeface="+mn-cs"/>
                        </a:rPr>
                        <a:t>容错、服务端二次校验、分批并行等工程手段，系统在</a:t>
                      </a:r>
                      <a:r>
                        <a:rPr lang="en-US" altLang="zh-CN" sz="1400" kern="1200" dirty="0">
                          <a:solidFill>
                            <a:schemeClr val="dk1"/>
                          </a:solidFill>
                          <a:effectLst/>
                          <a:latin typeface="+mn-lt"/>
                          <a:ea typeface="+mn-ea"/>
                          <a:cs typeface="+mn-cs"/>
                        </a:rPr>
                        <a:t>AI</a:t>
                      </a:r>
                      <a:r>
                        <a:rPr lang="zh-CN" altLang="zh-CN" sz="1400" kern="1200" dirty="0">
                          <a:solidFill>
                            <a:schemeClr val="dk1"/>
                          </a:solidFill>
                          <a:effectLst/>
                          <a:latin typeface="+mn-lt"/>
                          <a:ea typeface="+mn-ea"/>
                          <a:cs typeface="+mn-cs"/>
                        </a:rPr>
                        <a:t>输出不确定性的环境下仍能保持稳定运行，技术可行性充分。</a:t>
                      </a: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2000" b="1" dirty="0"/>
                        <a:t>高</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638281">
                <a:tc>
                  <a:txBody>
                    <a:bodyPr/>
                    <a:lstStyle/>
                    <a:p>
                      <a:pPr algn="ctr"/>
                      <a:r>
                        <a:rPr lang="zh-CN" altLang="en-US" sz="2000" dirty="0"/>
                        <a:t>市场推广可行性</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kern="1200" dirty="0">
                          <a:solidFill>
                            <a:schemeClr val="dk1"/>
                          </a:solidFill>
                          <a:effectLst/>
                          <a:latin typeface="+mn-lt"/>
                          <a:ea typeface="+mn-ea"/>
                          <a:cs typeface="+mn-cs"/>
                        </a:rPr>
                        <a:t>开发阶段主要成本为</a:t>
                      </a:r>
                      <a:r>
                        <a:rPr lang="en-US" altLang="zh-CN" sz="1400" kern="1200" dirty="0">
                          <a:solidFill>
                            <a:schemeClr val="dk1"/>
                          </a:solidFill>
                          <a:effectLst/>
                          <a:latin typeface="+mn-lt"/>
                          <a:ea typeface="+mn-ea"/>
                          <a:cs typeface="+mn-cs"/>
                        </a:rPr>
                        <a:t>AI API</a:t>
                      </a:r>
                      <a:r>
                        <a:rPr lang="zh-CN" altLang="zh-CN" sz="1400" kern="1200" dirty="0">
                          <a:solidFill>
                            <a:schemeClr val="dk1"/>
                          </a:solidFill>
                          <a:effectLst/>
                          <a:latin typeface="+mn-lt"/>
                          <a:ea typeface="+mn-ea"/>
                          <a:cs typeface="+mn-cs"/>
                        </a:rPr>
                        <a:t>调试费约</a:t>
                      </a:r>
                      <a:r>
                        <a:rPr lang="en-US" altLang="zh-CN" sz="1400" kern="1200" dirty="0">
                          <a:solidFill>
                            <a:schemeClr val="dk1"/>
                          </a:solidFill>
                          <a:effectLst/>
                          <a:latin typeface="+mn-lt"/>
                          <a:ea typeface="+mn-ea"/>
                          <a:cs typeface="+mn-cs"/>
                        </a:rPr>
                        <a:t>100-300</a:t>
                      </a:r>
                      <a:r>
                        <a:rPr lang="zh-CN" altLang="zh-CN" sz="1400" kern="1200" dirty="0">
                          <a:solidFill>
                            <a:schemeClr val="dk1"/>
                          </a:solidFill>
                          <a:effectLst/>
                          <a:latin typeface="+mn-lt"/>
                          <a:ea typeface="+mn-ea"/>
                          <a:cs typeface="+mn-cs"/>
                        </a:rPr>
                        <a:t>元，可控。运营阶段月成本约</a:t>
                      </a:r>
                      <a:r>
                        <a:rPr lang="en-US" altLang="zh-CN" sz="1400" kern="1200" dirty="0">
                          <a:solidFill>
                            <a:schemeClr val="dk1"/>
                          </a:solidFill>
                          <a:effectLst/>
                          <a:latin typeface="+mn-lt"/>
                          <a:ea typeface="+mn-ea"/>
                          <a:cs typeface="+mn-cs"/>
                        </a:rPr>
                        <a:t>700-2500</a:t>
                      </a:r>
                      <a:r>
                        <a:rPr lang="zh-CN" altLang="zh-CN" sz="1400" kern="1200" dirty="0">
                          <a:solidFill>
                            <a:schemeClr val="dk1"/>
                          </a:solidFill>
                          <a:effectLst/>
                          <a:latin typeface="+mn-lt"/>
                          <a:ea typeface="+mn-ea"/>
                          <a:cs typeface="+mn-cs"/>
                        </a:rPr>
                        <a:t>元，商业化后可通过</a:t>
                      </a:r>
                      <a:r>
                        <a:rPr lang="zh-CN" altLang="en-US" sz="1400" kern="1200" dirty="0">
                          <a:solidFill>
                            <a:schemeClr val="dk1"/>
                          </a:solidFill>
                          <a:effectLst/>
                          <a:latin typeface="+mn-lt"/>
                          <a:ea typeface="+mn-ea"/>
                          <a:cs typeface="+mn-cs"/>
                        </a:rPr>
                        <a:t>收取使用费</a:t>
                      </a:r>
                      <a:r>
                        <a:rPr lang="zh-CN" altLang="zh-CN" sz="1400" kern="1200" dirty="0">
                          <a:solidFill>
                            <a:schemeClr val="dk1"/>
                          </a:solidFill>
                          <a:effectLst/>
                          <a:latin typeface="+mn-lt"/>
                          <a:ea typeface="+mn-ea"/>
                          <a:cs typeface="+mn-cs"/>
                        </a:rPr>
                        <a:t>实现收益</a:t>
                      </a:r>
                      <a:r>
                        <a:rPr lang="zh-CN" altLang="en-US" sz="1400" kern="1200" dirty="0">
                          <a:solidFill>
                            <a:schemeClr val="dk1"/>
                          </a:solidFill>
                          <a:effectLst/>
                          <a:latin typeface="+mn-lt"/>
                          <a:ea typeface="+mn-ea"/>
                          <a:cs typeface="+mn-cs"/>
                        </a:rPr>
                        <a:t>。</a:t>
                      </a:r>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中</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1135175">
                <a:tc>
                  <a:txBody>
                    <a:bodyPr/>
                    <a:lstStyle/>
                    <a:p>
                      <a:pPr algn="ct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法律可行性</a:t>
                      </a: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lvl="0"/>
                      <a:r>
                        <a:rPr lang="zh-CN" altLang="zh-CN" sz="1400" kern="1200" dirty="0">
                          <a:solidFill>
                            <a:schemeClr val="dk1"/>
                          </a:solidFill>
                          <a:effectLst/>
                          <a:latin typeface="+mn-lt"/>
                          <a:ea typeface="+mn-ea"/>
                          <a:cs typeface="+mn-cs"/>
                        </a:rPr>
                        <a:t>数据授权</a:t>
                      </a:r>
                      <a:r>
                        <a:rPr lang="zh-CN" altLang="en-US" sz="1400" kern="1200" dirty="0">
                          <a:solidFill>
                            <a:schemeClr val="dk1"/>
                          </a:solidFill>
                          <a:effectLst/>
                          <a:latin typeface="+mn-lt"/>
                          <a:ea typeface="+mn-ea"/>
                          <a:cs typeface="+mn-cs"/>
                        </a:rPr>
                        <a:t>上，</a:t>
                      </a:r>
                      <a:r>
                        <a:rPr lang="zh-CN" altLang="zh-CN" sz="1400" kern="1200" dirty="0">
                          <a:solidFill>
                            <a:schemeClr val="dk1"/>
                          </a:solidFill>
                          <a:effectLst/>
                          <a:latin typeface="+mn-lt"/>
                          <a:ea typeface="+mn-ea"/>
                          <a:cs typeface="+mn-cs"/>
                        </a:rPr>
                        <a:t>明杉科技作为赛题方授权使用招聘数据，合法合规</a:t>
                      </a:r>
                      <a:r>
                        <a:rPr lang="zh-CN" altLang="en-US" sz="1400" kern="1200" dirty="0">
                          <a:solidFill>
                            <a:schemeClr val="dk1"/>
                          </a:solidFill>
                          <a:effectLst/>
                          <a:latin typeface="+mn-lt"/>
                          <a:ea typeface="+mn-ea"/>
                          <a:cs typeface="+mn-cs"/>
                        </a:rPr>
                        <a:t>；</a:t>
                      </a:r>
                      <a:endParaRPr lang="zh-CN" altLang="zh-CN" sz="1400" kern="1200" dirty="0">
                        <a:solidFill>
                          <a:schemeClr val="dk1"/>
                        </a:solidFill>
                        <a:effectLst/>
                        <a:latin typeface="+mn-lt"/>
                        <a:ea typeface="+mn-ea"/>
                        <a:cs typeface="+mn-cs"/>
                      </a:endParaRPr>
                    </a:p>
                    <a:p>
                      <a:pPr lvl="0"/>
                      <a:r>
                        <a:rPr lang="zh-CN" altLang="zh-CN" sz="1400" kern="1200" dirty="0">
                          <a:solidFill>
                            <a:schemeClr val="dk1"/>
                          </a:solidFill>
                          <a:effectLst/>
                          <a:latin typeface="+mn-lt"/>
                          <a:ea typeface="+mn-ea"/>
                          <a:cs typeface="+mn-cs"/>
                        </a:rPr>
                        <a:t>隐私保护</a:t>
                      </a:r>
                      <a:r>
                        <a:rPr lang="zh-CN" altLang="en-US" sz="1400" kern="1200" dirty="0">
                          <a:solidFill>
                            <a:schemeClr val="dk1"/>
                          </a:solidFill>
                          <a:effectLst/>
                          <a:latin typeface="+mn-lt"/>
                          <a:ea typeface="+mn-ea"/>
                          <a:cs typeface="+mn-cs"/>
                        </a:rPr>
                        <a:t>上，</a:t>
                      </a:r>
                      <a:r>
                        <a:rPr lang="zh-CN" altLang="zh-CN" sz="1400" kern="1200" dirty="0">
                          <a:solidFill>
                            <a:schemeClr val="dk1"/>
                          </a:solidFill>
                          <a:effectLst/>
                          <a:latin typeface="+mn-lt"/>
                          <a:ea typeface="+mn-ea"/>
                          <a:cs typeface="+mn-cs"/>
                        </a:rPr>
                        <a:t>用户简历不持久化存储，符合《个人信息保护法》要求</a:t>
                      </a:r>
                      <a:r>
                        <a:rPr lang="zh-CN" altLang="en-US" sz="1400" kern="1200" dirty="0">
                          <a:solidFill>
                            <a:schemeClr val="dk1"/>
                          </a:solidFill>
                          <a:effectLst/>
                          <a:latin typeface="+mn-lt"/>
                          <a:ea typeface="+mn-ea"/>
                          <a:cs typeface="+mn-cs"/>
                        </a:rPr>
                        <a:t>；</a:t>
                      </a:r>
                      <a:endParaRPr lang="zh-CN" altLang="zh-CN" sz="1400" kern="1200" dirty="0">
                        <a:solidFill>
                          <a:schemeClr val="dk1"/>
                        </a:solidFill>
                        <a:effectLst/>
                        <a:latin typeface="+mn-lt"/>
                        <a:ea typeface="+mn-ea"/>
                        <a:cs typeface="+mn-cs"/>
                      </a:endParaRPr>
                    </a:p>
                    <a:p>
                      <a:pPr lvl="0"/>
                      <a:r>
                        <a:rPr lang="en-US" altLang="zh-CN" sz="1400" kern="1200" dirty="0">
                          <a:solidFill>
                            <a:schemeClr val="dk1"/>
                          </a:solidFill>
                          <a:effectLst/>
                          <a:latin typeface="+mn-lt"/>
                          <a:ea typeface="+mn-ea"/>
                          <a:cs typeface="+mn-cs"/>
                        </a:rPr>
                        <a:t>AI</a:t>
                      </a:r>
                      <a:r>
                        <a:rPr lang="zh-CN" altLang="zh-CN" sz="1400" kern="1200" dirty="0">
                          <a:solidFill>
                            <a:schemeClr val="dk1"/>
                          </a:solidFill>
                          <a:effectLst/>
                          <a:latin typeface="+mn-lt"/>
                          <a:ea typeface="+mn-ea"/>
                          <a:cs typeface="+mn-cs"/>
                        </a:rPr>
                        <a:t>内容合规</a:t>
                      </a:r>
                      <a:r>
                        <a:rPr lang="zh-CN" altLang="en-US" sz="1400" kern="1200" dirty="0">
                          <a:solidFill>
                            <a:schemeClr val="dk1"/>
                          </a:solidFill>
                          <a:effectLst/>
                          <a:latin typeface="+mn-lt"/>
                          <a:ea typeface="+mn-ea"/>
                          <a:cs typeface="+mn-cs"/>
                        </a:rPr>
                        <a:t>要求上，</a:t>
                      </a:r>
                      <a:r>
                        <a:rPr lang="zh-CN" altLang="zh-CN" sz="1400" kern="1200" dirty="0">
                          <a:solidFill>
                            <a:schemeClr val="dk1"/>
                          </a:solidFill>
                          <a:effectLst/>
                          <a:latin typeface="+mn-lt"/>
                          <a:ea typeface="+mn-ea"/>
                          <a:cs typeface="+mn-cs"/>
                        </a:rPr>
                        <a:t>报告标注</a:t>
                      </a:r>
                      <a:r>
                        <a:rPr lang="en-US" altLang="zh-CN" sz="1400" kern="1200" dirty="0">
                          <a:solidFill>
                            <a:schemeClr val="dk1"/>
                          </a:solidFill>
                          <a:effectLst/>
                          <a:latin typeface="+mn-lt"/>
                          <a:ea typeface="+mn-ea"/>
                          <a:cs typeface="+mn-cs"/>
                        </a:rPr>
                        <a:t>“AI</a:t>
                      </a:r>
                      <a:r>
                        <a:rPr lang="zh-CN" altLang="zh-CN" sz="1400" kern="1200" dirty="0">
                          <a:solidFill>
                            <a:schemeClr val="dk1"/>
                          </a:solidFill>
                          <a:effectLst/>
                          <a:latin typeface="+mn-lt"/>
                          <a:ea typeface="+mn-ea"/>
                          <a:cs typeface="+mn-cs"/>
                        </a:rPr>
                        <a:t>辅助生成，仅供参考</a:t>
                      </a:r>
                      <a:r>
                        <a:rPr lang="en-US" altLang="zh-CN" sz="1400" kern="1200" dirty="0">
                          <a:solidFill>
                            <a:schemeClr val="dk1"/>
                          </a:solidFill>
                          <a:effectLst/>
                          <a:latin typeface="+mn-lt"/>
                          <a:ea typeface="+mn-ea"/>
                          <a:cs typeface="+mn-cs"/>
                        </a:rPr>
                        <a:t>”</a:t>
                      </a:r>
                      <a:r>
                        <a:rPr lang="zh-CN" altLang="zh-CN" sz="1400" kern="1200" dirty="0">
                          <a:solidFill>
                            <a:schemeClr val="dk1"/>
                          </a:solidFill>
                          <a:effectLst/>
                          <a:latin typeface="+mn-lt"/>
                          <a:ea typeface="+mn-ea"/>
                          <a:cs typeface="+mn-cs"/>
                        </a:rPr>
                        <a:t>，不作为正式职业建议，规避法律风险</a:t>
                      </a:r>
                      <a:r>
                        <a:rPr lang="zh-CN" altLang="en-US" sz="1400" kern="1200" dirty="0">
                          <a:solidFill>
                            <a:schemeClr val="dk1"/>
                          </a:solidFill>
                          <a:effectLst/>
                          <a:latin typeface="+mn-lt"/>
                          <a:ea typeface="+mn-ea"/>
                          <a:cs typeface="+mn-cs"/>
                        </a:rPr>
                        <a:t>。</a:t>
                      </a:r>
                      <a:endParaRPr lang="zh-CN" altLang="zh-CN" sz="1400" kern="1200" dirty="0">
                        <a:solidFill>
                          <a:schemeClr val="dk1"/>
                        </a:solidFill>
                        <a:effectLst/>
                        <a:latin typeface="+mn-lt"/>
                        <a:ea typeface="+mn-ea"/>
                        <a:cs typeface="+mn-cs"/>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2000" b="1" dirty="0"/>
                        <a:t>高</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txBody>
                  <a:tcPr marL="104075" marR="104075" marT="52037" marB="5203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bl>
          </a:graphicData>
        </a:graphic>
      </p:graphicFrame>
      <p:grpSp>
        <p:nvGrpSpPr>
          <p:cNvPr id="6" name="组合 5"/>
          <p:cNvGrpSpPr/>
          <p:nvPr/>
        </p:nvGrpSpPr>
        <p:grpSpPr>
          <a:xfrm>
            <a:off x="419100" y="259080"/>
            <a:ext cx="923925" cy="923290"/>
            <a:chOff x="660" y="408"/>
            <a:chExt cx="1455" cy="1454"/>
          </a:xfrm>
        </p:grpSpPr>
        <p:sp>
          <p:nvSpPr>
            <p:cNvPr id="7"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8"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9" name="文本框 8"/>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04</a:t>
              </a:r>
              <a:endParaRPr lang="zh-CN" altLang="en-US" sz="4000" dirty="0">
                <a:solidFill>
                  <a:schemeClr val="accent1"/>
                </a:solidFill>
                <a:latin typeface="Century Gothic" panose="020B0502020202020204" pitchFamily="34" charset="0"/>
              </a:endParaRPr>
            </a:p>
          </p:txBody>
        </p:sp>
      </p:grpSp>
      <p:pic>
        <p:nvPicPr>
          <p:cNvPr id="10" name="图片 9"/>
          <p:cNvPicPr>
            <a:picLocks noChangeAspect="1"/>
          </p:cNvPicPr>
          <p:nvPr/>
        </p:nvPicPr>
        <p:blipFill>
          <a:blip r:embed="rId3"/>
          <a:stretch>
            <a:fillRect/>
          </a:stretch>
        </p:blipFill>
        <p:spPr>
          <a:xfrm>
            <a:off x="4486275" y="422910"/>
            <a:ext cx="7705725" cy="297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p:tgtEl>
                                          <p:spTgt spid="49"/>
                                        </p:tgtEl>
                                        <p:attrNameLst>
                                          <p:attrName>ppt_y</p:attrName>
                                        </p:attrNameLst>
                                      </p:cBhvr>
                                      <p:tavLst>
                                        <p:tav tm="0">
                                          <p:val>
                                            <p:strVal val="#ppt_y+#ppt_h*1.125000"/>
                                          </p:val>
                                        </p:tav>
                                        <p:tav tm="100000">
                                          <p:val>
                                            <p:strVal val="#ppt_y"/>
                                          </p:val>
                                        </p:tav>
                                      </p:tavLst>
                                    </p:anim>
                                    <p:animEffect transition="in" filter="wipe(up)">
                                      <p:cBhvr>
                                        <p:cTn id="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1473289" y="371367"/>
            <a:ext cx="4260761" cy="787074"/>
            <a:chOff x="7318011" y="1456480"/>
            <a:chExt cx="4260761" cy="787074"/>
          </a:xfrm>
        </p:grpSpPr>
        <p:sp>
          <p:nvSpPr>
            <p:cNvPr id="46" name="文本框 45"/>
            <p:cNvSpPr txBox="1"/>
            <p:nvPr/>
          </p:nvSpPr>
          <p:spPr>
            <a:xfrm>
              <a:off x="7318011" y="1456480"/>
              <a:ext cx="1826141" cy="584775"/>
            </a:xfrm>
            <a:prstGeom prst="rect">
              <a:avLst/>
            </a:prstGeom>
            <a:noFill/>
          </p:spPr>
          <p:txBody>
            <a:bodyPr wrap="none" rtlCol="0">
              <a:spAutoFit/>
              <a:scene3d>
                <a:camera prst="orthographicFront"/>
                <a:lightRig rig="threePt" dir="t"/>
              </a:scene3d>
              <a:sp3d contourW="12700"/>
            </a:bodyPr>
            <a:lstStyle/>
            <a:p>
              <a:r>
                <a:rPr lang="zh-CN" altLang="en-US" sz="3200" b="1" dirty="0">
                  <a:solidFill>
                    <a:schemeClr val="tx1">
                      <a:lumMod val="85000"/>
                      <a:lumOff val="15000"/>
                    </a:schemeClr>
                  </a:solidFill>
                </a:rPr>
                <a:t>未来推广</a:t>
              </a:r>
            </a:p>
          </p:txBody>
        </p:sp>
        <p:sp>
          <p:nvSpPr>
            <p:cNvPr id="47" name="文本框 46"/>
            <p:cNvSpPr txBox="1"/>
            <p:nvPr/>
          </p:nvSpPr>
          <p:spPr>
            <a:xfrm>
              <a:off x="7318011" y="1984059"/>
              <a:ext cx="4260761" cy="259495"/>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050" dirty="0">
                  <a:solidFill>
                    <a:schemeClr val="bg1">
                      <a:lumMod val="65000"/>
                    </a:schemeClr>
                  </a:solidFill>
                  <a:latin typeface="Century Gothic" panose="020B0502020202020204" pitchFamily="34" charset="0"/>
                </a:rPr>
                <a:t>FUTURE PROMOTION</a:t>
              </a:r>
            </a:p>
          </p:txBody>
        </p:sp>
      </p:grpSp>
      <p:pic>
        <p:nvPicPr>
          <p:cNvPr id="2" name="图片 1" descr="大脑信号处理流程图 - visual selection (1)"/>
          <p:cNvPicPr>
            <a:picLocks noChangeAspect="1"/>
          </p:cNvPicPr>
          <p:nvPr/>
        </p:nvPicPr>
        <p:blipFill>
          <a:blip r:embed="rId3"/>
          <a:srcRect b="7381"/>
          <a:stretch>
            <a:fillRect/>
          </a:stretch>
        </p:blipFill>
        <p:spPr>
          <a:xfrm>
            <a:off x="658495" y="598170"/>
            <a:ext cx="10862945" cy="5661660"/>
          </a:xfrm>
          <a:prstGeom prst="rect">
            <a:avLst/>
          </a:prstGeom>
        </p:spPr>
      </p:pic>
      <p:grpSp>
        <p:nvGrpSpPr>
          <p:cNvPr id="6" name="组合 5"/>
          <p:cNvGrpSpPr/>
          <p:nvPr/>
        </p:nvGrpSpPr>
        <p:grpSpPr>
          <a:xfrm>
            <a:off x="419100" y="259080"/>
            <a:ext cx="923925" cy="923290"/>
            <a:chOff x="660" y="408"/>
            <a:chExt cx="1455" cy="1454"/>
          </a:xfrm>
        </p:grpSpPr>
        <p:sp>
          <p:nvSpPr>
            <p:cNvPr id="7" name="任意多边形: 形状 22"/>
            <p:cNvSpPr/>
            <p:nvPr/>
          </p:nvSpPr>
          <p:spPr>
            <a:xfrm>
              <a:off x="660" y="1135"/>
              <a:ext cx="1455" cy="727"/>
            </a:xfrm>
            <a:custGeom>
              <a:avLst/>
              <a:gdLst>
                <a:gd name="connsiteX0" fmla="*/ 0 w 923740"/>
                <a:gd name="connsiteY0" fmla="*/ 0 h 461870"/>
                <a:gd name="connsiteX1" fmla="*/ 33227 w 923740"/>
                <a:gd name="connsiteY1" fmla="*/ 0 h 461870"/>
                <a:gd name="connsiteX2" fmla="*/ 33227 w 923740"/>
                <a:gd name="connsiteY2" fmla="*/ 428643 h 461870"/>
                <a:gd name="connsiteX3" fmla="*/ 890513 w 923740"/>
                <a:gd name="connsiteY3" fmla="*/ 428643 h 461870"/>
                <a:gd name="connsiteX4" fmla="*/ 890513 w 923740"/>
                <a:gd name="connsiteY4" fmla="*/ 0 h 461870"/>
                <a:gd name="connsiteX5" fmla="*/ 923740 w 923740"/>
                <a:gd name="connsiteY5" fmla="*/ 0 h 461870"/>
                <a:gd name="connsiteX6" fmla="*/ 923740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33227" y="0"/>
                  </a:lnTo>
                  <a:lnTo>
                    <a:pt x="33227" y="428643"/>
                  </a:lnTo>
                  <a:lnTo>
                    <a:pt x="890513" y="428643"/>
                  </a:lnTo>
                  <a:lnTo>
                    <a:pt x="890513" y="0"/>
                  </a:lnTo>
                  <a:lnTo>
                    <a:pt x="923740" y="0"/>
                  </a:lnTo>
                  <a:lnTo>
                    <a:pt x="923740" y="461870"/>
                  </a:lnTo>
                  <a:lnTo>
                    <a:pt x="0" y="461870"/>
                  </a:lnTo>
                  <a:lnTo>
                    <a:pt x="0" y="0"/>
                  </a:lnTo>
                  <a:close/>
                </a:path>
              </a:pathLst>
            </a:custGeom>
            <a:solidFill>
              <a:schemeClr val="tx1">
                <a:lumMod val="75000"/>
                <a:lumOff val="25000"/>
              </a:schemeClr>
            </a:solidFill>
            <a:ln w="28575" cmpd="sng">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sz="1600">
                <a:solidFill>
                  <a:schemeClr val="tx1"/>
                </a:solidFill>
                <a:effectLst/>
              </a:endParaRPr>
            </a:p>
          </p:txBody>
        </p:sp>
        <p:sp>
          <p:nvSpPr>
            <p:cNvPr id="8" name="任意多边形: 形状 23"/>
            <p:cNvSpPr/>
            <p:nvPr/>
          </p:nvSpPr>
          <p:spPr>
            <a:xfrm>
              <a:off x="660" y="408"/>
              <a:ext cx="1455" cy="727"/>
            </a:xfrm>
            <a:custGeom>
              <a:avLst/>
              <a:gdLst>
                <a:gd name="connsiteX0" fmla="*/ 0 w 923740"/>
                <a:gd name="connsiteY0" fmla="*/ 0 h 461870"/>
                <a:gd name="connsiteX1" fmla="*/ 923740 w 923740"/>
                <a:gd name="connsiteY1" fmla="*/ 0 h 461870"/>
                <a:gd name="connsiteX2" fmla="*/ 923740 w 923740"/>
                <a:gd name="connsiteY2" fmla="*/ 461870 h 461870"/>
                <a:gd name="connsiteX3" fmla="*/ 890513 w 923740"/>
                <a:gd name="connsiteY3" fmla="*/ 461870 h 461870"/>
                <a:gd name="connsiteX4" fmla="*/ 890513 w 923740"/>
                <a:gd name="connsiteY4" fmla="*/ 33227 h 461870"/>
                <a:gd name="connsiteX5" fmla="*/ 33227 w 923740"/>
                <a:gd name="connsiteY5" fmla="*/ 33227 h 461870"/>
                <a:gd name="connsiteX6" fmla="*/ 33227 w 923740"/>
                <a:gd name="connsiteY6" fmla="*/ 461870 h 461870"/>
                <a:gd name="connsiteX7" fmla="*/ 0 w 923740"/>
                <a:gd name="connsiteY7" fmla="*/ 461870 h 461870"/>
                <a:gd name="connsiteX8" fmla="*/ 0 w 923740"/>
                <a:gd name="connsiteY8" fmla="*/ 0 h 46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40" h="461870">
                  <a:moveTo>
                    <a:pt x="0" y="0"/>
                  </a:moveTo>
                  <a:lnTo>
                    <a:pt x="923740" y="0"/>
                  </a:lnTo>
                  <a:lnTo>
                    <a:pt x="923740" y="461870"/>
                  </a:lnTo>
                  <a:lnTo>
                    <a:pt x="890513" y="461870"/>
                  </a:lnTo>
                  <a:lnTo>
                    <a:pt x="890513" y="33227"/>
                  </a:lnTo>
                  <a:lnTo>
                    <a:pt x="33227" y="33227"/>
                  </a:lnTo>
                  <a:lnTo>
                    <a:pt x="33227" y="461870"/>
                  </a:lnTo>
                  <a:lnTo>
                    <a:pt x="0" y="461870"/>
                  </a:lnTo>
                  <a:lnTo>
                    <a:pt x="0" y="0"/>
                  </a:lnTo>
                  <a:close/>
                </a:path>
              </a:pathLst>
            </a:cu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9" name="文本框 8"/>
            <p:cNvSpPr txBox="1"/>
            <p:nvPr/>
          </p:nvSpPr>
          <p:spPr>
            <a:xfrm>
              <a:off x="660" y="578"/>
              <a:ext cx="1455" cy="1113"/>
            </a:xfrm>
            <a:prstGeom prst="rect">
              <a:avLst/>
            </a:prstGeom>
            <a:noFill/>
          </p:spPr>
          <p:txBody>
            <a:bodyPr wrap="square" rtlCol="0">
              <a:spAutoFit/>
              <a:scene3d>
                <a:camera prst="orthographicFront"/>
                <a:lightRig rig="threePt" dir="t"/>
              </a:scene3d>
              <a:sp3d contourW="12700"/>
            </a:bodyPr>
            <a:lstStyle/>
            <a:p>
              <a:pPr algn="ctr"/>
              <a:r>
                <a:rPr lang="en-US" altLang="zh-CN" sz="4000" dirty="0">
                  <a:solidFill>
                    <a:schemeClr val="accent1"/>
                  </a:solidFill>
                  <a:latin typeface="Century Gothic" panose="020B0502020202020204" pitchFamily="34" charset="0"/>
                </a:rPr>
                <a:t>05</a:t>
              </a:r>
              <a:endParaRPr lang="zh-CN" altLang="en-US" sz="4000" dirty="0">
                <a:solidFill>
                  <a:schemeClr val="accent1"/>
                </a:solidFill>
                <a:latin typeface="Century Gothic" panose="020B0502020202020204" pitchFamily="34" charset="0"/>
              </a:endParaRPr>
            </a:p>
          </p:txBody>
        </p:sp>
      </p:grpSp>
      <p:pic>
        <p:nvPicPr>
          <p:cNvPr id="10" name="图片 9"/>
          <p:cNvPicPr>
            <a:picLocks noChangeAspect="1"/>
          </p:cNvPicPr>
          <p:nvPr/>
        </p:nvPicPr>
        <p:blipFill>
          <a:blip r:embed="rId4"/>
          <a:stretch>
            <a:fillRect/>
          </a:stretch>
        </p:blipFill>
        <p:spPr>
          <a:xfrm>
            <a:off x="4486275" y="422910"/>
            <a:ext cx="7705725" cy="2978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菱形 1"/>
          <p:cNvSpPr/>
          <p:nvPr/>
        </p:nvSpPr>
        <p:spPr>
          <a:xfrm>
            <a:off x="2462530" y="635"/>
            <a:ext cx="7267575" cy="7267575"/>
          </a:xfrm>
          <a:prstGeom prst="diamond">
            <a:avLst/>
          </a:prstGeom>
          <a:noFill/>
          <a:ln w="152400" cmpd="sng">
            <a:solidFill>
              <a:schemeClr val="accent6">
                <a:lumMod val="10000"/>
                <a:lumOff val="90000"/>
                <a:alpha val="4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菱形 20"/>
          <p:cNvSpPr/>
          <p:nvPr/>
        </p:nvSpPr>
        <p:spPr>
          <a:xfrm>
            <a:off x="2870200" y="203200"/>
            <a:ext cx="6451600" cy="6451600"/>
          </a:xfrm>
          <a:prstGeom prst="diamond">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p:cNvSpPr/>
          <p:nvPr/>
        </p:nvSpPr>
        <p:spPr>
          <a:xfrm flipH="1">
            <a:off x="0" y="0"/>
            <a:ext cx="12192000" cy="368385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blipFill dpi="0" rotWithShape="1">
            <a:blip r:embed="rId3"/>
            <a:srcRect/>
            <a:tile tx="6350" ty="-215900" sx="89000" sy="89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320615" y="4551726"/>
            <a:ext cx="7547286" cy="350865"/>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600" dirty="0">
                <a:solidFill>
                  <a:schemeClr val="bg1">
                    <a:lumMod val="50000"/>
                  </a:schemeClr>
                </a:solidFill>
                <a:latin typeface="Century Gothic" panose="020B0502020202020204" pitchFamily="34" charset="0"/>
                <a:ea typeface="+mj-ea"/>
              </a:rPr>
              <a:t>制作团队：智驭未来团队</a:t>
            </a:r>
            <a:endParaRPr lang="en-US" altLang="zh-CN" sz="1600" dirty="0">
              <a:solidFill>
                <a:schemeClr val="bg1">
                  <a:lumMod val="50000"/>
                </a:schemeClr>
              </a:solidFill>
              <a:latin typeface="Century Gothic" panose="020B0502020202020204" pitchFamily="34" charset="0"/>
              <a:ea typeface="+mj-ea"/>
            </a:endParaRPr>
          </a:p>
        </p:txBody>
      </p:sp>
      <p:pic>
        <p:nvPicPr>
          <p:cNvPr id="12" name="图片 12" descr="封面稿2"/>
          <p:cNvPicPr>
            <a:picLocks noChangeAspect="1"/>
          </p:cNvPicPr>
          <p:nvPr/>
        </p:nvPicPr>
        <p:blipFill>
          <a:blip r:embed="rId4"/>
          <a:srcRect l="17534" t="43636" b="25257"/>
          <a:stretch>
            <a:fillRect/>
          </a:stretch>
        </p:blipFill>
        <p:spPr>
          <a:xfrm>
            <a:off x="5266055" y="0"/>
            <a:ext cx="6925945" cy="3684270"/>
          </a:xfrm>
          <a:prstGeom prst="rect">
            <a:avLst/>
          </a:prstGeom>
          <a:effectLst>
            <a:softEdge rad="546100"/>
          </a:effectLst>
        </p:spPr>
      </p:pic>
      <p:sp>
        <p:nvSpPr>
          <p:cNvPr id="13" name="任意多边形: 形状 12"/>
          <p:cNvSpPr/>
          <p:nvPr/>
        </p:nvSpPr>
        <p:spPr>
          <a:xfrm>
            <a:off x="0" y="635"/>
            <a:ext cx="12192000" cy="3683857"/>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8705850 w 12192000"/>
              <a:gd name="connsiteY3" fmla="*/ 3429000 h 3429000"/>
              <a:gd name="connsiteX4" fmla="*/ 8640080 w 12192000"/>
              <a:gd name="connsiteY4" fmla="*/ 3429000 h 3429000"/>
              <a:gd name="connsiteX5" fmla="*/ 3551920 w 12192000"/>
              <a:gd name="connsiteY5" fmla="*/ 3429000 h 3429000"/>
              <a:gd name="connsiteX6" fmla="*/ 3486150 w 12192000"/>
              <a:gd name="connsiteY6" fmla="*/ 3429000 h 3429000"/>
              <a:gd name="connsiteX7" fmla="*/ 0 w 12192000"/>
              <a:gd name="connsiteY7"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9000">
                <a:moveTo>
                  <a:pt x="0" y="0"/>
                </a:moveTo>
                <a:lnTo>
                  <a:pt x="12192000" y="0"/>
                </a:lnTo>
                <a:lnTo>
                  <a:pt x="12192000" y="3429000"/>
                </a:lnTo>
                <a:lnTo>
                  <a:pt x="8705850" y="3429000"/>
                </a:lnTo>
                <a:lnTo>
                  <a:pt x="8640080" y="3429000"/>
                </a:lnTo>
                <a:lnTo>
                  <a:pt x="3551920" y="3429000"/>
                </a:lnTo>
                <a:lnTo>
                  <a:pt x="3486150" y="3429000"/>
                </a:lnTo>
                <a:lnTo>
                  <a:pt x="0" y="3429000"/>
                </a:lnTo>
                <a:close/>
              </a:path>
            </a:pathLst>
          </a:custGeom>
          <a:gradFill>
            <a:gsLst>
              <a:gs pos="0">
                <a:schemeClr val="tx1">
                  <a:alpha val="50000"/>
                </a:schemeClr>
              </a:gs>
              <a:gs pos="100000">
                <a:schemeClr val="tx1">
                  <a:lumMod val="95000"/>
                  <a:lumOff val="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nvSpPr>
        <p:spPr>
          <a:xfrm>
            <a:off x="3486150" y="1683607"/>
            <a:ext cx="5219700" cy="2000250"/>
          </a:xfrm>
          <a:custGeom>
            <a:avLst/>
            <a:gdLst>
              <a:gd name="connsiteX0" fmla="*/ 0 w 5219700"/>
              <a:gd name="connsiteY0" fmla="*/ 0 h 2000250"/>
              <a:gd name="connsiteX1" fmla="*/ 5219700 w 5219700"/>
              <a:gd name="connsiteY1" fmla="*/ 0 h 2000250"/>
              <a:gd name="connsiteX2" fmla="*/ 5219700 w 5219700"/>
              <a:gd name="connsiteY2" fmla="*/ 2000250 h 2000250"/>
              <a:gd name="connsiteX3" fmla="*/ 5153930 w 5219700"/>
              <a:gd name="connsiteY3" fmla="*/ 2000250 h 2000250"/>
              <a:gd name="connsiteX4" fmla="*/ 5153930 w 5219700"/>
              <a:gd name="connsiteY4" fmla="*/ 65770 h 2000250"/>
              <a:gd name="connsiteX5" fmla="*/ 65770 w 5219700"/>
              <a:gd name="connsiteY5" fmla="*/ 65770 h 2000250"/>
              <a:gd name="connsiteX6" fmla="*/ 65770 w 5219700"/>
              <a:gd name="connsiteY6" fmla="*/ 2000250 h 2000250"/>
              <a:gd name="connsiteX7" fmla="*/ 0 w 5219700"/>
              <a:gd name="connsiteY7" fmla="*/ 2000250 h 2000250"/>
              <a:gd name="connsiteX8" fmla="*/ 0 w 5219700"/>
              <a:gd name="connsiteY8" fmla="*/ 0 h 200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9700" h="2000250">
                <a:moveTo>
                  <a:pt x="0" y="0"/>
                </a:moveTo>
                <a:lnTo>
                  <a:pt x="5219700" y="0"/>
                </a:lnTo>
                <a:lnTo>
                  <a:pt x="5219700" y="2000250"/>
                </a:lnTo>
                <a:lnTo>
                  <a:pt x="5153930" y="2000250"/>
                </a:lnTo>
                <a:lnTo>
                  <a:pt x="5153930" y="65770"/>
                </a:lnTo>
                <a:lnTo>
                  <a:pt x="65770" y="65770"/>
                </a:lnTo>
                <a:lnTo>
                  <a:pt x="65770" y="2000250"/>
                </a:lnTo>
                <a:lnTo>
                  <a:pt x="0" y="2000250"/>
                </a:lnTo>
                <a:lnTo>
                  <a:pt x="0" y="0"/>
                </a:ln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a:off x="3486150" y="3677226"/>
            <a:ext cx="5219700" cy="1339275"/>
          </a:xfrm>
          <a:custGeom>
            <a:avLst/>
            <a:gdLst>
              <a:gd name="connsiteX0" fmla="*/ 0 w 5219700"/>
              <a:gd name="connsiteY0" fmla="*/ 900843 h 1339275"/>
              <a:gd name="connsiteX1" fmla="*/ 65770 w 5219700"/>
              <a:gd name="connsiteY1" fmla="*/ 900843 h 1339275"/>
              <a:gd name="connsiteX2" fmla="*/ 65770 w 5219700"/>
              <a:gd name="connsiteY2" fmla="*/ 1273505 h 1339275"/>
              <a:gd name="connsiteX3" fmla="*/ 5153930 w 5219700"/>
              <a:gd name="connsiteY3" fmla="*/ 1273505 h 1339275"/>
              <a:gd name="connsiteX4" fmla="*/ 5153930 w 5219700"/>
              <a:gd name="connsiteY4" fmla="*/ 900843 h 1339275"/>
              <a:gd name="connsiteX5" fmla="*/ 5219700 w 5219700"/>
              <a:gd name="connsiteY5" fmla="*/ 900843 h 1339275"/>
              <a:gd name="connsiteX6" fmla="*/ 5219700 w 5219700"/>
              <a:gd name="connsiteY6" fmla="*/ 1339275 h 1339275"/>
              <a:gd name="connsiteX7" fmla="*/ 0 w 5219700"/>
              <a:gd name="connsiteY7" fmla="*/ 1339275 h 1339275"/>
              <a:gd name="connsiteX8" fmla="*/ 5153930 w 5219700"/>
              <a:gd name="connsiteY8" fmla="*/ 0 h 1339275"/>
              <a:gd name="connsiteX9" fmla="*/ 5219700 w 5219700"/>
              <a:gd name="connsiteY9" fmla="*/ 0 h 1339275"/>
              <a:gd name="connsiteX10" fmla="*/ 5219700 w 5219700"/>
              <a:gd name="connsiteY10" fmla="*/ 335974 h 1339275"/>
              <a:gd name="connsiteX11" fmla="*/ 5153930 w 5219700"/>
              <a:gd name="connsiteY11" fmla="*/ 335974 h 1339275"/>
              <a:gd name="connsiteX12" fmla="*/ 0 w 5219700"/>
              <a:gd name="connsiteY12" fmla="*/ 0 h 1339275"/>
              <a:gd name="connsiteX13" fmla="*/ 65770 w 5219700"/>
              <a:gd name="connsiteY13" fmla="*/ 0 h 1339275"/>
              <a:gd name="connsiteX14" fmla="*/ 65770 w 5219700"/>
              <a:gd name="connsiteY14" fmla="*/ 335974 h 1339275"/>
              <a:gd name="connsiteX15" fmla="*/ 0 w 5219700"/>
              <a:gd name="connsiteY15" fmla="*/ 335974 h 133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19700" h="1339275">
                <a:moveTo>
                  <a:pt x="0" y="900843"/>
                </a:moveTo>
                <a:lnTo>
                  <a:pt x="65770" y="900843"/>
                </a:lnTo>
                <a:lnTo>
                  <a:pt x="65770" y="1273505"/>
                </a:lnTo>
                <a:lnTo>
                  <a:pt x="5153930" y="1273505"/>
                </a:lnTo>
                <a:lnTo>
                  <a:pt x="5153930" y="900843"/>
                </a:lnTo>
                <a:lnTo>
                  <a:pt x="5219700" y="900843"/>
                </a:lnTo>
                <a:lnTo>
                  <a:pt x="5219700" y="1339275"/>
                </a:lnTo>
                <a:lnTo>
                  <a:pt x="0" y="1339275"/>
                </a:lnTo>
                <a:close/>
                <a:moveTo>
                  <a:pt x="5153930" y="0"/>
                </a:moveTo>
                <a:lnTo>
                  <a:pt x="5219700" y="0"/>
                </a:lnTo>
                <a:lnTo>
                  <a:pt x="5219700" y="335974"/>
                </a:lnTo>
                <a:lnTo>
                  <a:pt x="5153930" y="335974"/>
                </a:lnTo>
                <a:close/>
                <a:moveTo>
                  <a:pt x="0" y="0"/>
                </a:moveTo>
                <a:lnTo>
                  <a:pt x="65770" y="0"/>
                </a:lnTo>
                <a:lnTo>
                  <a:pt x="65770" y="335974"/>
                </a:lnTo>
                <a:lnTo>
                  <a:pt x="0" y="335974"/>
                </a:lnTo>
                <a:close/>
              </a:path>
            </a:pathLst>
          </a:cu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920816" y="2480611"/>
            <a:ext cx="4346884" cy="1107996"/>
          </a:xfrm>
          <a:prstGeom prst="rect">
            <a:avLst/>
          </a:prstGeom>
          <a:noFill/>
        </p:spPr>
        <p:txBody>
          <a:bodyPr wrap="square" rtlCol="0">
            <a:spAutoFit/>
            <a:scene3d>
              <a:camera prst="orthographicFront"/>
              <a:lightRig rig="threePt" dir="t"/>
            </a:scene3d>
            <a:sp3d contourW="12700"/>
          </a:bodyPr>
          <a:lstStyle/>
          <a:p>
            <a:pPr algn="dist"/>
            <a:r>
              <a:rPr lang="zh-CN" altLang="en-US" sz="6600" b="1" dirty="0">
                <a:solidFill>
                  <a:schemeClr val="bg1"/>
                </a:solidFill>
              </a:rPr>
              <a:t>谢谢观看</a:t>
            </a:r>
          </a:p>
        </p:txBody>
      </p:sp>
      <p:pic>
        <p:nvPicPr>
          <p:cNvPr id="17" name="图片 16"/>
          <p:cNvPicPr>
            <a:picLocks noChangeAspect="1"/>
          </p:cNvPicPr>
          <p:nvPr/>
        </p:nvPicPr>
        <p:blipFill>
          <a:blip r:embed="rId5">
            <a:duotone>
              <a:schemeClr val="accent1">
                <a:shade val="45000"/>
                <a:satMod val="135000"/>
              </a:schemeClr>
              <a:prstClr val="white"/>
            </a:duotone>
            <a:extLst>
              <a:ext uri="{BEBA8EAE-BF5A-486C-A8C5-ECC9F3942E4B}">
                <a14:imgProps xmlns:a14="http://schemas.microsoft.com/office/drawing/2010/main">
                  <a14:imgLayer r:embed="rId6">
                    <a14:imgEffect>
                      <a14:colorTemperature colorTemp="4700"/>
                    </a14:imgEffect>
                    <a14:imgEffect>
                      <a14:saturation sat="141000"/>
                    </a14:imgEffect>
                  </a14:imgLayer>
                </a14:imgProps>
              </a:ext>
              <a:ext uri="{28A0092B-C50C-407E-A947-70E740481C1C}">
                <a14:useLocalDpi xmlns:a14="http://schemas.microsoft.com/office/drawing/2010/main" val="0"/>
              </a:ext>
            </a:extLst>
          </a:blip>
          <a:stretch>
            <a:fillRect/>
          </a:stretch>
        </p:blipFill>
        <p:spPr>
          <a:xfrm>
            <a:off x="51956" y="5222256"/>
            <a:ext cx="12433414" cy="3713797"/>
          </a:xfrm>
          <a:prstGeom prst="rect">
            <a:avLst/>
          </a:prstGeom>
          <a:noFill/>
        </p:spPr>
      </p:pic>
      <p:pic>
        <p:nvPicPr>
          <p:cNvPr id="18" name="图片 17"/>
          <p:cNvPicPr>
            <a:picLocks noChangeAspect="1"/>
          </p:cNvPicPr>
          <p:nvPr/>
        </p:nvPicPr>
        <p:blipFill>
          <a:blip r:embed="rId5">
            <a:duotone>
              <a:schemeClr val="accent1">
                <a:shade val="45000"/>
                <a:satMod val="135000"/>
              </a:schemeClr>
              <a:prstClr val="white"/>
            </a:duotone>
            <a:extLst>
              <a:ext uri="{BEBA8EAE-BF5A-486C-A8C5-ECC9F3942E4B}">
                <a14:imgProps xmlns:a14="http://schemas.microsoft.com/office/drawing/2010/main">
                  <a14:imgLayer r:embed="rId7">
                    <a14:imgEffect>
                      <a14:colorTemperature colorTemp="4700"/>
                    </a14:imgEffect>
                    <a14:imgEffect>
                      <a14:saturation sat="141000"/>
                    </a14:imgEffect>
                  </a14:imgLayer>
                </a14:imgProps>
              </a:ext>
              <a:ext uri="{28A0092B-C50C-407E-A947-70E740481C1C}">
                <a14:useLocalDpi xmlns:a14="http://schemas.microsoft.com/office/drawing/2010/main" val="0"/>
              </a:ext>
            </a:extLst>
          </a:blip>
          <a:stretch>
            <a:fillRect/>
          </a:stretch>
        </p:blipFill>
        <p:spPr>
          <a:xfrm flipH="1">
            <a:off x="0" y="5617051"/>
            <a:ext cx="12433414" cy="2572924"/>
          </a:xfrm>
          <a:prstGeom prst="rect">
            <a:avLst/>
          </a:prstGeom>
          <a:noFill/>
        </p:spPr>
      </p:pic>
      <p:sp>
        <p:nvSpPr>
          <p:cNvPr id="11" name="文本框 10"/>
          <p:cNvSpPr txBox="1"/>
          <p:nvPr/>
        </p:nvSpPr>
        <p:spPr>
          <a:xfrm>
            <a:off x="2320615" y="3777129"/>
            <a:ext cx="7547286" cy="931545"/>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欢迎使用我们的职途罗盘系统</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14000"/>
              </a:lnSpc>
            </a:pPr>
            <a:r>
              <a:rPr lang="zh-CN" altLang="en-US" sz="16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您可以进入网站使用：</a:t>
            </a:r>
            <a:r>
              <a:rPr lang="en-US" altLang="zh-CN"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https://career-planner-eta.vercel.app/</a:t>
            </a:r>
            <a:endParaRPr lang="zh-CN" altLang="en-US" sz="16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14000"/>
              </a:lnSpc>
            </a:pPr>
            <a:r>
              <a:rPr lang="en-US" altLang="zh-CN" sz="16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arn(inVertical)">
                                      <p:cBhvr>
                                        <p:cTn id="20" dur="500"/>
                                        <p:tgtEl>
                                          <p:spTgt spid="19"/>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par>
                          <p:cTn id="28" fill="hold">
                            <p:stCondLst>
                              <p:cond delay="1500"/>
                            </p:stCondLst>
                            <p:childTnLst>
                              <p:par>
                                <p:cTn id="29" presetID="14" presetClass="entr" presetSubtype="1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randombar(horizontal)">
                                      <p:cBhvr>
                                        <p:cTn id="31" dur="500"/>
                                        <p:tgtEl>
                                          <p:spTgt spid="11"/>
                                        </p:tgtEl>
                                      </p:cBhvr>
                                    </p:animEffect>
                                  </p:childTnLst>
                                </p:cTn>
                              </p:par>
                            </p:childTnLst>
                          </p:cTn>
                        </p:par>
                        <p:par>
                          <p:cTn id="32" fill="hold">
                            <p:stCondLst>
                              <p:cond delay="2000"/>
                            </p:stCondLst>
                            <p:childTnLst>
                              <p:par>
                                <p:cTn id="33" presetID="14" presetClass="entr" presetSubtype="1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randombar(horizontal)">
                                      <p:cBhvr>
                                        <p:cTn id="35" dur="500"/>
                                        <p:tgtEl>
                                          <p:spTgt spid="15"/>
                                        </p:tgtEl>
                                      </p:cBhvr>
                                    </p:animEffect>
                                  </p:childTnLst>
                                </p:cTn>
                              </p:par>
                              <p:par>
                                <p:cTn id="36" presetID="22" presetClass="entr" presetSubtype="4"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down)">
                                      <p:cBhvr>
                                        <p:cTn id="38" dur="2000"/>
                                        <p:tgtEl>
                                          <p:spTgt spid="17"/>
                                        </p:tgtEl>
                                      </p:cBhvr>
                                    </p:animEffect>
                                  </p:childTnLst>
                                </p:cTn>
                              </p:par>
                              <p:par>
                                <p:cTn id="39" presetID="6" presetClass="emph" presetSubtype="0" autoRev="1" fill="hold" nodeType="withEffect">
                                  <p:stCondLst>
                                    <p:cond delay="0"/>
                                  </p:stCondLst>
                                  <p:childTnLst>
                                    <p:animScale>
                                      <p:cBhvr>
                                        <p:cTn id="40" dur="1000" fill="hold"/>
                                        <p:tgtEl>
                                          <p:spTgt spid="17"/>
                                        </p:tgtEl>
                                      </p:cBhvr>
                                      <p:by x="100000" y="150000"/>
                                    </p:animScale>
                                  </p:childTnLst>
                                </p:cTn>
                              </p:par>
                              <p:par>
                                <p:cTn id="41" presetID="6" presetClass="emph" presetSubtype="0" autoRev="1" fill="hold" nodeType="withEffect">
                                  <p:stCondLst>
                                    <p:cond delay="1000"/>
                                  </p:stCondLst>
                                  <p:childTnLst>
                                    <p:animScale>
                                      <p:cBhvr>
                                        <p:cTn id="42" dur="1000" fill="hold"/>
                                        <p:tgtEl>
                                          <p:spTgt spid="17"/>
                                        </p:tgtEl>
                                      </p:cBhvr>
                                      <p:by x="100000" y="50000"/>
                                    </p:animScale>
                                  </p:childTnLst>
                                </p:cTn>
                              </p:par>
                              <p:par>
                                <p:cTn id="43" presetID="6" presetClass="emph" presetSubtype="0" autoRev="1" fill="hold" nodeType="withEffect">
                                  <p:stCondLst>
                                    <p:cond delay="2000"/>
                                  </p:stCondLst>
                                  <p:childTnLst>
                                    <p:animScale>
                                      <p:cBhvr>
                                        <p:cTn id="44" dur="500" fill="hold"/>
                                        <p:tgtEl>
                                          <p:spTgt spid="17"/>
                                        </p:tgtEl>
                                      </p:cBhvr>
                                      <p:by x="100000" y="110000"/>
                                    </p:animScale>
                                  </p:childTnLst>
                                </p:cTn>
                              </p:par>
                              <p:par>
                                <p:cTn id="45" presetID="22" presetClass="entr" presetSubtype="4"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down)">
                                      <p:cBhvr>
                                        <p:cTn id="47" dur="2000"/>
                                        <p:tgtEl>
                                          <p:spTgt spid="18"/>
                                        </p:tgtEl>
                                      </p:cBhvr>
                                    </p:animEffect>
                                  </p:childTnLst>
                                </p:cTn>
                              </p:par>
                              <p:par>
                                <p:cTn id="48" presetID="6" presetClass="emph" presetSubtype="0" autoRev="1" fill="hold" nodeType="withEffect">
                                  <p:stCondLst>
                                    <p:cond delay="0"/>
                                  </p:stCondLst>
                                  <p:childTnLst>
                                    <p:animScale>
                                      <p:cBhvr>
                                        <p:cTn id="49" dur="1000" fill="hold"/>
                                        <p:tgtEl>
                                          <p:spTgt spid="18"/>
                                        </p:tgtEl>
                                      </p:cBhvr>
                                      <p:by x="100000" y="150000"/>
                                    </p:animScale>
                                  </p:childTnLst>
                                </p:cTn>
                              </p:par>
                              <p:par>
                                <p:cTn id="50" presetID="6" presetClass="emph" presetSubtype="0" autoRev="1" fill="hold" nodeType="withEffect">
                                  <p:stCondLst>
                                    <p:cond delay="1000"/>
                                  </p:stCondLst>
                                  <p:childTnLst>
                                    <p:animScale>
                                      <p:cBhvr>
                                        <p:cTn id="51" dur="1000" fill="hold"/>
                                        <p:tgtEl>
                                          <p:spTgt spid="18"/>
                                        </p:tgtEl>
                                      </p:cBhvr>
                                      <p:by x="100000" y="50000"/>
                                    </p:animScale>
                                  </p:childTnLst>
                                </p:cTn>
                              </p:par>
                              <p:par>
                                <p:cTn id="52" presetID="6" presetClass="emph" presetSubtype="0" autoRev="1" fill="hold" nodeType="withEffect">
                                  <p:stCondLst>
                                    <p:cond delay="2000"/>
                                  </p:stCondLst>
                                  <p:childTnLst>
                                    <p:animScale>
                                      <p:cBhvr>
                                        <p:cTn id="53" dur="500" fill="hold"/>
                                        <p:tgtEl>
                                          <p:spTgt spid="18"/>
                                        </p:tgtEl>
                                      </p:cBhvr>
                                      <p:by x="100000" y="110000"/>
                                    </p:animScale>
                                  </p:childTnLst>
                                </p:cTn>
                              </p:par>
                              <p:par>
                                <p:cTn id="54" presetID="2" presetClass="entr" presetSubtype="4" fill="hold" grpId="0" nodeType="with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additive="base">
                                        <p:cTn id="56" dur="500" fill="hold"/>
                                        <p:tgtEl>
                                          <p:spTgt spid="2"/>
                                        </p:tgtEl>
                                        <p:attrNameLst>
                                          <p:attrName>ppt_x</p:attrName>
                                        </p:attrNameLst>
                                      </p:cBhvr>
                                      <p:tavLst>
                                        <p:tav tm="0">
                                          <p:val>
                                            <p:strVal val="#ppt_x"/>
                                          </p:val>
                                        </p:tav>
                                        <p:tav tm="100000">
                                          <p:val>
                                            <p:strVal val="#ppt_x"/>
                                          </p:val>
                                        </p:tav>
                                      </p:tavLst>
                                    </p:anim>
                                    <p:anim calcmode="lin" valueType="num">
                                      <p:cBhvr additive="base">
                                        <p:cTn id="5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1" grpId="0" animBg="1"/>
      <p:bldP spid="16" grpId="0" bldLvl="0" animBg="1"/>
      <p:bldP spid="15" grpId="0"/>
      <p:bldP spid="13" grpId="0" bldLvl="0" animBg="1"/>
      <p:bldP spid="10" grpId="0" bldLvl="0" animBg="1"/>
      <p:bldP spid="19" grpId="0" bldLvl="0" animBg="1"/>
      <p:bldP spid="4" grpId="0"/>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RESOURCE_RECORD_KEY" val="{&quot;10&quot;:[20280891,21581326,50030296,21553897,348123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31.35,&quot;left&quot;:14.842913385826773,&quot;top&quot;:355.9141732283466,&quot;width&quot;:923.1570866141732}"/>
</p:tagLst>
</file>

<file path=ppt/tags/tag11.xml><?xml version="1.0" encoding="utf-8"?>
<p:tagLst xmlns:a="http://schemas.openxmlformats.org/drawingml/2006/main" xmlns:r="http://schemas.openxmlformats.org/officeDocument/2006/relationships" xmlns:p="http://schemas.openxmlformats.org/presentationml/2006/main">
  <p:tag name="KSO_DOCER_RESOURCE_TRACE_INFO" val="{&quot;id&quot;:&quot;20280891&quot;,&quot;origin&quot;:0,&quot;type&quot;:&quot;icons&quot;,&quot;user&quot;:&quot;332313220&quot;}"/>
</p:tagLst>
</file>

<file path=ppt/tags/tag12.xml><?xml version="1.0" encoding="utf-8"?>
<p:tagLst xmlns:a="http://schemas.openxmlformats.org/drawingml/2006/main" xmlns:r="http://schemas.openxmlformats.org/officeDocument/2006/relationships" xmlns:p="http://schemas.openxmlformats.org/presentationml/2006/main">
  <p:tag name="KSO_DOCER_RESOURCE_TRACE_INFO" val="{&quot;id&quot;:&quot;21581326&quot;,&quot;origin&quot;:0,&quot;type&quot;:&quot;icons&quot;,&quot;user&quot;:&quot;332313220&quot;}"/>
</p:tagLst>
</file>

<file path=ppt/tags/tag13.xml><?xml version="1.0" encoding="utf-8"?>
<p:tagLst xmlns:a="http://schemas.openxmlformats.org/drawingml/2006/main" xmlns:r="http://schemas.openxmlformats.org/officeDocument/2006/relationships" xmlns:p="http://schemas.openxmlformats.org/presentationml/2006/main">
  <p:tag name="KSO_DOCER_RESOURCE_TRACE_INFO" val="{&quot;id&quot;:&quot;50030296&quot;,&quot;origin&quot;:0,&quot;type&quot;:&quot;icons&quot;,&quot;user&quot;:&quot;332313220&quot;}"/>
</p:tagLst>
</file>

<file path=ppt/tags/tag14.xml><?xml version="1.0" encoding="utf-8"?>
<p:tagLst xmlns:a="http://schemas.openxmlformats.org/drawingml/2006/main" xmlns:r="http://schemas.openxmlformats.org/officeDocument/2006/relationships" xmlns:p="http://schemas.openxmlformats.org/presentationml/2006/main">
  <p:tag name="KSO_DOCER_RESOURCE_TRACE_INFO" val="{&quot;id&quot;:&quot;21553897&quot;,&quot;origin&quot;:0,&quot;type&quot;:&quot;icons&quot;,&quot;user&quot;:&quot;332313220&quot;}"/>
</p:tagLst>
</file>

<file path=ppt/tags/tag15.xml><?xml version="1.0" encoding="utf-8"?>
<p:tagLst xmlns:a="http://schemas.openxmlformats.org/drawingml/2006/main" xmlns:r="http://schemas.openxmlformats.org/officeDocument/2006/relationships" xmlns:p="http://schemas.openxmlformats.org/presentationml/2006/main">
  <p:tag name="KSO_DOCER_RESOURCE_TRACE_INFO" val="{&quot;id&quot;:&quot;3481231&quot;,&quot;origin&quot;:0,&quot;type&quot;:&quot;icons&quot;,&quot;user&quot;:&quot;332313220&quot;}"/>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4.74992125984244,&quot;left&quot;:69.38228346456694,&quot;top&quot;:134.66669291338582,&quot;width&quot;:787.6081889763778}"/>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528.45,&quot;left&quot;:501.95,&quot;top&quot;:6.2,&quot;width&quot;:438.142677165354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95.483464566929,&quot;left&quot;:28.46480314960629,&quot;top&quot;:108.78511811023623,&quot;width&quot;:607.8685039370079}"/>
</p:tagLst>
</file>

<file path=ppt/theme/theme1.xml><?xml version="1.0" encoding="utf-8"?>
<a:theme xmlns:a="http://schemas.openxmlformats.org/drawingml/2006/main" name="包图主题2">
  <a:themeElements>
    <a:clrScheme name="自定义 390">
      <a:dk1>
        <a:sysClr val="windowText" lastClr="000000"/>
      </a:dk1>
      <a:lt1>
        <a:sysClr val="window" lastClr="FFFFFF"/>
      </a:lt1>
      <a:dk2>
        <a:srgbClr val="44546A"/>
      </a:dk2>
      <a:lt2>
        <a:srgbClr val="E7E6E6"/>
      </a:lt2>
      <a:accent1>
        <a:srgbClr val="01A89E"/>
      </a:accent1>
      <a:accent2>
        <a:srgbClr val="0C2834"/>
      </a:accent2>
      <a:accent3>
        <a:srgbClr val="01A89E"/>
      </a:accent3>
      <a:accent4>
        <a:srgbClr val="0C2834"/>
      </a:accent4>
      <a:accent5>
        <a:srgbClr val="01A89E"/>
      </a:accent5>
      <a:accent6>
        <a:srgbClr val="0C2834"/>
      </a:accent6>
      <a:hlink>
        <a:srgbClr val="01A89E"/>
      </a:hlink>
      <a:folHlink>
        <a:srgbClr val="01A89E"/>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15</TotalTime>
  <Words>1970</Words>
  <Application>Microsoft Office PowerPoint</Application>
  <PresentationFormat>宽屏</PresentationFormat>
  <Paragraphs>248</Paragraphs>
  <Slides>20</Slides>
  <Notes>18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等线</vt:lpstr>
      <vt:lpstr>微软雅黑</vt:lpstr>
      <vt:lpstr>Arial</vt:lpstr>
      <vt:lpstr>Century Gothic</vt:lpstr>
      <vt:lpstr>包图主题2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WIN7</dc:creator>
  <cp:lastModifiedBy>Jason W</cp:lastModifiedBy>
  <cp:revision>184</cp:revision>
  <dcterms:created xsi:type="dcterms:W3CDTF">2017-08-18T03:02:00Z</dcterms:created>
  <dcterms:modified xsi:type="dcterms:W3CDTF">2026-04-17T14:56:00Z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03806F60122B4184BD2068D453A28B6E_13</vt:lpwstr>
  </property>
</Properties>
</file>